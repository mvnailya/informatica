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58170" autoAdjust="0"/>
  </p:normalViewPr>
  <p:slideViewPr>
    <p:cSldViewPr snapToGrid="0">
      <p:cViewPr varScale="1">
        <p:scale>
          <a:sx n="48" d="100"/>
          <a:sy n="48" d="100"/>
        </p:scale>
        <p:origin x="211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68862-79F6-461E-AC47-9ADA1FC8FA1A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E2AD7-B6F8-429B-AA1D-E5242BD9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64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мы будем разбирать задачи на определение информационного объёма разных видов данных.</a:t>
            </a:r>
          </a:p>
          <a:p>
            <a:r>
              <a:rPr lang="ru-RU" dirty="0"/>
              <a:t>До этого мы уже говорили о том, что любая информация в компьютере в конечном итоге представляется в двоичном виде. Но в задачах недостаточно просто знать, что существуют биты и байты. Нужно понимать, </a:t>
            </a:r>
            <a:r>
              <a:rPr lang="ru-RU" b="1" dirty="0"/>
              <a:t>от чего зависит объём конкретного вида информации</a:t>
            </a:r>
            <a:r>
              <a:rPr lang="ru-RU" dirty="0"/>
              <a:t>.</a:t>
            </a:r>
          </a:p>
          <a:p>
            <a:r>
              <a:rPr lang="ru-RU" dirty="0"/>
              <a:t>Для текста это количество символов и вес одного символа. Для изображения — количество пикселей и глубина цвета. Для звука — частота дискретизации, глубина кодирования, количество каналов и длительность. Для видео добавляется ещё количество кадров в секунду.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Начнём с одной из самых важных зависимостей:</a:t>
            </a:r>
          </a:p>
          <a:p>
            <a:r>
              <a:rPr lang="ru-RU" b="1" dirty="0"/>
              <a:t>N = 2ⁱ.</a:t>
            </a:r>
            <a:endParaRPr lang="ru-RU" dirty="0"/>
          </a:p>
          <a:p>
            <a:r>
              <a:rPr lang="ru-RU" dirty="0"/>
              <a:t>Здесь N — количество различных вариантов, которые нам необходимо закодировать, а i — количество бит, которое используется для кодирования одного варианта.</a:t>
            </a:r>
          </a:p>
          <a:p>
            <a:r>
              <a:rPr lang="ru-RU" dirty="0"/>
              <a:t>Почему появляется именно степень двойки?</a:t>
            </a:r>
          </a:p>
          <a:p>
            <a:r>
              <a:rPr lang="ru-RU" dirty="0"/>
              <a:t>Один бит может находиться только в двух состояниях: 0 или 1. Поэтому одним битом мы можем закодировать два разных значения.</a:t>
            </a:r>
          </a:p>
          <a:p>
            <a:r>
              <a:rPr lang="ru-RU" dirty="0"/>
              <a:t>Если взять два бита, комбинаций уже будет четыре:</a:t>
            </a:r>
          </a:p>
          <a:p>
            <a:r>
              <a:rPr lang="ru-RU" dirty="0"/>
              <a:t>00, 01, 10 и 11.</a:t>
            </a:r>
          </a:p>
          <a:p>
            <a:r>
              <a:rPr lang="ru-RU" dirty="0"/>
              <a:t>То есть 2² = 4.</a:t>
            </a:r>
          </a:p>
          <a:p>
            <a:r>
              <a:rPr lang="ru-RU" dirty="0"/>
              <a:t>Три бита дают 2³ = 8 различных комбинаций.</a:t>
            </a:r>
          </a:p>
          <a:p>
            <a:r>
              <a:rPr lang="ru-RU" dirty="0"/>
              <a:t>И так далее.</a:t>
            </a:r>
          </a:p>
          <a:p>
            <a:r>
              <a:rPr lang="ru-RU" dirty="0"/>
              <a:t>Поэтому, если нам известно количество символов алфавита, цветов или каких-либо других состояний, мы можем определить, сколько бит потребуется для кодирования одного элемента.</a:t>
            </a:r>
          </a:p>
          <a:p>
            <a:r>
              <a:rPr lang="ru-RU" dirty="0"/>
              <a:t>Посмотрите на пример с русским алфавитом. У нас 33 буквы.</a:t>
            </a:r>
          </a:p>
          <a:p>
            <a:r>
              <a:rPr lang="ru-RU" dirty="0"/>
              <a:t>Пять бит дают только:</a:t>
            </a:r>
          </a:p>
          <a:p>
            <a:r>
              <a:rPr lang="ru-RU" dirty="0"/>
              <a:t>2⁵ = 32 варианта.</a:t>
            </a:r>
          </a:p>
          <a:p>
            <a:r>
              <a:rPr lang="ru-RU" dirty="0"/>
              <a:t>Этого недостаточно, потому что нам нужно закодировать 33 разных символа.</a:t>
            </a:r>
          </a:p>
          <a:p>
            <a:r>
              <a:rPr lang="ru-RU" dirty="0"/>
              <a:t>Берём следующий вариант:</a:t>
            </a:r>
          </a:p>
          <a:p>
            <a:r>
              <a:rPr lang="ru-RU" dirty="0"/>
              <a:t>2⁶ = 64.</a:t>
            </a:r>
          </a:p>
          <a:p>
            <a:r>
              <a:rPr lang="ru-RU" dirty="0"/>
              <a:t>Шести бит уже достаточно.</a:t>
            </a:r>
          </a:p>
          <a:p>
            <a:r>
              <a:rPr lang="ru-RU" dirty="0"/>
              <a:t>Поэтому минимальный информационный вес одного символа составляет 6 бит.</a:t>
            </a:r>
          </a:p>
          <a:p>
            <a:r>
              <a:rPr lang="ru-RU" dirty="0"/>
              <a:t>Обратите внимание на важный принцип: </a:t>
            </a:r>
            <a:r>
              <a:rPr lang="ru-RU" b="1" dirty="0"/>
              <a:t>если количество элементов не является точной степенью двойки, мы всегда округляем количество бит вверх.</a:t>
            </a:r>
            <a:endParaRPr lang="ru-RU" dirty="0"/>
          </a:p>
          <a:p>
            <a:r>
              <a:rPr lang="ru-RU" dirty="0"/>
              <a:t>Например, если вариантов 17, четырёх бит недостаточно, потому что 2⁴ = 16. Значит, понадобится уже 5 бит.</a:t>
            </a:r>
          </a:p>
          <a:p>
            <a:r>
              <a:rPr lang="ru-RU" dirty="0"/>
              <a:t>Можно задать студентам короткий вопрос:</a:t>
            </a:r>
          </a:p>
          <a:p>
            <a:r>
              <a:rPr lang="ru-RU" dirty="0"/>
              <a:t>«Если в алфавите 8 символов, сколько бит необходимо?»</a:t>
            </a:r>
          </a:p>
          <a:p>
            <a:r>
              <a:rPr lang="ru-RU" dirty="0"/>
              <a:t>Ответ: 3 бита.</a:t>
            </a:r>
          </a:p>
          <a:p>
            <a:r>
              <a:rPr lang="ru-RU" dirty="0"/>
              <a:t>«А если символов 9?»</a:t>
            </a:r>
          </a:p>
          <a:p>
            <a:r>
              <a:rPr lang="ru-RU" dirty="0"/>
              <a:t>Уже 4 бита.</a:t>
            </a:r>
          </a:p>
          <a:p>
            <a:r>
              <a:rPr lang="ru-RU" dirty="0"/>
              <a:t>Именно переход через степень двойки здесь имеет ключевое значение.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820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вами универсальный алгоритм, которым желательно пользоваться практически в каждой задаче этой темы.</a:t>
            </a:r>
          </a:p>
          <a:p>
            <a:r>
              <a:rPr lang="ru-RU" dirty="0"/>
              <a:t>Первое — внимательно выписываем </a:t>
            </a:r>
            <a:r>
              <a:rPr lang="ru-RU" b="1" dirty="0"/>
              <a:t>дано</a:t>
            </a:r>
            <a:r>
              <a:rPr lang="ru-RU" dirty="0"/>
              <a:t>.</a:t>
            </a:r>
          </a:p>
          <a:p>
            <a:r>
              <a:rPr lang="ru-RU" dirty="0"/>
              <a:t>Не просто числа, а обязательно числа вместе с единицами измерения.</a:t>
            </a:r>
          </a:p>
          <a:p>
            <a:r>
              <a:rPr lang="ru-RU" dirty="0"/>
              <a:t>Например:</a:t>
            </a:r>
          </a:p>
          <a:p>
            <a:r>
              <a:rPr lang="ru-RU" dirty="0"/>
              <a:t>16 бит;</a:t>
            </a:r>
          </a:p>
          <a:p>
            <a:r>
              <a:rPr lang="ru-RU" dirty="0"/>
              <a:t>2 минуты;</a:t>
            </a:r>
          </a:p>
          <a:p>
            <a:r>
              <a:rPr lang="ru-RU" dirty="0"/>
              <a:t>44,1 килогерца;</a:t>
            </a:r>
          </a:p>
          <a:p>
            <a:r>
              <a:rPr lang="ru-RU" dirty="0"/>
              <a:t>1920 на 1080 пикселей.</a:t>
            </a:r>
          </a:p>
          <a:p>
            <a:r>
              <a:rPr lang="ru-RU" dirty="0"/>
              <a:t>Очень большое количество ошибок возникает не из-за формулы, а именно из-за единиц измерения.</a:t>
            </a:r>
          </a:p>
          <a:p>
            <a:r>
              <a:rPr lang="ru-RU" dirty="0"/>
              <a:t>Второе — определяем, </a:t>
            </a:r>
            <a:r>
              <a:rPr lang="ru-RU" b="1" dirty="0"/>
              <a:t>что от нас требуется найти</a:t>
            </a:r>
            <a:r>
              <a:rPr lang="ru-RU" dirty="0"/>
              <a:t>.</a:t>
            </a:r>
          </a:p>
          <a:p>
            <a:r>
              <a:rPr lang="ru-RU" dirty="0"/>
              <a:t>Если в задаче просят ответ в мегабайтах, значит, в конце мы должны обязательно привести результат к мегабайтам.</a:t>
            </a:r>
          </a:p>
          <a:p>
            <a:r>
              <a:rPr lang="ru-RU" dirty="0"/>
              <a:t>Третье — определяем тип информации и выбираем формулу.</a:t>
            </a:r>
          </a:p>
          <a:p>
            <a:r>
              <a:rPr lang="ru-RU" dirty="0"/>
              <a:t>Текст, изображение, звук и видео рассчитываются по-разному.</a:t>
            </a:r>
          </a:p>
          <a:p>
            <a:r>
              <a:rPr lang="ru-RU" dirty="0"/>
              <a:t>Четвёртое — там, где это удобно, представляем числа степенями двойки.</a:t>
            </a:r>
          </a:p>
          <a:p>
            <a:r>
              <a:rPr lang="ru-RU" dirty="0"/>
              <a:t>Например:</a:t>
            </a:r>
          </a:p>
          <a:p>
            <a:r>
              <a:rPr lang="ru-RU" dirty="0"/>
              <a:t>1024 = 2¹⁰;</a:t>
            </a:r>
          </a:p>
          <a:p>
            <a:r>
              <a:rPr lang="ru-RU" dirty="0"/>
              <a:t>256 = 2⁸;</a:t>
            </a:r>
          </a:p>
          <a:p>
            <a:r>
              <a:rPr lang="ru-RU" dirty="0"/>
              <a:t>64 = 2⁶.</a:t>
            </a:r>
          </a:p>
          <a:p>
            <a:r>
              <a:rPr lang="ru-RU" dirty="0"/>
              <a:t>Это особенно удобно в задачах, где встречается большое количество переводов между битами, байтами, килобайтами и мегабайтами.</a:t>
            </a:r>
          </a:p>
          <a:p>
            <a:r>
              <a:rPr lang="ru-RU" dirty="0"/>
              <a:t>Дальше приводим единицы к совместимому виду.</a:t>
            </a:r>
          </a:p>
          <a:p>
            <a:r>
              <a:rPr lang="ru-RU" dirty="0"/>
              <a:t>Напоминаю:</a:t>
            </a:r>
          </a:p>
          <a:p>
            <a:r>
              <a:rPr lang="ru-RU" dirty="0"/>
              <a:t>8 бит = 1 байт;</a:t>
            </a:r>
          </a:p>
          <a:p>
            <a:r>
              <a:rPr lang="ru-RU" dirty="0"/>
              <a:t>1024 байта = 1 Кбайт;</a:t>
            </a:r>
          </a:p>
          <a:p>
            <a:r>
              <a:rPr lang="ru-RU" dirty="0"/>
              <a:t>1024 </a:t>
            </a:r>
            <a:r>
              <a:rPr lang="ru-RU" dirty="0" err="1"/>
              <a:t>Кбайта</a:t>
            </a:r>
            <a:r>
              <a:rPr lang="ru-RU" dirty="0"/>
              <a:t> = 1 Мбайт;</a:t>
            </a:r>
          </a:p>
          <a:p>
            <a:r>
              <a:rPr lang="ru-RU" dirty="0"/>
              <a:t>1024 </a:t>
            </a:r>
            <a:r>
              <a:rPr lang="ru-RU" dirty="0" err="1"/>
              <a:t>Мбайта</a:t>
            </a:r>
            <a:r>
              <a:rPr lang="ru-RU" dirty="0"/>
              <a:t> = 1 Гбайт.</a:t>
            </a:r>
          </a:p>
          <a:p>
            <a:r>
              <a:rPr lang="ru-RU" dirty="0"/>
              <a:t>Особенно внимательно относитесь к звуковым задачам. Там есть важное отличие:</a:t>
            </a:r>
          </a:p>
          <a:p>
            <a:r>
              <a:rPr lang="ru-RU" b="1" dirty="0"/>
              <a:t>1 кГц = 1000 Гц, а не 1024.</a:t>
            </a:r>
            <a:endParaRPr lang="ru-RU" dirty="0"/>
          </a:p>
          <a:p>
            <a:r>
              <a:rPr lang="ru-RU" dirty="0"/>
              <a:t>Почему? Потому что герц — это не единица измерения информации.</a:t>
            </a:r>
          </a:p>
          <a:p>
            <a:r>
              <a:rPr lang="ru-RU" dirty="0"/>
              <a:t>Разберём также самые частые ошибки.</a:t>
            </a:r>
          </a:p>
          <a:p>
            <a:r>
              <a:rPr lang="ru-RU" dirty="0"/>
              <a:t>Первая — забыли разделить на 8 при переходе из бит в байты.</a:t>
            </a:r>
          </a:p>
          <a:p>
            <a:r>
              <a:rPr lang="ru-RU" dirty="0"/>
              <a:t>Вторая — вместо 1024 использовали 1000.</a:t>
            </a:r>
          </a:p>
          <a:p>
            <a:r>
              <a:rPr lang="ru-RU" dirty="0"/>
              <a:t>Третья — забыли количество каналов звука.</a:t>
            </a:r>
          </a:p>
          <a:p>
            <a:r>
              <a:rPr lang="ru-RU" dirty="0"/>
              <a:t>Если запись стерео, каналов два.</a:t>
            </a:r>
          </a:p>
          <a:p>
            <a:r>
              <a:rPr lang="ru-RU" dirty="0"/>
              <a:t>Четвёртая — оставили минуты вместо секунд.</a:t>
            </a:r>
          </a:p>
          <a:p>
            <a:r>
              <a:rPr lang="ru-RU" dirty="0"/>
              <a:t>Пятая — при определении минимального количества бит округлили вниз.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226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переходим непосредственно к текстовой информации.</a:t>
            </a:r>
          </a:p>
          <a:p>
            <a:r>
              <a:rPr lang="ru-RU" dirty="0"/>
              <a:t>Основная формула здесь очень простая:</a:t>
            </a:r>
          </a:p>
          <a:p>
            <a:r>
              <a:rPr lang="ru-RU" b="1" dirty="0"/>
              <a:t>I = K · i.</a:t>
            </a:r>
            <a:endParaRPr lang="ru-RU" dirty="0"/>
          </a:p>
          <a:p>
            <a:r>
              <a:rPr lang="ru-RU" dirty="0"/>
              <a:t>I — информационный объём всего текста.</a:t>
            </a:r>
          </a:p>
          <a:p>
            <a:r>
              <a:rPr lang="ru-RU" dirty="0"/>
              <a:t>K — количество символов.</a:t>
            </a:r>
          </a:p>
          <a:p>
            <a:r>
              <a:rPr lang="ru-RU" dirty="0"/>
              <a:t>i — информационный вес одного символа.</a:t>
            </a:r>
          </a:p>
          <a:p>
            <a:r>
              <a:rPr lang="ru-RU" dirty="0"/>
              <a:t>То есть логика очень простая: сначала определяем, сколько всего символов содержится в тексте, затем определяем, сколько бит занимает один символ, и перемножаем.</a:t>
            </a:r>
          </a:p>
          <a:p>
            <a:r>
              <a:rPr lang="ru-RU" dirty="0"/>
              <a:t>Если текст состоит из нескольких страниц, количество символов можно определить так:</a:t>
            </a:r>
          </a:p>
          <a:p>
            <a:r>
              <a:rPr lang="ru-RU" b="1" dirty="0"/>
              <a:t>количество страниц × количество строк на странице × количество символов в строке.</a:t>
            </a:r>
            <a:endParaRPr lang="ru-RU" dirty="0"/>
          </a:p>
          <a:p>
            <a:r>
              <a:rPr lang="ru-RU" dirty="0"/>
              <a:t>Например, если у нас 5 страниц, на каждой 30 строк, а в каждой строке 50 символов, сначала определяем общее количество символов:</a:t>
            </a:r>
          </a:p>
          <a:p>
            <a:r>
              <a:rPr lang="ru-RU" dirty="0"/>
              <a:t>5 · 30 · 50.</a:t>
            </a:r>
          </a:p>
          <a:p>
            <a:r>
              <a:rPr lang="ru-RU" dirty="0"/>
              <a:t>Обратите внимание: в подобных задачах под символом понимается не только буква.</a:t>
            </a:r>
          </a:p>
          <a:p>
            <a:r>
              <a:rPr lang="ru-RU" dirty="0"/>
              <a:t>Пробел — тоже символ.</a:t>
            </a:r>
          </a:p>
          <a:p>
            <a:r>
              <a:rPr lang="ru-RU" dirty="0"/>
              <a:t>Цифра — символ.</a:t>
            </a:r>
          </a:p>
          <a:p>
            <a:r>
              <a:rPr lang="ru-RU" dirty="0"/>
              <a:t>Знак препинания — символ.</a:t>
            </a:r>
          </a:p>
          <a:p>
            <a:r>
              <a:rPr lang="ru-RU" dirty="0"/>
              <a:t>В зависимости от условия задачи может учитываться и перенос строки.</a:t>
            </a:r>
          </a:p>
          <a:p>
            <a:r>
              <a:rPr lang="ru-RU" dirty="0"/>
              <a:t>Теперь о кодировках.</a:t>
            </a:r>
          </a:p>
          <a:p>
            <a:r>
              <a:rPr lang="ru-RU" dirty="0"/>
              <a:t>Если нам прямо сказано, что используется 16-битная кодировка </a:t>
            </a:r>
            <a:r>
              <a:rPr lang="ru-RU" dirty="0" err="1"/>
              <a:t>Unicode</a:t>
            </a:r>
            <a:r>
              <a:rPr lang="ru-RU" dirty="0"/>
              <a:t>, значит вес одного символа уже известен:</a:t>
            </a:r>
          </a:p>
          <a:p>
            <a:r>
              <a:rPr lang="ru-RU" dirty="0"/>
              <a:t>i = 16 бит.</a:t>
            </a:r>
          </a:p>
          <a:p>
            <a:r>
              <a:rPr lang="ru-RU" dirty="0"/>
              <a:t>Если указана 8-битная кодировка, например КОИ-8 или Windows-1251, значит:</a:t>
            </a:r>
          </a:p>
          <a:p>
            <a:r>
              <a:rPr lang="ru-RU" dirty="0"/>
              <a:t>i = 8 бит.</a:t>
            </a:r>
          </a:p>
          <a:p>
            <a:r>
              <a:rPr lang="ru-RU" dirty="0"/>
              <a:t>Для UTF-8 ситуация сложнее, потому что разные символы могут занимать разное количество байт. Поэтому в таких задачах обычно отдельно говорится, сколько байт занимает каждая группа символов.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944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Разберём первый пример.</a:t>
            </a:r>
          </a:p>
          <a:p>
            <a:r>
              <a:rPr lang="ru-RU" dirty="0"/>
              <a:t>Текст занимает 4 страницы. На каждой странице 40 строк, в каждой строке 64 символа. Кодировка 16-битная.</a:t>
            </a:r>
          </a:p>
          <a:p>
            <a:r>
              <a:rPr lang="ru-RU" dirty="0"/>
              <a:t>Сначала определяем количество символов.</a:t>
            </a:r>
          </a:p>
          <a:p>
            <a:r>
              <a:rPr lang="ru-RU" dirty="0"/>
              <a:t>4 · 40 · 64 = 10 240 символов.</a:t>
            </a:r>
          </a:p>
          <a:p>
            <a:r>
              <a:rPr lang="ru-RU" dirty="0"/>
              <a:t>Теперь каждый символ занимает 16 бит.</a:t>
            </a:r>
          </a:p>
          <a:p>
            <a:r>
              <a:rPr lang="ru-RU" dirty="0"/>
              <a:t>Следовательно:</a:t>
            </a:r>
          </a:p>
          <a:p>
            <a:r>
              <a:rPr lang="ru-RU" dirty="0"/>
              <a:t>I = 10 240 · 16 = 163 840 бит.</a:t>
            </a:r>
          </a:p>
          <a:p>
            <a:r>
              <a:rPr lang="ru-RU" dirty="0"/>
              <a:t>Но нас спрашивают килобайты.</a:t>
            </a:r>
          </a:p>
          <a:p>
            <a:r>
              <a:rPr lang="ru-RU" dirty="0"/>
              <a:t>Поэтому сначала переводим биты в байты.</a:t>
            </a:r>
          </a:p>
          <a:p>
            <a:r>
              <a:rPr lang="ru-RU" dirty="0"/>
              <a:t>163 840 делим на 8:</a:t>
            </a:r>
          </a:p>
          <a:p>
            <a:r>
              <a:rPr lang="ru-RU" dirty="0"/>
              <a:t>получаем 20 480 байт.</a:t>
            </a:r>
          </a:p>
          <a:p>
            <a:r>
              <a:rPr lang="ru-RU" dirty="0"/>
              <a:t>Теперь переводим байты в килобайты:</a:t>
            </a:r>
          </a:p>
          <a:p>
            <a:r>
              <a:rPr lang="ru-RU" dirty="0"/>
              <a:t>20 480 делим на 1024.</a:t>
            </a:r>
          </a:p>
          <a:p>
            <a:r>
              <a:rPr lang="ru-RU" dirty="0"/>
              <a:t>Получаем 20 Кбайт.</a:t>
            </a:r>
          </a:p>
          <a:p>
            <a:r>
              <a:rPr lang="ru-RU" dirty="0"/>
              <a:t>Обратите внимание на последовательность:</a:t>
            </a:r>
          </a:p>
          <a:p>
            <a:r>
              <a:rPr lang="ru-RU" b="1" dirty="0"/>
              <a:t>сначала нашли количество элементов, затем объём в битах и только потом перевели результат в требуемую единицу.</a:t>
            </a:r>
            <a:endParaRPr lang="ru-RU" dirty="0"/>
          </a:p>
          <a:p>
            <a:r>
              <a:rPr lang="ru-RU" dirty="0"/>
              <a:t>На слайде также показан второй вариант решения через степени двойки.</a:t>
            </a:r>
          </a:p>
          <a:p>
            <a:r>
              <a:rPr lang="ru-RU" dirty="0"/>
              <a:t>Он может быть быстрее, когда числа удобно представляются степенями двойки.</a:t>
            </a:r>
          </a:p>
          <a:p>
            <a:r>
              <a:rPr lang="ru-RU" dirty="0"/>
              <a:t>Например:</a:t>
            </a:r>
          </a:p>
          <a:p>
            <a:r>
              <a:rPr lang="ru-RU" dirty="0"/>
              <a:t>64 = 2⁶;</a:t>
            </a:r>
          </a:p>
          <a:p>
            <a:r>
              <a:rPr lang="ru-RU" dirty="0"/>
              <a:t>16 = 2⁴.</a:t>
            </a:r>
          </a:p>
          <a:p>
            <a:r>
              <a:rPr lang="ru-RU" dirty="0"/>
              <a:t>Не обязательно каждый пример решать через степени. Но на экзаменационных задачах такой способ иногда позволяет значительно сократить вычисления.</a:t>
            </a:r>
          </a:p>
          <a:p>
            <a:r>
              <a:rPr lang="ru-RU" dirty="0"/>
              <a:t>Ответ — 20 Кбайт.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314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немного другая ситуация.</a:t>
            </a:r>
          </a:p>
          <a:p>
            <a:r>
              <a:rPr lang="ru-RU" dirty="0"/>
              <a:t>Нам не сказано напрямую, сколько бит занимает один символ.</a:t>
            </a:r>
          </a:p>
          <a:p>
            <a:r>
              <a:rPr lang="ru-RU" dirty="0"/>
              <a:t>Зато сказано, что в алфавите 64 символа.</a:t>
            </a:r>
          </a:p>
          <a:p>
            <a:r>
              <a:rPr lang="ru-RU" dirty="0"/>
              <a:t>Поэтому сначала используем формулу:</a:t>
            </a:r>
          </a:p>
          <a:p>
            <a:r>
              <a:rPr lang="ru-RU" dirty="0"/>
              <a:t>N = 2ⁱ.</a:t>
            </a:r>
          </a:p>
          <a:p>
            <a:r>
              <a:rPr lang="ru-RU" dirty="0"/>
              <a:t>64 — это 2⁶.</a:t>
            </a:r>
          </a:p>
          <a:p>
            <a:r>
              <a:rPr lang="ru-RU" dirty="0"/>
              <a:t>Следовательно, один символ занимает 6 бит.</a:t>
            </a:r>
          </a:p>
          <a:p>
            <a:r>
              <a:rPr lang="ru-RU" dirty="0"/>
              <a:t>Теперь сообщение содержит 2048 символов.</a:t>
            </a:r>
          </a:p>
          <a:p>
            <a:r>
              <a:rPr lang="ru-RU" dirty="0"/>
              <a:t>Используем формулу:</a:t>
            </a:r>
          </a:p>
          <a:p>
            <a:r>
              <a:rPr lang="ru-RU" dirty="0"/>
              <a:t>I = K · i.</a:t>
            </a:r>
          </a:p>
          <a:p>
            <a:r>
              <a:rPr lang="ru-RU" dirty="0"/>
              <a:t>Получаем:</a:t>
            </a:r>
          </a:p>
          <a:p>
            <a:r>
              <a:rPr lang="ru-RU" dirty="0"/>
              <a:t>2048 · 6 = 12 288 бит.</a:t>
            </a:r>
          </a:p>
          <a:p>
            <a:r>
              <a:rPr lang="ru-RU" dirty="0"/>
              <a:t>Переводим в байты:</a:t>
            </a:r>
          </a:p>
          <a:p>
            <a:r>
              <a:rPr lang="ru-RU" dirty="0"/>
              <a:t>12 288 : 8 = 1536 байт.</a:t>
            </a:r>
          </a:p>
          <a:p>
            <a:r>
              <a:rPr lang="ru-RU" dirty="0"/>
              <a:t>Теперь в килобайты:</a:t>
            </a:r>
          </a:p>
          <a:p>
            <a:r>
              <a:rPr lang="ru-RU" dirty="0"/>
              <a:t>1536 : 1024 = 1,5 </a:t>
            </a:r>
            <a:r>
              <a:rPr lang="ru-RU" dirty="0" err="1"/>
              <a:t>Кбайта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внимание: результат совершенно нормально может быть дробным.</a:t>
            </a:r>
          </a:p>
          <a:p>
            <a:r>
              <a:rPr lang="ru-RU" dirty="0"/>
              <a:t>Не нужно пытаться обязательно получить целое число, если условие этого не требует.</a:t>
            </a:r>
          </a:p>
          <a:p>
            <a:r>
              <a:rPr lang="ru-RU" dirty="0"/>
              <a:t>Главное здесь — увидеть два этапа:</a:t>
            </a:r>
          </a:p>
          <a:p>
            <a:r>
              <a:rPr lang="ru-RU" dirty="0"/>
              <a:t>сначала по мощности алфавита найти вес одного символа;</a:t>
            </a:r>
          </a:p>
          <a:p>
            <a:r>
              <a:rPr lang="ru-RU" dirty="0"/>
              <a:t>а уже затем найти объём всего сообщения.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948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задача идёт в обратную сторону.</a:t>
            </a:r>
          </a:p>
          <a:p>
            <a:r>
              <a:rPr lang="ru-RU" dirty="0"/>
              <a:t>Нам известен объём сообщения и количество символов, а найти нужно мощность алфавита.</a:t>
            </a:r>
          </a:p>
          <a:p>
            <a:r>
              <a:rPr lang="ru-RU" dirty="0"/>
              <a:t>Поэтому сначала приводим объём к битам.</a:t>
            </a:r>
          </a:p>
          <a:p>
            <a:r>
              <a:rPr lang="ru-RU" dirty="0"/>
              <a:t>3 </a:t>
            </a:r>
            <a:r>
              <a:rPr lang="ru-RU" dirty="0" err="1"/>
              <a:t>Кбайта</a:t>
            </a:r>
            <a:r>
              <a:rPr lang="ru-RU" dirty="0"/>
              <a:t>:</a:t>
            </a:r>
          </a:p>
          <a:p>
            <a:r>
              <a:rPr lang="ru-RU" dirty="0"/>
              <a:t>3 · 1024 · 8 = 24 576 бит.</a:t>
            </a:r>
          </a:p>
          <a:p>
            <a:r>
              <a:rPr lang="ru-RU" dirty="0"/>
              <a:t>Теперь знаем, что всего 6144 символа.</a:t>
            </a:r>
          </a:p>
          <a:p>
            <a:r>
              <a:rPr lang="ru-RU" dirty="0"/>
              <a:t>Чтобы определить вес одного символа, общий объём делим на количество символов:</a:t>
            </a:r>
          </a:p>
          <a:p>
            <a:r>
              <a:rPr lang="ru-RU" dirty="0"/>
              <a:t>24 576 : 6144 = 4 бита.</a:t>
            </a:r>
          </a:p>
          <a:p>
            <a:r>
              <a:rPr lang="ru-RU" dirty="0"/>
              <a:t>И только после этого находим мощность алфавита:</a:t>
            </a:r>
          </a:p>
          <a:p>
            <a:r>
              <a:rPr lang="ru-RU" dirty="0"/>
              <a:t>N = 2⁴ = 16.</a:t>
            </a:r>
          </a:p>
          <a:p>
            <a:r>
              <a:rPr lang="ru-RU" dirty="0"/>
              <a:t>Обратите внимание: формула та же самая, но направление решения изменилось.</a:t>
            </a:r>
          </a:p>
          <a:p>
            <a:r>
              <a:rPr lang="ru-RU" dirty="0"/>
              <a:t>В прямой задаче мы знали N и искали i.</a:t>
            </a:r>
          </a:p>
          <a:p>
            <a:r>
              <a:rPr lang="ru-RU" dirty="0"/>
              <a:t>Здесь знаем i после вычислений и по нему ищем N.</a:t>
            </a:r>
          </a:p>
          <a:p>
            <a:endParaRPr lang="ru-RU" dirty="0"/>
          </a:p>
          <a:p>
            <a:r>
              <a:rPr lang="ru-RU" b="1" dirty="0"/>
              <a:t>Пример 4. Перекодировка</a:t>
            </a:r>
          </a:p>
          <a:p>
            <a:r>
              <a:rPr lang="ru-RU" dirty="0"/>
              <a:t>Здесь исходный текст был в 16-битной кодировке, а стал в 8-битной.</a:t>
            </a:r>
          </a:p>
          <a:p>
            <a:r>
              <a:rPr lang="ru-RU" dirty="0"/>
              <a:t>То есть каждый символ стал занимать на:</a:t>
            </a:r>
          </a:p>
          <a:p>
            <a:r>
              <a:rPr lang="ru-RU" dirty="0"/>
              <a:t>16 − 8 = 8 бит меньше.</a:t>
            </a:r>
          </a:p>
          <a:p>
            <a:r>
              <a:rPr lang="ru-RU" dirty="0"/>
              <a:t>8 бит — это ровно 1 байт.</a:t>
            </a:r>
          </a:p>
          <a:p>
            <a:r>
              <a:rPr lang="ru-RU" dirty="0"/>
              <a:t>Если общий объём уменьшился на 320 байт, а каждый символ экономит 1 байт, сколько было символов?</a:t>
            </a:r>
          </a:p>
          <a:p>
            <a:r>
              <a:rPr lang="ru-RU" dirty="0"/>
              <a:t>В задачах на перекодировку удобно не вычислять весь старый и новый объём, а сначала определить, </a:t>
            </a:r>
            <a:r>
              <a:rPr lang="ru-RU" b="1" dirty="0"/>
              <a:t>насколько изменился размер одного символа</a:t>
            </a:r>
            <a:r>
              <a:rPr lang="ru-RU" dirty="0"/>
              <a:t>.</a:t>
            </a:r>
          </a:p>
          <a:p>
            <a:r>
              <a:rPr lang="ru-RU" dirty="0"/>
              <a:t>Это часто значительно сокращает решение.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1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Эта задача важна тем, что здесь появляется округление.</a:t>
            </a:r>
          </a:p>
          <a:p>
            <a:r>
              <a:rPr lang="ru-RU" dirty="0"/>
              <a:t>В пароле используются 12 возможных символов.</a:t>
            </a:r>
          </a:p>
          <a:p>
            <a:r>
              <a:rPr lang="ru-RU" dirty="0"/>
              <a:t>Определяем минимальное количество бит:</a:t>
            </a:r>
          </a:p>
          <a:p>
            <a:r>
              <a:rPr lang="ru-RU" dirty="0"/>
              <a:t>2³ = 8 — недостаточно.</a:t>
            </a:r>
          </a:p>
          <a:p>
            <a:r>
              <a:rPr lang="ru-RU" dirty="0"/>
              <a:t>2⁴ = 16 — достаточно.</a:t>
            </a:r>
          </a:p>
          <a:p>
            <a:r>
              <a:rPr lang="ru-RU" dirty="0"/>
              <a:t>Значит каждый символ требует 4 бита.</a:t>
            </a:r>
          </a:p>
          <a:p>
            <a:r>
              <a:rPr lang="ru-RU" dirty="0"/>
              <a:t>В одном пароле 15 символов.</a:t>
            </a:r>
          </a:p>
          <a:p>
            <a:r>
              <a:rPr lang="ru-RU" dirty="0"/>
              <a:t>Получаем:</a:t>
            </a:r>
          </a:p>
          <a:p>
            <a:r>
              <a:rPr lang="ru-RU" dirty="0"/>
              <a:t>15 · 4 = 60 бит.</a:t>
            </a:r>
          </a:p>
          <a:p>
            <a:r>
              <a:rPr lang="ru-RU" dirty="0"/>
              <a:t>Переведём в байты:</a:t>
            </a:r>
          </a:p>
          <a:p>
            <a:r>
              <a:rPr lang="ru-RU" dirty="0"/>
              <a:t>60 : 8 = 7,5 байта.</a:t>
            </a:r>
          </a:p>
          <a:p>
            <a:r>
              <a:rPr lang="ru-RU" dirty="0"/>
              <a:t>Но в условии сказано, что каждый пароль хранится в минимально возможном </a:t>
            </a:r>
            <a:r>
              <a:rPr lang="ru-RU" b="1" dirty="0"/>
              <a:t>целом количестве байт</a:t>
            </a:r>
            <a:r>
              <a:rPr lang="ru-RU" dirty="0"/>
              <a:t>.</a:t>
            </a:r>
          </a:p>
          <a:p>
            <a:r>
              <a:rPr lang="ru-RU" dirty="0"/>
              <a:t>Половину байта в данном случае выделить нельзя.</a:t>
            </a:r>
          </a:p>
          <a:p>
            <a:r>
              <a:rPr lang="ru-RU" dirty="0"/>
              <a:t>Поэтому 7,5 округляем не математически, а именно вверх:</a:t>
            </a:r>
          </a:p>
          <a:p>
            <a:r>
              <a:rPr lang="ru-RU" dirty="0"/>
              <a:t>получаем 8 байт на один пароль.</a:t>
            </a:r>
          </a:p>
          <a:p>
            <a:r>
              <a:rPr lang="ru-RU" dirty="0"/>
              <a:t>Теперь паролей 50:</a:t>
            </a:r>
          </a:p>
          <a:p>
            <a:r>
              <a:rPr lang="ru-RU" dirty="0"/>
              <a:t>8 · 50 = 400 байт.</a:t>
            </a:r>
          </a:p>
          <a:p>
            <a:r>
              <a:rPr lang="ru-RU" dirty="0"/>
              <a:t>Здесь есть очень распространённая ошибка.</a:t>
            </a:r>
          </a:p>
          <a:p>
            <a:r>
              <a:rPr lang="ru-RU" dirty="0"/>
              <a:t>Студент может сначала вычислить объём всех паролей:</a:t>
            </a:r>
          </a:p>
          <a:p>
            <a:r>
              <a:rPr lang="ru-RU" dirty="0"/>
              <a:t>60 · 50 = 3000 бит.</a:t>
            </a:r>
          </a:p>
          <a:p>
            <a:r>
              <a:rPr lang="ru-RU" dirty="0"/>
              <a:t>И потом перевести это в байты, получив 375 байт.</a:t>
            </a:r>
          </a:p>
          <a:p>
            <a:r>
              <a:rPr lang="ru-RU" dirty="0"/>
              <a:t>Почему так нельзя?</a:t>
            </a:r>
          </a:p>
          <a:p>
            <a:r>
              <a:rPr lang="ru-RU" dirty="0"/>
              <a:t>Потому что условие говорит, что </a:t>
            </a:r>
            <a:r>
              <a:rPr lang="ru-RU" b="1" dirty="0"/>
              <a:t>каждый отдельный пароль</a:t>
            </a:r>
            <a:r>
              <a:rPr lang="ru-RU" dirty="0"/>
              <a:t> занимает целое количество байт.</a:t>
            </a:r>
          </a:p>
          <a:p>
            <a:r>
              <a:rPr lang="ru-RU" dirty="0"/>
              <a:t>У каждого пароля остаются неиспользованные два бита, но объединить эти свободные части разных записей мы не можем.</a:t>
            </a:r>
          </a:p>
          <a:p>
            <a:r>
              <a:rPr lang="ru-RU" dirty="0"/>
              <a:t>Поэтому сначала округляем одну запись, а уже потом умножаем на количество записей.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439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UTF-8 отличается от тех кодировок, которые мы рассматривали до этого.</a:t>
            </a:r>
          </a:p>
          <a:p>
            <a:r>
              <a:rPr lang="ru-RU" dirty="0"/>
              <a:t>Здесь символы могут занимать разное количество байт.</a:t>
            </a:r>
          </a:p>
          <a:p>
            <a:r>
              <a:rPr lang="ru-RU" dirty="0"/>
              <a:t>По условию нам уже дали упрощённое правило:</a:t>
            </a:r>
          </a:p>
          <a:p>
            <a:r>
              <a:rPr lang="ru-RU" dirty="0"/>
              <a:t>кириллические символы — по 2 байта;</a:t>
            </a:r>
          </a:p>
          <a:p>
            <a:r>
              <a:rPr lang="ru-RU" dirty="0"/>
              <a:t>знаки препинания и пробел — по 1 байту.</a:t>
            </a:r>
          </a:p>
          <a:p>
            <a:r>
              <a:rPr lang="ru-RU" dirty="0"/>
              <a:t>Посмотрим на строку «Привет, мир!».</a:t>
            </a:r>
          </a:p>
          <a:p>
            <a:r>
              <a:rPr lang="ru-RU" dirty="0"/>
              <a:t>Считаем русские буквы.</a:t>
            </a:r>
          </a:p>
          <a:p>
            <a:r>
              <a:rPr lang="ru-RU" dirty="0"/>
              <a:t>В слове «Привет» — 6 букв.</a:t>
            </a:r>
          </a:p>
          <a:p>
            <a:r>
              <a:rPr lang="ru-RU" dirty="0"/>
              <a:t>В слове «мир» — 3.</a:t>
            </a:r>
          </a:p>
          <a:p>
            <a:r>
              <a:rPr lang="ru-RU" dirty="0"/>
              <a:t>Всего 9 кириллических символов.</a:t>
            </a:r>
          </a:p>
          <a:p>
            <a:r>
              <a:rPr lang="ru-RU" dirty="0"/>
              <a:t>9 · 2 = 18 байт.</a:t>
            </a:r>
          </a:p>
          <a:p>
            <a:r>
              <a:rPr lang="ru-RU" dirty="0"/>
              <a:t>Кроме них есть запятая, пробел и восклицательный знак.</a:t>
            </a:r>
          </a:p>
          <a:p>
            <a:r>
              <a:rPr lang="ru-RU" dirty="0"/>
              <a:t>Это ещё 3 символа по одному байту.</a:t>
            </a:r>
          </a:p>
          <a:p>
            <a:r>
              <a:rPr lang="ru-RU" dirty="0"/>
              <a:t>Получаем:</a:t>
            </a:r>
          </a:p>
          <a:p>
            <a:r>
              <a:rPr lang="ru-RU" dirty="0"/>
              <a:t>18 + 3 = 21 байт.</a:t>
            </a:r>
          </a:p>
          <a:p>
            <a:r>
              <a:rPr lang="ru-RU" dirty="0"/>
              <a:t>Здесь главное — не пытаться умножить общее количество символов на одно и то же значение, потому что в UTF-8 длина кодирования может различаться.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602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Переходим к изображениям.</a:t>
            </a:r>
          </a:p>
          <a:p>
            <a:r>
              <a:rPr lang="ru-RU" dirty="0"/>
              <a:t>Будем говорить прежде всего о растровой графике.</a:t>
            </a:r>
          </a:p>
          <a:p>
            <a:r>
              <a:rPr lang="ru-RU" dirty="0"/>
              <a:t>Растровое изображение состоит из отдельных точек — пикселей.</a:t>
            </a:r>
          </a:p>
          <a:p>
            <a:r>
              <a:rPr lang="ru-RU" dirty="0"/>
              <a:t>Каждый пиксель имеет определённый цвет.</a:t>
            </a:r>
          </a:p>
          <a:p>
            <a:r>
              <a:rPr lang="ru-RU" dirty="0"/>
              <a:t>Например, разрешение 1920 × 1080 означает, что по горизонтали расположено 1920 пикселей, а по вертикали — 1080.</a:t>
            </a:r>
          </a:p>
          <a:p>
            <a:r>
              <a:rPr lang="ru-RU" dirty="0"/>
              <a:t>Чтобы узнать общее количество пикселей, эти числа нужно перемножить.</a:t>
            </a:r>
          </a:p>
          <a:p>
            <a:r>
              <a:rPr lang="ru-RU" dirty="0"/>
              <a:t>Следующее понятие — палитра.</a:t>
            </a:r>
          </a:p>
          <a:p>
            <a:r>
              <a:rPr lang="ru-RU" dirty="0"/>
              <a:t>Палитра показывает, сколько различных цветов может использовать изображение.</a:t>
            </a:r>
          </a:p>
          <a:p>
            <a:r>
              <a:rPr lang="ru-RU" dirty="0"/>
              <a:t>И здесь снова появляется уже знакомая нам формула:</a:t>
            </a:r>
          </a:p>
          <a:p>
            <a:r>
              <a:rPr lang="ru-RU" dirty="0"/>
              <a:t>N = 2ⁱ.</a:t>
            </a:r>
          </a:p>
          <a:p>
            <a:r>
              <a:rPr lang="ru-RU" dirty="0"/>
              <a:t>Только теперь N обозначает количество цветов, а i — количество бит на один пиксель.</a:t>
            </a:r>
          </a:p>
          <a:p>
            <a:r>
              <a:rPr lang="ru-RU" dirty="0"/>
              <a:t>Например:</a:t>
            </a:r>
          </a:p>
          <a:p>
            <a:r>
              <a:rPr lang="ru-RU" dirty="0"/>
              <a:t>1 бит даёт 2 цвета;</a:t>
            </a:r>
          </a:p>
          <a:p>
            <a:r>
              <a:rPr lang="ru-RU" dirty="0"/>
              <a:t>8 бит — 256 цветов;</a:t>
            </a:r>
          </a:p>
          <a:p>
            <a:r>
              <a:rPr lang="ru-RU" dirty="0"/>
              <a:t>16 бит — 65 536 цветов.</a:t>
            </a:r>
          </a:p>
          <a:p>
            <a:r>
              <a:rPr lang="ru-RU" dirty="0"/>
              <a:t>Для True Color обычно используется 24 бита на пиксель.</a:t>
            </a:r>
          </a:p>
          <a:p>
            <a:r>
              <a:rPr lang="ru-RU" dirty="0"/>
              <a:t>Почему именно 24?</a:t>
            </a:r>
          </a:p>
          <a:p>
            <a:r>
              <a:rPr lang="ru-RU" dirty="0"/>
              <a:t>Цвет задаётся тремя компонентами:</a:t>
            </a:r>
          </a:p>
          <a:p>
            <a:r>
              <a:rPr lang="ru-RU" dirty="0"/>
              <a:t>красной — Red;</a:t>
            </a:r>
          </a:p>
          <a:p>
            <a:r>
              <a:rPr lang="ru-RU" dirty="0"/>
              <a:t>зелёной — Green;</a:t>
            </a:r>
          </a:p>
          <a:p>
            <a:r>
              <a:rPr lang="ru-RU" dirty="0"/>
              <a:t>синей — Blue.</a:t>
            </a:r>
          </a:p>
          <a:p>
            <a:r>
              <a:rPr lang="ru-RU" dirty="0"/>
              <a:t>На каждую компоненту отводится по 8 бит.</a:t>
            </a:r>
          </a:p>
          <a:p>
            <a:r>
              <a:rPr lang="ru-RU" dirty="0"/>
              <a:t>Получаем:</a:t>
            </a:r>
          </a:p>
          <a:p>
            <a:r>
              <a:rPr lang="ru-RU" dirty="0"/>
              <a:t>8 + 8 + 8 = 24 бита.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160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формула:</a:t>
            </a:r>
          </a:p>
          <a:p>
            <a:r>
              <a:rPr lang="ru-RU" b="1" dirty="0"/>
              <a:t>I = K · i.</a:t>
            </a:r>
            <a:endParaRPr lang="ru-RU" dirty="0"/>
          </a:p>
          <a:p>
            <a:r>
              <a:rPr lang="ru-RU" dirty="0"/>
              <a:t>Она очень похожа на формулу для текста.</a:t>
            </a:r>
          </a:p>
          <a:p>
            <a:r>
              <a:rPr lang="ru-RU" dirty="0"/>
              <a:t>Только в тексте K обозначало количество символов, а здесь — количество пикселей.</a:t>
            </a:r>
          </a:p>
          <a:p>
            <a:r>
              <a:rPr lang="ru-RU" dirty="0"/>
              <a:t>Количество пикселей:</a:t>
            </a:r>
          </a:p>
          <a:p>
            <a:r>
              <a:rPr lang="ru-RU" b="1" dirty="0"/>
              <a:t>K = W · H</a:t>
            </a:r>
            <a:r>
              <a:rPr lang="ru-RU" dirty="0"/>
              <a:t>,</a:t>
            </a:r>
          </a:p>
          <a:p>
            <a:r>
              <a:rPr lang="ru-RU" dirty="0"/>
              <a:t>где W — ширина, H — высота изображения.</a:t>
            </a:r>
          </a:p>
          <a:p>
            <a:r>
              <a:rPr lang="ru-RU" dirty="0"/>
              <a:t>Получаем:</a:t>
            </a:r>
          </a:p>
          <a:p>
            <a:r>
              <a:rPr lang="ru-RU" b="1" dirty="0"/>
              <a:t>I = W · H · i.</a:t>
            </a:r>
            <a:endParaRPr lang="ru-RU" dirty="0"/>
          </a:p>
          <a:p>
            <a:r>
              <a:rPr lang="ru-RU" dirty="0"/>
              <a:t>Например, сначала умножаем ширину на высоту и получаем количество пикселей, затем умножаем на количество бит, необходимое для хранения цвета одного пикселя.</a:t>
            </a:r>
          </a:p>
          <a:p>
            <a:r>
              <a:rPr lang="ru-RU" dirty="0"/>
              <a:t>Если речь идёт о сканировании, сначала необходимо получить ширину и высоту уже не в сантиметрах или дюймах, а в пикселях.</a:t>
            </a:r>
          </a:p>
          <a:p>
            <a:r>
              <a:rPr lang="ru-RU" dirty="0"/>
              <a:t>Для этого используется </a:t>
            </a:r>
            <a:r>
              <a:rPr lang="ru-RU" dirty="0" err="1"/>
              <a:t>dpi</a:t>
            </a:r>
            <a:r>
              <a:rPr lang="ru-RU" dirty="0"/>
              <a:t> — количество точек на один дюйм.</a:t>
            </a:r>
          </a:p>
          <a:p>
            <a:r>
              <a:rPr lang="ru-RU" dirty="0"/>
              <a:t>Например, ширина изображения 4 дюйма, а разрешение сканирования 300 </a:t>
            </a:r>
            <a:r>
              <a:rPr lang="ru-RU" dirty="0" err="1"/>
              <a:t>dpi</a:t>
            </a:r>
            <a:r>
              <a:rPr lang="ru-RU" dirty="0"/>
              <a:t>.</a:t>
            </a:r>
          </a:p>
          <a:p>
            <a:r>
              <a:rPr lang="ru-RU" dirty="0"/>
              <a:t>Значит по ширине будет:</a:t>
            </a:r>
          </a:p>
          <a:p>
            <a:r>
              <a:rPr lang="ru-RU" dirty="0"/>
              <a:t>4 · 300 = 1200 пикселей.</a:t>
            </a:r>
          </a:p>
          <a:p>
            <a:r>
              <a:rPr lang="ru-RU" dirty="0"/>
              <a:t>Если размеры даны в сантиметрах, сначала вспоминаем:</a:t>
            </a:r>
          </a:p>
          <a:p>
            <a:r>
              <a:rPr lang="ru-RU" dirty="0"/>
              <a:t>1 дюйм = 2,54 сантиметра.</a:t>
            </a:r>
          </a:p>
          <a:p>
            <a:r>
              <a:rPr lang="ru-RU" dirty="0"/>
              <a:t>И только после этого используем </a:t>
            </a:r>
            <a:r>
              <a:rPr lang="ru-RU" dirty="0" err="1"/>
              <a:t>dpi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677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Разрешение изображения:</a:t>
            </a:r>
          </a:p>
          <a:p>
            <a:r>
              <a:rPr lang="ru-RU" dirty="0"/>
              <a:t>1024 × 768 пикселей.</a:t>
            </a:r>
          </a:p>
          <a:p>
            <a:r>
              <a:rPr lang="ru-RU" dirty="0"/>
              <a:t>Палитра содержит 65 536 цветов.</a:t>
            </a:r>
          </a:p>
          <a:p>
            <a:r>
              <a:rPr lang="ru-RU" dirty="0"/>
              <a:t>Сначала необходимо определить глубину цвета.</a:t>
            </a:r>
          </a:p>
          <a:p>
            <a:r>
              <a:rPr lang="ru-RU" dirty="0"/>
              <a:t>65 536 = 2¹⁶.</a:t>
            </a:r>
          </a:p>
          <a:p>
            <a:r>
              <a:rPr lang="ru-RU" dirty="0"/>
              <a:t>Следовательно, один пиксель занимает 16 бит.</a:t>
            </a:r>
          </a:p>
          <a:p>
            <a:r>
              <a:rPr lang="ru-RU" dirty="0"/>
              <a:t>16 бит — это 2 байта.</a:t>
            </a:r>
          </a:p>
          <a:p>
            <a:r>
              <a:rPr lang="ru-RU" dirty="0"/>
              <a:t>Теперь определяем количество пикселей:</a:t>
            </a:r>
          </a:p>
          <a:p>
            <a:r>
              <a:rPr lang="ru-RU" dirty="0"/>
              <a:t>1024 · 768 = 786 432.</a:t>
            </a:r>
          </a:p>
          <a:p>
            <a:r>
              <a:rPr lang="ru-RU" dirty="0"/>
              <a:t>Каждый пиксель занимает 2 байта.</a:t>
            </a:r>
          </a:p>
          <a:p>
            <a:r>
              <a:rPr lang="ru-RU" dirty="0"/>
              <a:t>Получаем:</a:t>
            </a:r>
          </a:p>
          <a:p>
            <a:r>
              <a:rPr lang="ru-RU" dirty="0"/>
              <a:t>786 432 · 2 = 1 572 864 байта.</a:t>
            </a:r>
          </a:p>
          <a:p>
            <a:r>
              <a:rPr lang="ru-RU" dirty="0"/>
              <a:t>Переводим в килобайты:</a:t>
            </a:r>
          </a:p>
          <a:p>
            <a:r>
              <a:rPr lang="ru-RU" dirty="0"/>
              <a:t>1 572 864 : 1024 = 1536 Кбайт.</a:t>
            </a:r>
          </a:p>
          <a:p>
            <a:r>
              <a:rPr lang="ru-RU" dirty="0"/>
              <a:t>Теперь в мегабайты:</a:t>
            </a:r>
          </a:p>
          <a:p>
            <a:r>
              <a:rPr lang="ru-RU" dirty="0"/>
              <a:t>1536 : 1024 = 1,5 </a:t>
            </a:r>
            <a:r>
              <a:rPr lang="ru-RU" dirty="0" err="1"/>
              <a:t>Мбайта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внимание: мы могли сразу перевести 16 бит в 2 байта и дальше вести вычисления в байтах. Это позволяет избежать лишнего деления на 8 в конце.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4197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Пример 8. Находим количество цветов</a:t>
            </a:r>
          </a:p>
          <a:p>
            <a:r>
              <a:rPr lang="ru-RU" dirty="0"/>
              <a:t>Здесь известны разрешение изображения и общий объём файла.</a:t>
            </a:r>
          </a:p>
          <a:p>
            <a:r>
              <a:rPr lang="ru-RU" dirty="0"/>
              <a:t>Сначала переводим объём в биты:</a:t>
            </a:r>
          </a:p>
          <a:p>
            <a:r>
              <a:rPr lang="ru-RU" dirty="0"/>
              <a:t>16 Кбайт = 16 · 1024 · 8 бит.</a:t>
            </a:r>
          </a:p>
          <a:p>
            <a:r>
              <a:rPr lang="ru-RU" dirty="0"/>
              <a:t>На слайде это записано через степени двойки:</a:t>
            </a:r>
          </a:p>
          <a:p>
            <a:r>
              <a:rPr lang="ru-RU" dirty="0"/>
              <a:t>16 = 2⁴;</a:t>
            </a:r>
          </a:p>
          <a:p>
            <a:r>
              <a:rPr lang="ru-RU" dirty="0"/>
              <a:t>1024 = 2¹⁰;</a:t>
            </a:r>
          </a:p>
          <a:p>
            <a:r>
              <a:rPr lang="ru-RU" dirty="0"/>
              <a:t>8 = 2³.</a:t>
            </a:r>
          </a:p>
          <a:p>
            <a:r>
              <a:rPr lang="ru-RU" dirty="0"/>
              <a:t>Получаем 2¹⁷ бит.</a:t>
            </a:r>
          </a:p>
          <a:p>
            <a:r>
              <a:rPr lang="ru-RU" dirty="0"/>
              <a:t>Теперь количество пикселей:</a:t>
            </a:r>
          </a:p>
          <a:p>
            <a:r>
              <a:rPr lang="ru-RU" dirty="0"/>
              <a:t>128 · 256.</a:t>
            </a:r>
          </a:p>
          <a:p>
            <a:r>
              <a:rPr lang="ru-RU" dirty="0"/>
              <a:t>Это:</a:t>
            </a:r>
          </a:p>
          <a:p>
            <a:r>
              <a:rPr lang="ru-RU" dirty="0"/>
              <a:t>2⁷ · 2⁸ = 2¹⁵ пикселей.</a:t>
            </a:r>
          </a:p>
          <a:p>
            <a:r>
              <a:rPr lang="ru-RU" dirty="0"/>
              <a:t>Чтобы определить глубину цвета, общий объём делим на количество пикселей:</a:t>
            </a:r>
          </a:p>
          <a:p>
            <a:r>
              <a:rPr lang="ru-RU" dirty="0"/>
              <a:t>2¹⁷ : 2¹⁵ = 2² = 4 бита на пиксель.</a:t>
            </a:r>
          </a:p>
          <a:p>
            <a:r>
              <a:rPr lang="ru-RU" dirty="0"/>
              <a:t>Теперь количество цветов:</a:t>
            </a:r>
          </a:p>
          <a:p>
            <a:r>
              <a:rPr lang="ru-RU" dirty="0"/>
              <a:t>N = 2⁴ = 16.</a:t>
            </a:r>
          </a:p>
          <a:p>
            <a:r>
              <a:rPr lang="ru-RU" dirty="0"/>
              <a:t>Ответ — 16 цветов.</a:t>
            </a:r>
          </a:p>
          <a:p>
            <a:r>
              <a:rPr lang="ru-RU" b="1" dirty="0"/>
              <a:t>Пример 9. Изменение палитры</a:t>
            </a:r>
          </a:p>
          <a:p>
            <a:r>
              <a:rPr lang="ru-RU" dirty="0"/>
              <a:t>Это очень хороший пример на понимание формулы.</a:t>
            </a:r>
          </a:p>
          <a:p>
            <a:r>
              <a:rPr lang="ru-RU" dirty="0"/>
              <a:t>Изначально цветов 4096.</a:t>
            </a:r>
          </a:p>
          <a:p>
            <a:r>
              <a:rPr lang="ru-RU" dirty="0"/>
              <a:t>4096 = 2¹².</a:t>
            </a:r>
          </a:p>
          <a:p>
            <a:r>
              <a:rPr lang="ru-RU" dirty="0"/>
              <a:t>Значит глубина цвета равна 12 бит.</a:t>
            </a:r>
          </a:p>
          <a:p>
            <a:r>
              <a:rPr lang="ru-RU" dirty="0"/>
              <a:t>После преобразования осталось 16 цветов.</a:t>
            </a:r>
          </a:p>
          <a:p>
            <a:r>
              <a:rPr lang="ru-RU" dirty="0"/>
              <a:t>16 = 2⁴.</a:t>
            </a:r>
          </a:p>
          <a:p>
            <a:r>
              <a:rPr lang="ru-RU" dirty="0"/>
              <a:t>Новая глубина — 4 бита.</a:t>
            </a:r>
          </a:p>
          <a:p>
            <a:r>
              <a:rPr lang="ru-RU" dirty="0"/>
              <a:t>Количество пикселей изображения при этом осталось тем же.</a:t>
            </a:r>
          </a:p>
          <a:p>
            <a:r>
              <a:rPr lang="ru-RU" dirty="0"/>
              <a:t>Значит изменился только один множитель — глубина цвета.</a:t>
            </a:r>
          </a:p>
          <a:p>
            <a:r>
              <a:rPr lang="ru-RU" dirty="0"/>
              <a:t>12 бит превратились в 4.</a:t>
            </a:r>
          </a:p>
          <a:p>
            <a:r>
              <a:rPr lang="ru-RU" dirty="0"/>
              <a:t>12 : 4 = 3.</a:t>
            </a:r>
          </a:p>
          <a:p>
            <a:r>
              <a:rPr lang="ru-RU" dirty="0"/>
              <a:t>Следовательно, объём уменьшился в 3 раза.</a:t>
            </a:r>
          </a:p>
          <a:p>
            <a:r>
              <a:rPr lang="ru-RU" dirty="0"/>
              <a:t>Очень важно: нельзя делить 4096 цветов на 16 и утверждать, что объём уменьшился в 256 раз.</a:t>
            </a:r>
          </a:p>
          <a:p>
            <a:r>
              <a:rPr lang="ru-RU" dirty="0"/>
              <a:t>Размер зависит не непосредственно от количества цветов, а от </a:t>
            </a:r>
            <a:r>
              <a:rPr lang="ru-RU" b="1" dirty="0"/>
              <a:t>числа бит, необходимых для хранения цвета одного пикселя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457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Размер изображения дан в дюймах:</a:t>
            </a:r>
          </a:p>
          <a:p>
            <a:r>
              <a:rPr lang="ru-RU" dirty="0"/>
              <a:t>2 × 4.</a:t>
            </a:r>
          </a:p>
          <a:p>
            <a:r>
              <a:rPr lang="ru-RU" dirty="0"/>
              <a:t>Разрешение сканирования — 512 </a:t>
            </a:r>
            <a:r>
              <a:rPr lang="ru-RU" dirty="0" err="1"/>
              <a:t>dpi</a:t>
            </a:r>
            <a:r>
              <a:rPr lang="ru-RU" dirty="0"/>
              <a:t>.</a:t>
            </a:r>
          </a:p>
          <a:p>
            <a:r>
              <a:rPr lang="ru-RU" dirty="0" err="1"/>
              <a:t>Dpi</a:t>
            </a:r>
            <a:r>
              <a:rPr lang="ru-RU" dirty="0"/>
              <a:t> показывает, сколько пикселей приходится на каждый дюйм.</a:t>
            </a:r>
          </a:p>
          <a:p>
            <a:r>
              <a:rPr lang="ru-RU" dirty="0"/>
              <a:t>Поэтому определяем ширину:</a:t>
            </a:r>
          </a:p>
          <a:p>
            <a:r>
              <a:rPr lang="ru-RU" dirty="0"/>
              <a:t>2 · 512 = 1024 пикселя.</a:t>
            </a:r>
          </a:p>
          <a:p>
            <a:r>
              <a:rPr lang="ru-RU" dirty="0"/>
              <a:t>Высоту:</a:t>
            </a:r>
          </a:p>
          <a:p>
            <a:r>
              <a:rPr lang="ru-RU" dirty="0"/>
              <a:t>4 · 512 = 2048 пикселей.</a:t>
            </a:r>
          </a:p>
          <a:p>
            <a:r>
              <a:rPr lang="ru-RU" dirty="0"/>
              <a:t>Теперь количество пикселей:</a:t>
            </a:r>
          </a:p>
          <a:p>
            <a:r>
              <a:rPr lang="ru-RU" dirty="0"/>
              <a:t>1024 · 2048.</a:t>
            </a:r>
          </a:p>
          <a:p>
            <a:r>
              <a:rPr lang="ru-RU" dirty="0"/>
              <a:t>Удобно представить числа степенями:</a:t>
            </a:r>
          </a:p>
          <a:p>
            <a:r>
              <a:rPr lang="ru-RU" dirty="0"/>
              <a:t>1024 = 2¹⁰;</a:t>
            </a:r>
          </a:p>
          <a:p>
            <a:r>
              <a:rPr lang="ru-RU" dirty="0"/>
              <a:t>2048 = 2¹¹.</a:t>
            </a:r>
          </a:p>
          <a:p>
            <a:r>
              <a:rPr lang="ru-RU" dirty="0"/>
              <a:t>Получаем:</a:t>
            </a:r>
          </a:p>
          <a:p>
            <a:r>
              <a:rPr lang="ru-RU" dirty="0"/>
              <a:t>2²¹ пикселей.</a:t>
            </a:r>
          </a:p>
          <a:p>
            <a:r>
              <a:rPr lang="ru-RU" dirty="0"/>
              <a:t>Глубина цвета — 8 бит, то есть 1 байт на пиксель.</a:t>
            </a:r>
          </a:p>
          <a:p>
            <a:r>
              <a:rPr lang="ru-RU" dirty="0"/>
              <a:t>Следовательно, весь файл занимает:</a:t>
            </a:r>
          </a:p>
          <a:p>
            <a:r>
              <a:rPr lang="ru-RU" dirty="0"/>
              <a:t>2²¹ байт.</a:t>
            </a:r>
          </a:p>
          <a:p>
            <a:r>
              <a:rPr lang="ru-RU" dirty="0"/>
              <a:t>Мы знаем, что один мегабайт — это 2²⁰ байт.</a:t>
            </a:r>
          </a:p>
          <a:p>
            <a:r>
              <a:rPr lang="ru-RU" dirty="0"/>
              <a:t>Следовательно:</a:t>
            </a:r>
          </a:p>
          <a:p>
            <a:r>
              <a:rPr lang="ru-RU" dirty="0"/>
              <a:t>2²¹ : 2²⁰ = 2 </a:t>
            </a:r>
            <a:r>
              <a:rPr lang="ru-RU" dirty="0" err="1"/>
              <a:t>Мбайта</a:t>
            </a:r>
            <a:r>
              <a:rPr lang="ru-RU" dirty="0"/>
              <a:t>.</a:t>
            </a:r>
          </a:p>
          <a:p>
            <a:r>
              <a:rPr lang="ru-RU" dirty="0"/>
              <a:t>Ответ — 2 </a:t>
            </a:r>
            <a:r>
              <a:rPr lang="ru-RU" dirty="0" err="1"/>
              <a:t>Мбайта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948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Переходим к звуку.</a:t>
            </a:r>
          </a:p>
          <a:p>
            <a:r>
              <a:rPr lang="ru-RU" dirty="0"/>
              <a:t>Здесь важно сначала понять сам принцип цифрового звука.</a:t>
            </a:r>
          </a:p>
          <a:p>
            <a:r>
              <a:rPr lang="ru-RU" dirty="0"/>
              <a:t>Звук в реальном мире представляет собой непрерывную волну.</a:t>
            </a:r>
          </a:p>
          <a:p>
            <a:r>
              <a:rPr lang="ru-RU" dirty="0"/>
              <a:t>Но компьютер не может хранить непрерывную волну напрямую.</a:t>
            </a:r>
          </a:p>
          <a:p>
            <a:r>
              <a:rPr lang="ru-RU" dirty="0"/>
              <a:t>Поэтому через определённые промежутки времени компьютер измеряет уровень сигнала и записывает полученное значение.</a:t>
            </a:r>
          </a:p>
          <a:p>
            <a:r>
              <a:rPr lang="ru-RU" dirty="0"/>
              <a:t>Этот процесс называется дискретизацией.</a:t>
            </a:r>
          </a:p>
          <a:p>
            <a:r>
              <a:rPr lang="ru-RU" dirty="0"/>
              <a:t>Первый параметр — </a:t>
            </a:r>
            <a:r>
              <a:rPr lang="ru-RU" b="1" dirty="0"/>
              <a:t>частота дискретизации</a:t>
            </a:r>
            <a:r>
              <a:rPr lang="ru-RU" dirty="0"/>
              <a:t>.</a:t>
            </a:r>
          </a:p>
          <a:p>
            <a:r>
              <a:rPr lang="ru-RU" dirty="0"/>
              <a:t>Она показывает, сколько измерений производится за одну секунду.</a:t>
            </a:r>
          </a:p>
          <a:p>
            <a:r>
              <a:rPr lang="ru-RU" dirty="0"/>
              <a:t>Например, 44,1 кГц означает 44 100 измерений за одну секунду.</a:t>
            </a:r>
          </a:p>
          <a:p>
            <a:r>
              <a:rPr lang="ru-RU" dirty="0"/>
              <a:t>Чем выше частота, тем больше измерений мы делаем и тем точнее можем представить исходную волну, но тем больше получается файл.</a:t>
            </a:r>
          </a:p>
          <a:p>
            <a:r>
              <a:rPr lang="ru-RU" dirty="0"/>
              <a:t>Второй параметр — глубина кодирования.</a:t>
            </a:r>
          </a:p>
          <a:p>
            <a:r>
              <a:rPr lang="ru-RU" dirty="0"/>
              <a:t>Это количество бит, которое выделяется на одно измерение.</a:t>
            </a:r>
          </a:p>
          <a:p>
            <a:r>
              <a:rPr lang="ru-RU" dirty="0"/>
              <a:t>Если глубина 16 бит, одно измерение может принимать:</a:t>
            </a:r>
          </a:p>
          <a:p>
            <a:r>
              <a:rPr lang="ru-RU" dirty="0"/>
              <a:t>2¹⁶ различных уровней.</a:t>
            </a:r>
          </a:p>
          <a:p>
            <a:r>
              <a:rPr lang="ru-RU" dirty="0"/>
              <a:t>Третий параметр — количество каналов.</a:t>
            </a:r>
          </a:p>
          <a:p>
            <a:r>
              <a:rPr lang="ru-RU" dirty="0"/>
              <a:t>Моно — один канал.</a:t>
            </a:r>
          </a:p>
          <a:p>
            <a:r>
              <a:rPr lang="ru-RU" dirty="0"/>
              <a:t>Стерео — два канала.</a:t>
            </a:r>
          </a:p>
          <a:p>
            <a:r>
              <a:rPr lang="ru-RU" dirty="0" err="1"/>
              <a:t>Квадро</a:t>
            </a:r>
            <a:r>
              <a:rPr lang="ru-RU" dirty="0"/>
              <a:t> — четыре.</a:t>
            </a:r>
          </a:p>
          <a:p>
            <a:r>
              <a:rPr lang="ru-RU" dirty="0"/>
              <a:t>Поэтому одна и та же запись при переходе из моно в стерео при остальных одинаковых параметрах будет занимать в два раза больше места.</a:t>
            </a:r>
          </a:p>
          <a:p>
            <a:r>
              <a:rPr lang="ru-RU" dirty="0"/>
              <a:t>И последний параметр — время.</a:t>
            </a:r>
          </a:p>
          <a:p>
            <a:r>
              <a:rPr lang="ru-RU" dirty="0"/>
              <a:t>Чем дольше запись, тем больше данных необходимо сохранить.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961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Формула:</a:t>
            </a:r>
          </a:p>
          <a:p>
            <a:r>
              <a:rPr lang="ru-RU" b="1" dirty="0"/>
              <a:t>I = f · i · k · t.</a:t>
            </a:r>
            <a:endParaRPr lang="ru-RU" dirty="0"/>
          </a:p>
          <a:p>
            <a:r>
              <a:rPr lang="ru-RU" dirty="0"/>
              <a:t>Разберём каждый множитель.</a:t>
            </a:r>
          </a:p>
          <a:p>
            <a:r>
              <a:rPr lang="ru-RU" dirty="0"/>
              <a:t>f — частота дискретизации в герцах.</a:t>
            </a:r>
          </a:p>
          <a:p>
            <a:r>
              <a:rPr lang="ru-RU" dirty="0"/>
              <a:t>i — количество бит на одно измерение.</a:t>
            </a:r>
          </a:p>
          <a:p>
            <a:r>
              <a:rPr lang="ru-RU" dirty="0"/>
              <a:t>k — количество каналов.</a:t>
            </a:r>
          </a:p>
          <a:p>
            <a:r>
              <a:rPr lang="ru-RU" dirty="0"/>
              <a:t>t — время в секундах.</a:t>
            </a:r>
          </a:p>
          <a:p>
            <a:r>
              <a:rPr lang="ru-RU" dirty="0"/>
              <a:t>Представьте запись длительностью одну секунду.</a:t>
            </a:r>
          </a:p>
          <a:p>
            <a:r>
              <a:rPr lang="ru-RU" dirty="0"/>
              <a:t>Если мы делаем 48 000 измерений в секунду и каждое измерение занимает 16 бит, то уже получаем:</a:t>
            </a:r>
          </a:p>
          <a:p>
            <a:r>
              <a:rPr lang="ru-RU" dirty="0"/>
              <a:t>48 000 · 16 бит.</a:t>
            </a:r>
          </a:p>
          <a:p>
            <a:r>
              <a:rPr lang="ru-RU" dirty="0"/>
              <a:t>Если запись стерео, таких последовательностей две.</a:t>
            </a:r>
          </a:p>
          <a:p>
            <a:r>
              <a:rPr lang="ru-RU" dirty="0"/>
              <a:t>Поэтому умножаем ещё на 2.</a:t>
            </a:r>
          </a:p>
          <a:p>
            <a:r>
              <a:rPr lang="ru-RU" dirty="0"/>
              <a:t>Если запись длится не одну, а 60 секунд — ещё на 60.</a:t>
            </a:r>
          </a:p>
          <a:p>
            <a:r>
              <a:rPr lang="ru-RU" dirty="0"/>
              <a:t>Так и получается эта формула.</a:t>
            </a:r>
          </a:p>
          <a:p>
            <a:r>
              <a:rPr lang="ru-RU" dirty="0"/>
              <a:t>Особое внимание обратите на килогерцы.</a:t>
            </a:r>
          </a:p>
          <a:p>
            <a:r>
              <a:rPr lang="ru-RU" dirty="0"/>
              <a:t>Если дано:</a:t>
            </a:r>
          </a:p>
          <a:p>
            <a:r>
              <a:rPr lang="en-US" dirty="0"/>
              <a:t>1</a:t>
            </a:r>
            <a:r>
              <a:rPr lang="ru-RU" dirty="0"/>
              <a:t> кГц,</a:t>
            </a:r>
          </a:p>
          <a:p>
            <a:r>
              <a:rPr lang="ru-RU" dirty="0"/>
              <a:t>мы записываем:</a:t>
            </a:r>
          </a:p>
          <a:p>
            <a:r>
              <a:rPr lang="en-US" dirty="0"/>
              <a:t>1</a:t>
            </a:r>
            <a:r>
              <a:rPr lang="ru-RU" dirty="0"/>
              <a:t> 000 Гц.</a:t>
            </a:r>
          </a:p>
          <a:p>
            <a:r>
              <a:rPr lang="ru-RU" dirty="0"/>
              <a:t>Не </a:t>
            </a:r>
            <a:r>
              <a:rPr lang="en-US" dirty="0"/>
              <a:t>1024</a:t>
            </a:r>
            <a:r>
              <a:rPr lang="ru-RU" dirty="0"/>
              <a:t>.</a:t>
            </a:r>
          </a:p>
          <a:p>
            <a:r>
              <a:rPr lang="ru-RU" dirty="0"/>
              <a:t>Приставка «кило» здесь означает обычную тысячу.</a:t>
            </a:r>
          </a:p>
          <a:p>
            <a:r>
              <a:rPr lang="ru-RU" dirty="0"/>
              <a:t>А вот когда переводим объём информации из байтов в килобайты, используем 1024.</a:t>
            </a:r>
          </a:p>
          <a:p>
            <a:r>
              <a:rPr lang="ru-RU" dirty="0"/>
              <a:t>Эти две ситуации нельзя путать.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5204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Запись стереофоническая.</a:t>
            </a:r>
          </a:p>
          <a:p>
            <a:r>
              <a:rPr lang="ru-RU" dirty="0"/>
              <a:t>Значит:</a:t>
            </a:r>
          </a:p>
          <a:p>
            <a:r>
              <a:rPr lang="ru-RU" dirty="0"/>
              <a:t>k = 2.</a:t>
            </a:r>
          </a:p>
          <a:p>
            <a:r>
              <a:rPr lang="ru-RU" dirty="0"/>
              <a:t>Частота:</a:t>
            </a:r>
          </a:p>
          <a:p>
            <a:r>
              <a:rPr lang="ru-RU" dirty="0"/>
              <a:t>48 кГц = 48 000 Гц.</a:t>
            </a:r>
          </a:p>
          <a:p>
            <a:r>
              <a:rPr lang="ru-RU" dirty="0"/>
              <a:t>Глубина:</a:t>
            </a:r>
          </a:p>
          <a:p>
            <a:r>
              <a:rPr lang="ru-RU" dirty="0"/>
              <a:t>16 бит.</a:t>
            </a:r>
          </a:p>
          <a:p>
            <a:r>
              <a:rPr lang="ru-RU" dirty="0"/>
              <a:t>Время:</a:t>
            </a:r>
          </a:p>
          <a:p>
            <a:r>
              <a:rPr lang="ru-RU" dirty="0"/>
              <a:t>1 минута = 60 секунд.</a:t>
            </a:r>
          </a:p>
          <a:p>
            <a:r>
              <a:rPr lang="ru-RU" dirty="0"/>
              <a:t>Подставляем всё в формулу:</a:t>
            </a:r>
          </a:p>
          <a:p>
            <a:r>
              <a:rPr lang="ru-RU" dirty="0"/>
              <a:t>I = 48 000 · 16 · 2 · 60.</a:t>
            </a:r>
          </a:p>
          <a:p>
            <a:r>
              <a:rPr lang="ru-RU" dirty="0"/>
              <a:t>Получаем:</a:t>
            </a:r>
          </a:p>
          <a:p>
            <a:r>
              <a:rPr lang="ru-RU" dirty="0"/>
              <a:t>92 160 000 бит.</a:t>
            </a:r>
          </a:p>
          <a:p>
            <a:r>
              <a:rPr lang="ru-RU" dirty="0"/>
              <a:t>Теперь переводим в байты:</a:t>
            </a:r>
          </a:p>
          <a:p>
            <a:r>
              <a:rPr lang="ru-RU" dirty="0"/>
              <a:t>делим на 8.</a:t>
            </a:r>
          </a:p>
          <a:p>
            <a:r>
              <a:rPr lang="ru-RU" dirty="0"/>
              <a:t>Получаем 11 520 000 байт.</a:t>
            </a:r>
          </a:p>
          <a:p>
            <a:r>
              <a:rPr lang="ru-RU" dirty="0"/>
              <a:t>Дальше переводим в килобайты:</a:t>
            </a:r>
          </a:p>
          <a:p>
            <a:r>
              <a:rPr lang="ru-RU" dirty="0"/>
              <a:t>делим на 1024.</a:t>
            </a:r>
          </a:p>
          <a:p>
            <a:r>
              <a:rPr lang="ru-RU" dirty="0"/>
              <a:t>Получаем 11 250 Кбайт.</a:t>
            </a:r>
          </a:p>
          <a:p>
            <a:r>
              <a:rPr lang="ru-RU" dirty="0"/>
              <a:t>И затем в мегабайты:</a:t>
            </a:r>
          </a:p>
          <a:p>
            <a:r>
              <a:rPr lang="ru-RU" dirty="0"/>
              <a:t>11 250 : 1024 ≈ 10,99 </a:t>
            </a:r>
            <a:r>
              <a:rPr lang="ru-RU" dirty="0" err="1"/>
              <a:t>Мбайта</a:t>
            </a:r>
            <a:r>
              <a:rPr lang="ru-RU" dirty="0"/>
              <a:t>.</a:t>
            </a:r>
          </a:p>
          <a:p>
            <a:r>
              <a:rPr lang="ru-RU" dirty="0"/>
              <a:t>По условию требуется округлить до целого.</a:t>
            </a:r>
          </a:p>
          <a:p>
            <a:r>
              <a:rPr lang="ru-RU" dirty="0"/>
              <a:t>Получаем примерно 11 Мбайт.</a:t>
            </a:r>
          </a:p>
          <a:p>
            <a:r>
              <a:rPr lang="ru-RU" dirty="0"/>
              <a:t>Здесь хорошо видно, почему в звуковых задачах часто возникают дробные значения: частоты вроде 48 000 или 44 100 не являются степенями двойки.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585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четырёхканальная запись.</a:t>
            </a:r>
          </a:p>
          <a:p>
            <a:r>
              <a:rPr lang="ru-RU" dirty="0"/>
              <a:t>Слово «</a:t>
            </a:r>
            <a:r>
              <a:rPr lang="ru-RU" dirty="0" err="1"/>
              <a:t>квадро</a:t>
            </a:r>
            <a:r>
              <a:rPr lang="ru-RU" dirty="0"/>
              <a:t>» означает четыре канала.</a:t>
            </a:r>
          </a:p>
          <a:p>
            <a:r>
              <a:rPr lang="ru-RU" dirty="0"/>
              <a:t>Следовательно:</a:t>
            </a:r>
          </a:p>
          <a:p>
            <a:r>
              <a:rPr lang="ru-RU" dirty="0"/>
              <a:t>k = 4.</a:t>
            </a:r>
          </a:p>
          <a:p>
            <a:r>
              <a:rPr lang="ru-RU" dirty="0"/>
              <a:t>Частота:</a:t>
            </a:r>
          </a:p>
          <a:p>
            <a:r>
              <a:rPr lang="ru-RU" dirty="0"/>
              <a:t>32 кГц = 32 000 Гц.</a:t>
            </a:r>
          </a:p>
          <a:p>
            <a:r>
              <a:rPr lang="ru-RU" dirty="0"/>
              <a:t>Глубина:</a:t>
            </a:r>
          </a:p>
          <a:p>
            <a:r>
              <a:rPr lang="ru-RU" dirty="0"/>
              <a:t>32 бита.</a:t>
            </a:r>
          </a:p>
          <a:p>
            <a:r>
              <a:rPr lang="ru-RU" dirty="0"/>
              <a:t>Время:</a:t>
            </a:r>
          </a:p>
          <a:p>
            <a:r>
              <a:rPr lang="ru-RU" dirty="0"/>
              <a:t>2 минуты = 120 секунд.</a:t>
            </a:r>
          </a:p>
          <a:p>
            <a:r>
              <a:rPr lang="ru-RU" dirty="0"/>
              <a:t>Подставляем:</a:t>
            </a:r>
          </a:p>
          <a:p>
            <a:r>
              <a:rPr lang="ru-RU" dirty="0"/>
              <a:t>32 000 · 32 · 4 · 120.</a:t>
            </a:r>
          </a:p>
          <a:p>
            <a:r>
              <a:rPr lang="ru-RU" dirty="0"/>
              <a:t>Получаем:</a:t>
            </a:r>
          </a:p>
          <a:p>
            <a:r>
              <a:rPr lang="ru-RU" dirty="0"/>
              <a:t>491 520 000 бит.</a:t>
            </a:r>
          </a:p>
          <a:p>
            <a:r>
              <a:rPr lang="ru-RU" dirty="0"/>
              <a:t>Переводим в байты:</a:t>
            </a:r>
          </a:p>
          <a:p>
            <a:r>
              <a:rPr lang="ru-RU" dirty="0"/>
              <a:t>61 440 000 байт.</a:t>
            </a:r>
          </a:p>
          <a:p>
            <a:r>
              <a:rPr lang="ru-RU" dirty="0"/>
              <a:t>Теперь в мегабайты:</a:t>
            </a:r>
          </a:p>
          <a:p>
            <a:r>
              <a:rPr lang="ru-RU" dirty="0"/>
              <a:t>получаем примерно 58,6 </a:t>
            </a:r>
            <a:r>
              <a:rPr lang="ru-RU" dirty="0" err="1"/>
              <a:t>Мбайта</a:t>
            </a:r>
            <a:r>
              <a:rPr lang="ru-RU" dirty="0"/>
              <a:t>.</a:t>
            </a:r>
          </a:p>
          <a:p>
            <a:r>
              <a:rPr lang="ru-RU" dirty="0"/>
              <a:t>Но в ответах у нас нет варианта 58,6.</a:t>
            </a:r>
          </a:p>
          <a:p>
            <a:r>
              <a:rPr lang="ru-RU" dirty="0"/>
              <a:t>Нужно выбрать ближайшее значение.</a:t>
            </a:r>
          </a:p>
          <a:p>
            <a:r>
              <a:rPr lang="ru-RU" dirty="0"/>
              <a:t>Ближе всего 60 Мбайт.</a:t>
            </a:r>
          </a:p>
          <a:p>
            <a:r>
              <a:rPr lang="ru-RU" dirty="0"/>
              <a:t>Поэтому правильный вариант — второй.</a:t>
            </a:r>
          </a:p>
          <a:p>
            <a:r>
              <a:rPr lang="ru-RU" dirty="0"/>
              <a:t>В подобных тестовых заданиях не обязательно получать число, полностью совпадающее с вариантом ответа. Внимательно смотрите на формулировку «ближе всего».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8233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Эта задача отличается от предыдущих.</a:t>
            </a:r>
          </a:p>
          <a:p>
            <a:r>
              <a:rPr lang="ru-RU" dirty="0"/>
              <a:t>Здесь нам практически не нужны абсолютные значения частоты и глубины кодирования.</a:t>
            </a:r>
          </a:p>
          <a:p>
            <a:r>
              <a:rPr lang="ru-RU" dirty="0"/>
              <a:t>Нас интересует только то, </a:t>
            </a:r>
            <a:r>
              <a:rPr lang="ru-RU" b="1" dirty="0"/>
              <a:t>во сколько раз изменились параметры</a:t>
            </a:r>
            <a:r>
              <a:rPr lang="ru-RU" dirty="0"/>
              <a:t>.</a:t>
            </a:r>
          </a:p>
          <a:p>
            <a:r>
              <a:rPr lang="ru-RU" dirty="0"/>
              <a:t>Исходный файл занимает 30 Мбайт.</a:t>
            </a:r>
          </a:p>
          <a:p>
            <a:r>
              <a:rPr lang="ru-RU" dirty="0"/>
              <a:t>Первое изменение:</a:t>
            </a:r>
          </a:p>
          <a:p>
            <a:r>
              <a:rPr lang="ru-RU" dirty="0"/>
              <a:t>моно стало стерео.</a:t>
            </a:r>
          </a:p>
          <a:p>
            <a:r>
              <a:rPr lang="ru-RU" dirty="0"/>
              <a:t>Один канал превратился в два.</a:t>
            </a:r>
          </a:p>
          <a:p>
            <a:r>
              <a:rPr lang="ru-RU" dirty="0"/>
              <a:t>Значит объём увеличивается в 2 раза.</a:t>
            </a:r>
          </a:p>
          <a:p>
            <a:r>
              <a:rPr lang="ru-RU" dirty="0"/>
              <a:t>Второе изменение:</a:t>
            </a:r>
          </a:p>
          <a:p>
            <a:r>
              <a:rPr lang="ru-RU" dirty="0"/>
              <a:t>частота дискретизации стала в 2 раза выше.</a:t>
            </a:r>
          </a:p>
          <a:p>
            <a:r>
              <a:rPr lang="ru-RU" dirty="0"/>
              <a:t>Следовательно, объём ещё раз умножается на 2.</a:t>
            </a:r>
          </a:p>
          <a:p>
            <a:r>
              <a:rPr lang="ru-RU" dirty="0"/>
              <a:t>Третье изменение:</a:t>
            </a:r>
          </a:p>
          <a:p>
            <a:r>
              <a:rPr lang="ru-RU" dirty="0"/>
              <a:t>разрешение стало в 1,5 раза меньше.</a:t>
            </a:r>
          </a:p>
          <a:p>
            <a:r>
              <a:rPr lang="ru-RU" dirty="0"/>
              <a:t>Значит объём нужно разделить на 1,5.</a:t>
            </a:r>
          </a:p>
          <a:p>
            <a:r>
              <a:rPr lang="ru-RU" dirty="0"/>
              <a:t>Получаем:</a:t>
            </a:r>
          </a:p>
          <a:p>
            <a:r>
              <a:rPr lang="ru-RU" dirty="0"/>
              <a:t>30 · 2 · 2 : 1,5 = 80 Мбайт.</a:t>
            </a:r>
          </a:p>
          <a:p>
            <a:r>
              <a:rPr lang="ru-RU" dirty="0"/>
              <a:t>Время записи при этом не изменилось, поэтому оно на отношение размеров не влияет.</a:t>
            </a:r>
          </a:p>
          <a:p>
            <a:r>
              <a:rPr lang="ru-RU" dirty="0"/>
              <a:t>Запомните полезный приём: если в задаче сравниваются два файла и сказано, во сколько раз меняются параметры, зачастую гораздо быстрее работать с коэффициентами, а не рассчитывать каждый файл полностью.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9902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объединим знания о графике и звуке и перейдём к видео.</a:t>
            </a:r>
          </a:p>
          <a:p>
            <a:r>
              <a:rPr lang="ru-RU" dirty="0"/>
              <a:t>Видео можно представить как очень быструю последовательность отдельных изображений — кадров.</a:t>
            </a:r>
          </a:p>
          <a:p>
            <a:r>
              <a:rPr lang="ru-RU" dirty="0"/>
              <a:t>Например, частота 25 кадров в секунду означает, что каждую секунду демонстрируется 25 отдельных изображений.</a:t>
            </a:r>
          </a:p>
          <a:p>
            <a:r>
              <a:rPr lang="ru-RU" dirty="0"/>
              <a:t>Каждый такой кадр является обычным растровым изображением.</a:t>
            </a:r>
          </a:p>
          <a:p>
            <a:r>
              <a:rPr lang="ru-RU" dirty="0"/>
              <a:t>Поэтому объём одного кадра:</a:t>
            </a:r>
          </a:p>
          <a:p>
            <a:r>
              <a:rPr lang="ru-RU" dirty="0"/>
              <a:t>W · H · i.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где W — ширина, H — высота изображения.</a:t>
            </a:r>
          </a:p>
          <a:p>
            <a:r>
              <a:rPr lang="ru-RU" dirty="0"/>
              <a:t>Чтобы узнать объём видеоряда за одну секунду, умножаем ещё на количество кадров в секунду.</a:t>
            </a:r>
          </a:p>
          <a:p>
            <a:r>
              <a:rPr lang="ru-RU" dirty="0"/>
              <a:t>А чтобы узнать объём всего ролика — ещё и на время.</a:t>
            </a:r>
          </a:p>
          <a:p>
            <a:r>
              <a:rPr lang="ru-RU" dirty="0"/>
              <a:t>Получаем:</a:t>
            </a:r>
          </a:p>
          <a:p>
            <a:r>
              <a:rPr lang="ru-RU" b="1" dirty="0"/>
              <a:t>I видео = W · H · i · v · t.</a:t>
            </a:r>
            <a:endParaRPr lang="ru-RU" dirty="0"/>
          </a:p>
          <a:p>
            <a:r>
              <a:rPr lang="ru-RU" dirty="0"/>
              <a:t>Но у видео обычно присутствует ещё и звуковая дорожка.</a:t>
            </a:r>
          </a:p>
          <a:p>
            <a:r>
              <a:rPr lang="ru-RU" dirty="0"/>
              <a:t>Её объём рассчитывается по уже знакомой формуле:</a:t>
            </a:r>
          </a:p>
          <a:p>
            <a:r>
              <a:rPr lang="ru-RU" b="1" dirty="0"/>
              <a:t>I звук = f · i · k · t.</a:t>
            </a:r>
            <a:endParaRPr lang="ru-RU" dirty="0"/>
          </a:p>
          <a:p>
            <a:r>
              <a:rPr lang="ru-RU" dirty="0"/>
              <a:t>После этого складываем две величины:</a:t>
            </a:r>
          </a:p>
          <a:p>
            <a:r>
              <a:rPr lang="ru-RU" b="1" dirty="0"/>
              <a:t>I общий = I видео + I звук.</a:t>
            </a:r>
            <a:r>
              <a:rPr lang="en-US" b="1" dirty="0"/>
              <a:t> </a:t>
            </a:r>
            <a:r>
              <a:rPr lang="ru-RU" b="1" dirty="0"/>
              <a:t>Объем</a:t>
            </a:r>
            <a:endParaRPr lang="ru-RU" dirty="0"/>
          </a:p>
          <a:p>
            <a:r>
              <a:rPr lang="ru-RU" dirty="0"/>
              <a:t>Важно понимать, что мы сейчас рассчитываем несжатое видео.</a:t>
            </a:r>
          </a:p>
          <a:p>
            <a:r>
              <a:rPr lang="ru-RU" dirty="0"/>
              <a:t>В реальной жизни такие объёмы были бы огромными, поэтому используются кодеки и сжатие.</a:t>
            </a:r>
          </a:p>
          <a:p>
            <a:r>
              <a:rPr lang="ru-RU" dirty="0"/>
              <a:t>Например, H.264 и H.265.</a:t>
            </a:r>
          </a:p>
          <a:p>
            <a:r>
              <a:rPr lang="ru-RU" dirty="0"/>
              <a:t>Но если в условии задачи ничего не сказано о коэффициенте сжатия, самостоятельно придумывать его не нужно.</a:t>
            </a:r>
          </a:p>
          <a:p>
            <a:r>
              <a:rPr lang="ru-RU" dirty="0"/>
              <a:t>Работаем строго с теми данными, которые указаны в задаче.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6061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Разберём задачу по частям.</a:t>
            </a:r>
          </a:p>
          <a:p>
            <a:r>
              <a:rPr lang="ru-RU" dirty="0"/>
              <a:t>Сначала считаем видеоряд.</a:t>
            </a:r>
          </a:p>
          <a:p>
            <a:r>
              <a:rPr lang="ru-RU" dirty="0"/>
              <a:t>Разрешение одного кадра:</a:t>
            </a:r>
          </a:p>
          <a:p>
            <a:r>
              <a:rPr lang="ru-RU" dirty="0"/>
              <a:t>640 × 480 пикселей.</a:t>
            </a:r>
          </a:p>
          <a:p>
            <a:r>
              <a:rPr lang="ru-RU" dirty="0"/>
              <a:t>Глубина цвета:</a:t>
            </a:r>
          </a:p>
          <a:p>
            <a:r>
              <a:rPr lang="ru-RU" dirty="0"/>
              <a:t>24 бита.</a:t>
            </a:r>
          </a:p>
          <a:p>
            <a:r>
              <a:rPr lang="ru-RU" dirty="0"/>
              <a:t>Можно сразу перевести:</a:t>
            </a:r>
          </a:p>
          <a:p>
            <a:r>
              <a:rPr lang="ru-RU" dirty="0"/>
              <a:t>24 бита = 3 байта.</a:t>
            </a:r>
          </a:p>
          <a:p>
            <a:r>
              <a:rPr lang="ru-RU" dirty="0"/>
              <a:t>Поэтому один кадр занимает:</a:t>
            </a:r>
          </a:p>
          <a:p>
            <a:r>
              <a:rPr lang="ru-RU" dirty="0"/>
              <a:t>640 · 480 · 3 = 921 600 байт.</a:t>
            </a:r>
          </a:p>
          <a:p>
            <a:r>
              <a:rPr lang="ru-RU" dirty="0"/>
              <a:t>Теперь таких кадров 25 каждую секунду.</a:t>
            </a:r>
          </a:p>
          <a:p>
            <a:r>
              <a:rPr lang="ru-RU" dirty="0"/>
              <a:t>Видео длится 10 секунд.</a:t>
            </a:r>
          </a:p>
          <a:p>
            <a:r>
              <a:rPr lang="ru-RU" dirty="0"/>
              <a:t>Получаем:</a:t>
            </a:r>
          </a:p>
          <a:p>
            <a:r>
              <a:rPr lang="ru-RU" dirty="0"/>
              <a:t>921 600 · 25 · 10 = 230 400 000 байт.</a:t>
            </a:r>
          </a:p>
          <a:p>
            <a:r>
              <a:rPr lang="ru-RU" dirty="0"/>
              <a:t>Это примерно 219,7 </a:t>
            </a:r>
            <a:r>
              <a:rPr lang="ru-RU" dirty="0" err="1"/>
              <a:t>Мбайта</a:t>
            </a:r>
            <a:r>
              <a:rPr lang="ru-RU" dirty="0"/>
              <a:t>.</a:t>
            </a:r>
          </a:p>
          <a:p>
            <a:r>
              <a:rPr lang="ru-RU" dirty="0"/>
              <a:t>Но это пока только изображение.</a:t>
            </a:r>
          </a:p>
          <a:p>
            <a:r>
              <a:rPr lang="ru-RU" dirty="0"/>
              <a:t>Теперь рассчитываем звук.</a:t>
            </a:r>
          </a:p>
          <a:p>
            <a:r>
              <a:rPr lang="ru-RU" dirty="0"/>
              <a:t>Частота:</a:t>
            </a:r>
          </a:p>
          <a:p>
            <a:r>
              <a:rPr lang="ru-RU" dirty="0"/>
              <a:t>44,1 кГц = 44 100 Гц.</a:t>
            </a:r>
          </a:p>
          <a:p>
            <a:r>
              <a:rPr lang="ru-RU" dirty="0"/>
              <a:t>Глубина:</a:t>
            </a:r>
          </a:p>
          <a:p>
            <a:r>
              <a:rPr lang="ru-RU" dirty="0"/>
              <a:t>16 бит.</a:t>
            </a:r>
          </a:p>
          <a:p>
            <a:r>
              <a:rPr lang="ru-RU" dirty="0"/>
              <a:t>Стерео:</a:t>
            </a:r>
          </a:p>
          <a:p>
            <a:r>
              <a:rPr lang="ru-RU" dirty="0"/>
              <a:t>2 канала.</a:t>
            </a:r>
          </a:p>
          <a:p>
            <a:r>
              <a:rPr lang="ru-RU" dirty="0"/>
              <a:t>Длительность:</a:t>
            </a:r>
          </a:p>
          <a:p>
            <a:r>
              <a:rPr lang="ru-RU" dirty="0"/>
              <a:t>10 секунд.</a:t>
            </a:r>
          </a:p>
          <a:p>
            <a:r>
              <a:rPr lang="ru-RU" dirty="0"/>
              <a:t>Получаем:</a:t>
            </a:r>
          </a:p>
          <a:p>
            <a:r>
              <a:rPr lang="ru-RU" dirty="0"/>
              <a:t>44 100 · 16 · 2 · 10 = 14 112 000 бит.</a:t>
            </a:r>
          </a:p>
          <a:p>
            <a:r>
              <a:rPr lang="ru-RU" dirty="0"/>
              <a:t>Переводим в байты:</a:t>
            </a:r>
          </a:p>
          <a:p>
            <a:r>
              <a:rPr lang="ru-RU" dirty="0"/>
              <a:t>1 764 000 байт.</a:t>
            </a:r>
          </a:p>
          <a:p>
            <a:r>
              <a:rPr lang="ru-RU" dirty="0"/>
              <a:t>Это примерно 1,7 </a:t>
            </a:r>
            <a:r>
              <a:rPr lang="ru-RU" dirty="0" err="1"/>
              <a:t>Мбайта</a:t>
            </a:r>
            <a:r>
              <a:rPr lang="ru-RU" dirty="0"/>
              <a:t>.</a:t>
            </a:r>
          </a:p>
          <a:p>
            <a:r>
              <a:rPr lang="ru-RU" dirty="0"/>
              <a:t>Теперь складываем видеоряд и звук:</a:t>
            </a:r>
          </a:p>
          <a:p>
            <a:r>
              <a:rPr lang="ru-RU" dirty="0"/>
              <a:t>230 400 000 + 1 764 000 = 232 164 000 байт.</a:t>
            </a:r>
          </a:p>
          <a:p>
            <a:r>
              <a:rPr lang="ru-RU" dirty="0"/>
              <a:t>Переводим в мегабайты.</a:t>
            </a:r>
          </a:p>
          <a:p>
            <a:r>
              <a:rPr lang="ru-RU" dirty="0"/>
              <a:t>Получаем примерно 221,4 </a:t>
            </a:r>
            <a:r>
              <a:rPr lang="ru-RU" dirty="0" err="1"/>
              <a:t>Мбайта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внимание, насколько в несжатом видео объём изображения превышает объём звуковой дорожки.</a:t>
            </a:r>
          </a:p>
          <a:p>
            <a:r>
              <a:rPr lang="ru-RU" dirty="0"/>
              <a:t>Именно видеоряд здесь занимает основную часть файла.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6318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собраны основные формулы сегодняшнего занятия.</a:t>
            </a:r>
          </a:p>
          <a:p>
            <a:r>
              <a:rPr lang="ru-RU" dirty="0"/>
              <a:t>Не нужно воспринимать их как шесть независимых формул, которые необходимо механически заучить.</a:t>
            </a:r>
          </a:p>
          <a:p>
            <a:r>
              <a:rPr lang="ru-RU" dirty="0"/>
              <a:t>Посмотрите на общую логику.</a:t>
            </a:r>
          </a:p>
          <a:p>
            <a:r>
              <a:rPr lang="ru-RU" dirty="0"/>
              <a:t>Если мы кодируем отдельные элементы, сначала определяем, сколько бит требуется на один элемент:</a:t>
            </a:r>
          </a:p>
          <a:p>
            <a:r>
              <a:rPr lang="ru-RU" b="1" dirty="0"/>
              <a:t>N = 2ⁱ.</a:t>
            </a:r>
            <a:endParaRPr lang="ru-RU" dirty="0"/>
          </a:p>
          <a:p>
            <a:r>
              <a:rPr lang="ru-RU" dirty="0"/>
              <a:t>Для текста:</a:t>
            </a:r>
          </a:p>
          <a:p>
            <a:r>
              <a:rPr lang="ru-RU" b="1" dirty="0"/>
              <a:t>I = K · i.</a:t>
            </a:r>
            <a:endParaRPr lang="ru-RU" dirty="0"/>
          </a:p>
          <a:p>
            <a:r>
              <a:rPr lang="ru-RU" dirty="0"/>
              <a:t>Количество символов умножаем на вес одного символа.</a:t>
            </a:r>
          </a:p>
          <a:p>
            <a:r>
              <a:rPr lang="ru-RU" dirty="0"/>
              <a:t>Для изображения:</a:t>
            </a:r>
          </a:p>
          <a:p>
            <a:r>
              <a:rPr lang="ru-RU" b="1" dirty="0"/>
              <a:t>I = W · H · i.</a:t>
            </a:r>
            <a:endParaRPr lang="ru-RU" dirty="0"/>
          </a:p>
          <a:p>
            <a:r>
              <a:rPr lang="ru-RU" dirty="0"/>
              <a:t>Количество пикселей умножаем на глубину цвета.</a:t>
            </a:r>
          </a:p>
          <a:p>
            <a:r>
              <a:rPr lang="ru-RU" dirty="0"/>
              <a:t>Для сканирования сначала переводим физические размеры в пиксели через </a:t>
            </a:r>
            <a:r>
              <a:rPr lang="ru-RU" dirty="0" err="1"/>
              <a:t>dpi</a:t>
            </a:r>
            <a:r>
              <a:rPr lang="ru-RU" dirty="0"/>
              <a:t>.</a:t>
            </a:r>
          </a:p>
          <a:p>
            <a:r>
              <a:rPr lang="ru-RU" dirty="0"/>
              <a:t>Для звука:</a:t>
            </a:r>
          </a:p>
          <a:p>
            <a:r>
              <a:rPr lang="ru-RU" b="1" dirty="0"/>
              <a:t>I = f · i · k · t.</a:t>
            </a:r>
            <a:endParaRPr lang="ru-RU" dirty="0"/>
          </a:p>
          <a:p>
            <a:r>
              <a:rPr lang="ru-RU" dirty="0"/>
              <a:t>Количество измерений в секунду умножаем на размер одного измерения, количество каналов и время.</a:t>
            </a:r>
          </a:p>
          <a:p>
            <a:r>
              <a:rPr lang="ru-RU" dirty="0"/>
              <a:t>Для видео к объёму последовательности кадров добавляем звук.</a:t>
            </a:r>
          </a:p>
          <a:p>
            <a:r>
              <a:rPr lang="ru-RU" dirty="0"/>
              <a:t>В таблице также есть формула передачи данных:</a:t>
            </a:r>
          </a:p>
          <a:p>
            <a:r>
              <a:rPr lang="ru-RU" b="1" dirty="0"/>
              <a:t>I = v · t.</a:t>
            </a:r>
            <a:endParaRPr lang="ru-RU" dirty="0"/>
          </a:p>
          <a:p>
            <a:r>
              <a:rPr lang="ru-RU" dirty="0"/>
              <a:t>Здесь v — скорость передачи данных, а t — время.</a:t>
            </a:r>
          </a:p>
          <a:p>
            <a:r>
              <a:rPr lang="ru-RU" dirty="0"/>
              <a:t>Логика похожа на обычную задачу из физики:</a:t>
            </a:r>
          </a:p>
          <a:p>
            <a:r>
              <a:rPr lang="ru-RU" dirty="0"/>
              <a:t>если каждую секунду передаётся определённое количество бит, то за t секунд передастся:</a:t>
            </a:r>
          </a:p>
          <a:p>
            <a:r>
              <a:rPr lang="ru-RU" dirty="0"/>
              <a:t>скорость × время.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3133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Задача 1</a:t>
            </a:r>
          </a:p>
          <a:p>
            <a:r>
              <a:rPr lang="ru-RU" dirty="0"/>
              <a:t>Сначала найдите общее количество символов:</a:t>
            </a:r>
          </a:p>
          <a:p>
            <a:r>
              <a:rPr lang="ru-RU" dirty="0"/>
              <a:t>страницы × строки × символы.</a:t>
            </a:r>
          </a:p>
          <a:p>
            <a:r>
              <a:rPr lang="ru-RU" dirty="0"/>
              <a:t>После этого учтите, что кодировка 16-битная, и переведите полученный объём в килобайты.</a:t>
            </a:r>
          </a:p>
          <a:p>
            <a:r>
              <a:rPr lang="ru-RU" b="1" dirty="0"/>
              <a:t>Задача 2</a:t>
            </a:r>
          </a:p>
          <a:p>
            <a:r>
              <a:rPr lang="ru-RU" dirty="0"/>
              <a:t>Здесь сначала необходимо определить вес одного символа по мощности алфавита.</a:t>
            </a:r>
          </a:p>
          <a:p>
            <a:r>
              <a:rPr lang="ru-RU" dirty="0"/>
              <a:t>32 — это степень двойки.</a:t>
            </a:r>
          </a:p>
          <a:p>
            <a:r>
              <a:rPr lang="ru-RU" dirty="0"/>
              <a:t>После этого умножьте информационный вес символа на количество символов сообщения.</a:t>
            </a:r>
          </a:p>
          <a:p>
            <a:r>
              <a:rPr lang="ru-RU" b="1" dirty="0"/>
              <a:t>Задача 3</a:t>
            </a:r>
          </a:p>
          <a:p>
            <a:r>
              <a:rPr lang="ru-RU" dirty="0"/>
              <a:t>Это обратная задача.</a:t>
            </a:r>
          </a:p>
          <a:p>
            <a:r>
              <a:rPr lang="ru-RU" dirty="0"/>
              <a:t>Сначала переведите 1/512 </a:t>
            </a:r>
            <a:r>
              <a:rPr lang="ru-RU" dirty="0" err="1"/>
              <a:t>Мбайта</a:t>
            </a:r>
            <a:r>
              <a:rPr lang="ru-RU" dirty="0"/>
              <a:t> в биты.</a:t>
            </a:r>
          </a:p>
          <a:p>
            <a:r>
              <a:rPr lang="ru-RU" dirty="0"/>
              <a:t>После этого разделите общий объём на количество символов и получите вес одного символа.</a:t>
            </a:r>
          </a:p>
          <a:p>
            <a:r>
              <a:rPr lang="ru-RU" dirty="0"/>
              <a:t>И только затем определите мощность алфавита.</a:t>
            </a:r>
          </a:p>
          <a:p>
            <a:r>
              <a:rPr lang="ru-RU" b="1" dirty="0"/>
              <a:t>Задача 4</a:t>
            </a:r>
          </a:p>
          <a:p>
            <a:r>
              <a:rPr lang="ru-RU" dirty="0"/>
              <a:t>Здесь не нужно отдельно считать полный объём текста до и после перекодировки.</a:t>
            </a:r>
          </a:p>
          <a:p>
            <a:r>
              <a:rPr lang="ru-RU" dirty="0"/>
              <a:t>Подумайте, на сколько бит уменьшился размер </a:t>
            </a:r>
            <a:r>
              <a:rPr lang="ru-RU" b="1" dirty="0"/>
              <a:t>одного символа</a:t>
            </a:r>
            <a:r>
              <a:rPr lang="ru-RU" dirty="0"/>
              <a:t>.</a:t>
            </a:r>
          </a:p>
          <a:p>
            <a:r>
              <a:rPr lang="ru-RU" dirty="0"/>
              <a:t>Затем сравните это с общим уменьшением объёма.</a:t>
            </a:r>
          </a:p>
          <a:p>
            <a:r>
              <a:rPr lang="ru-RU" b="1" dirty="0"/>
              <a:t>Задача 5</a:t>
            </a:r>
          </a:p>
          <a:p>
            <a:r>
              <a:rPr lang="ru-RU" dirty="0"/>
              <a:t>Это задача на пароли.</a:t>
            </a:r>
          </a:p>
          <a:p>
            <a:r>
              <a:rPr lang="ru-RU" dirty="0"/>
              <a:t>Сначала посчитайте количество возможных символов:</a:t>
            </a:r>
          </a:p>
          <a:p>
            <a:r>
              <a:rPr lang="ru-RU" dirty="0"/>
              <a:t>26 букв + 10 цифр.</a:t>
            </a:r>
          </a:p>
          <a:p>
            <a:r>
              <a:rPr lang="ru-RU" dirty="0"/>
              <a:t>Определите минимальное количество бит на символ.</a:t>
            </a:r>
          </a:p>
          <a:p>
            <a:r>
              <a:rPr lang="ru-RU" dirty="0"/>
              <a:t>Затем определите количество бит на один пароль.</a:t>
            </a:r>
          </a:p>
          <a:p>
            <a:r>
              <a:rPr lang="ru-RU" dirty="0"/>
              <a:t>И обязательно обратите внимание на слова «минимальное возможное целое количество байт».</a:t>
            </a:r>
          </a:p>
          <a:p>
            <a:r>
              <a:rPr lang="ru-RU" dirty="0"/>
              <a:t>Сначала округляем размер одного пароля вверх до целого числа байт и только после этого умножаем на 60.</a:t>
            </a:r>
          </a:p>
          <a:p>
            <a:r>
              <a:rPr lang="ru-RU" dirty="0"/>
              <a:t>Для преподавателя ответы:</a:t>
            </a:r>
          </a:p>
          <a:p>
            <a:r>
              <a:rPr lang="ru-RU" dirty="0"/>
              <a:t>задача 1 — 64 </a:t>
            </a:r>
            <a:r>
              <a:rPr lang="ru-RU" dirty="0" err="1"/>
              <a:t>Кбайта</a:t>
            </a:r>
            <a:r>
              <a:rPr lang="ru-RU" dirty="0"/>
              <a:t>;</a:t>
            </a:r>
          </a:p>
          <a:p>
            <a:r>
              <a:rPr lang="ru-RU" dirty="0"/>
              <a:t>задача 2 — 700 бит;</a:t>
            </a:r>
          </a:p>
          <a:p>
            <a:r>
              <a:rPr lang="ru-RU" dirty="0"/>
              <a:t>задача 3 — 256 символов;</a:t>
            </a:r>
          </a:p>
          <a:p>
            <a:r>
              <a:rPr lang="ru-RU" dirty="0"/>
              <a:t>задача 4 — 60 символов;</a:t>
            </a:r>
          </a:p>
          <a:p>
            <a:r>
              <a:rPr lang="ru-RU" dirty="0"/>
              <a:t>задача 5 — 540 байт.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9692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Задача 1</a:t>
            </a:r>
          </a:p>
          <a:p>
            <a:r>
              <a:rPr lang="ru-RU" dirty="0"/>
              <a:t>Палитра содержит 256 цветов.</a:t>
            </a:r>
          </a:p>
          <a:p>
            <a:r>
              <a:rPr lang="ru-RU" dirty="0"/>
              <a:t>Сначала определите глубину цвета.</a:t>
            </a:r>
          </a:p>
          <a:p>
            <a:r>
              <a:rPr lang="ru-RU" dirty="0"/>
              <a:t>Затем найдите количество пикселей изображения и объём.</a:t>
            </a:r>
          </a:p>
          <a:p>
            <a:r>
              <a:rPr lang="ru-RU" b="1" dirty="0"/>
              <a:t>Задача 2</a:t>
            </a:r>
          </a:p>
          <a:p>
            <a:r>
              <a:rPr lang="ru-RU" dirty="0"/>
              <a:t>Здесь известен общий объём файла.</a:t>
            </a:r>
          </a:p>
          <a:p>
            <a:r>
              <a:rPr lang="ru-RU" dirty="0"/>
              <a:t>Переведите его в биты.</a:t>
            </a:r>
          </a:p>
          <a:p>
            <a:r>
              <a:rPr lang="ru-RU" dirty="0"/>
              <a:t>После этого найдите количество пикселей и определите, сколько бит приходится на один пиксель.</a:t>
            </a:r>
          </a:p>
          <a:p>
            <a:r>
              <a:rPr lang="ru-RU" dirty="0"/>
              <a:t>Из глубины цвета получите количество цветов.</a:t>
            </a:r>
          </a:p>
          <a:p>
            <a:r>
              <a:rPr lang="ru-RU" b="1" dirty="0"/>
              <a:t>Задача 3</a:t>
            </a:r>
          </a:p>
          <a:p>
            <a:r>
              <a:rPr lang="ru-RU" dirty="0"/>
              <a:t>Здесь есть ограничение: файл должен занимать не больше 20 Кбайт.</a:t>
            </a:r>
          </a:p>
          <a:p>
            <a:r>
              <a:rPr lang="ru-RU" dirty="0"/>
              <a:t>Нужно определить максимально допустимую глубину цвета, а затем максимальное количество цветов.</a:t>
            </a:r>
          </a:p>
          <a:p>
            <a:r>
              <a:rPr lang="ru-RU" dirty="0"/>
              <a:t>Обратите внимание на слово «максимальное»: выбираем наибольшую глубину, при которой файл ещё помещается в заданный объём.</a:t>
            </a:r>
          </a:p>
          <a:p>
            <a:r>
              <a:rPr lang="ru-RU" b="1" dirty="0"/>
              <a:t>Задача 4</a:t>
            </a:r>
          </a:p>
          <a:p>
            <a:r>
              <a:rPr lang="ru-RU" dirty="0"/>
              <a:t>Количество пикселей не меняется.</a:t>
            </a:r>
          </a:p>
          <a:p>
            <a:r>
              <a:rPr lang="ru-RU" dirty="0"/>
              <a:t>Меняется только глубина цвета.</a:t>
            </a:r>
          </a:p>
          <a:p>
            <a:r>
              <a:rPr lang="ru-RU" dirty="0"/>
              <a:t>Поэтому можно решить задачу через отношение:</a:t>
            </a:r>
          </a:p>
          <a:p>
            <a:r>
              <a:rPr lang="ru-RU" dirty="0"/>
              <a:t>было 24 бита на пиксель;</a:t>
            </a:r>
          </a:p>
          <a:p>
            <a:r>
              <a:rPr lang="ru-RU" dirty="0"/>
              <a:t>стало 8 бит, поскольку 256 = 2⁸.</a:t>
            </a:r>
          </a:p>
          <a:p>
            <a:r>
              <a:rPr lang="ru-RU" dirty="0"/>
              <a:t>Следовательно, файл станет в три раза меньше.</a:t>
            </a:r>
          </a:p>
          <a:p>
            <a:r>
              <a:rPr lang="ru-RU" b="1" dirty="0"/>
              <a:t>Задача 5</a:t>
            </a:r>
          </a:p>
          <a:p>
            <a:r>
              <a:rPr lang="ru-RU" dirty="0"/>
              <a:t>Это сканирование.</a:t>
            </a:r>
          </a:p>
          <a:p>
            <a:r>
              <a:rPr lang="ru-RU" dirty="0"/>
              <a:t>Сначала переведите размеры 3 × 4 дюйма в количество пикселей через 600 </a:t>
            </a:r>
            <a:r>
              <a:rPr lang="ru-RU" dirty="0" err="1"/>
              <a:t>dpi</a:t>
            </a:r>
            <a:r>
              <a:rPr lang="ru-RU" dirty="0"/>
              <a:t>.</a:t>
            </a:r>
          </a:p>
          <a:p>
            <a:r>
              <a:rPr lang="ru-RU" dirty="0"/>
              <a:t>После этого получите общее количество пикселей и умножьте на 24 бита.</a:t>
            </a:r>
          </a:p>
          <a:p>
            <a:r>
              <a:rPr lang="ru-RU" dirty="0"/>
              <a:t>Для преподавателя ответы:</a:t>
            </a:r>
          </a:p>
          <a:p>
            <a:r>
              <a:rPr lang="ru-RU" dirty="0"/>
              <a:t>задача 1 — 300 Кбайт;</a:t>
            </a:r>
          </a:p>
          <a:p>
            <a:r>
              <a:rPr lang="ru-RU" dirty="0"/>
              <a:t>задача 2 — 8 цветов;</a:t>
            </a:r>
          </a:p>
          <a:p>
            <a:r>
              <a:rPr lang="ru-RU" dirty="0"/>
              <a:t>задача 3 — 32 цвета;</a:t>
            </a:r>
          </a:p>
          <a:p>
            <a:r>
              <a:rPr lang="ru-RU" dirty="0"/>
              <a:t>задача 4 — 512 Кбайт;</a:t>
            </a:r>
          </a:p>
          <a:p>
            <a:r>
              <a:rPr lang="ru-RU" dirty="0"/>
              <a:t>задача 5 — примерно 12,36 </a:t>
            </a:r>
            <a:r>
              <a:rPr lang="ru-RU" dirty="0" err="1"/>
              <a:t>Мбайта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7934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Звуковая информация. Задача 1</a:t>
            </a:r>
          </a:p>
          <a:p>
            <a:r>
              <a:rPr lang="ru-RU" dirty="0"/>
              <a:t>Запись моно, поэтому канал один.</a:t>
            </a:r>
          </a:p>
          <a:p>
            <a:r>
              <a:rPr lang="ru-RU" dirty="0"/>
              <a:t>Частоту 8 кГц обязательно переводим в 8000 Гц.</a:t>
            </a:r>
          </a:p>
          <a:p>
            <a:r>
              <a:rPr lang="ru-RU" dirty="0"/>
              <a:t>Две минуты переводим в 120 секунд.</a:t>
            </a:r>
          </a:p>
          <a:p>
            <a:r>
              <a:rPr lang="ru-RU" dirty="0"/>
              <a:t>После этого используем:</a:t>
            </a:r>
          </a:p>
          <a:p>
            <a:r>
              <a:rPr lang="ru-RU" dirty="0"/>
              <a:t>I = f · i · k · t.</a:t>
            </a:r>
          </a:p>
          <a:p>
            <a:r>
              <a:rPr lang="ru-RU" dirty="0"/>
              <a:t>Ответ необходимо дать в килобайтах.</a:t>
            </a:r>
          </a:p>
          <a:p>
            <a:r>
              <a:rPr lang="ru-RU" b="1" dirty="0"/>
              <a:t>Задача 2</a:t>
            </a:r>
          </a:p>
          <a:p>
            <a:r>
              <a:rPr lang="ru-RU" dirty="0"/>
              <a:t>Здесь запись стерео, поэтому каналов два.</a:t>
            </a:r>
          </a:p>
          <a:p>
            <a:r>
              <a:rPr lang="ru-RU" dirty="0"/>
              <a:t>44,1 кГц — это 44 100 Гц.</a:t>
            </a:r>
          </a:p>
          <a:p>
            <a:r>
              <a:rPr lang="ru-RU" dirty="0"/>
              <a:t>Три минуты — 180 секунд.</a:t>
            </a:r>
          </a:p>
          <a:p>
            <a:r>
              <a:rPr lang="ru-RU" dirty="0"/>
              <a:t>После получения объёма переведите результат в мегабайты и округлите до десятых.</a:t>
            </a:r>
          </a:p>
          <a:p>
            <a:r>
              <a:rPr lang="ru-RU" b="1" dirty="0"/>
              <a:t>Задача 3</a:t>
            </a:r>
          </a:p>
          <a:p>
            <a:r>
              <a:rPr lang="ru-RU" dirty="0"/>
              <a:t>Здесь формулу необходимо преобразовать, потому что неизвестно время.</a:t>
            </a:r>
          </a:p>
          <a:p>
            <a:r>
              <a:rPr lang="ru-RU" dirty="0"/>
              <a:t>Из:</a:t>
            </a:r>
          </a:p>
          <a:p>
            <a:r>
              <a:rPr lang="ru-RU" dirty="0"/>
              <a:t>I = f · i · k · t</a:t>
            </a:r>
          </a:p>
          <a:p>
            <a:r>
              <a:rPr lang="ru-RU" dirty="0"/>
              <a:t>получаем:</a:t>
            </a:r>
          </a:p>
          <a:p>
            <a:r>
              <a:rPr lang="ru-RU" b="1" dirty="0"/>
              <a:t>t = I / (f · i · k).</a:t>
            </a:r>
            <a:endParaRPr lang="ru-RU" dirty="0"/>
          </a:p>
          <a:p>
            <a:r>
              <a:rPr lang="ru-RU" dirty="0"/>
              <a:t>Не забудьте сначала перевести 5 Мбайт в биты.</a:t>
            </a:r>
          </a:p>
          <a:p>
            <a:r>
              <a:rPr lang="ru-RU" dirty="0"/>
              <a:t>Для преподавателя ответы:</a:t>
            </a:r>
          </a:p>
          <a:p>
            <a:r>
              <a:rPr lang="ru-RU" dirty="0"/>
              <a:t>задача 1 — 937,5 </a:t>
            </a:r>
            <a:r>
              <a:rPr lang="ru-RU" dirty="0" err="1"/>
              <a:t>Кбайта</a:t>
            </a:r>
            <a:r>
              <a:rPr lang="ru-RU" dirty="0"/>
              <a:t>;</a:t>
            </a:r>
          </a:p>
          <a:p>
            <a:r>
              <a:rPr lang="ru-RU" dirty="0"/>
              <a:t>задача 2 — примерно 30,3 </a:t>
            </a:r>
            <a:r>
              <a:rPr lang="ru-RU" dirty="0" err="1"/>
              <a:t>Мбайта</a:t>
            </a:r>
            <a:r>
              <a:rPr lang="ru-RU" dirty="0"/>
              <a:t>;</a:t>
            </a:r>
          </a:p>
          <a:p>
            <a:r>
              <a:rPr lang="ru-RU" dirty="0"/>
              <a:t>задача 3 — примерно 41 секунда.</a:t>
            </a:r>
          </a:p>
          <a:p>
            <a:r>
              <a:rPr lang="ru-RU" b="1" dirty="0"/>
              <a:t>Видео. Задача 1</a:t>
            </a:r>
          </a:p>
          <a:p>
            <a:r>
              <a:rPr lang="ru-RU" dirty="0"/>
              <a:t>Звуковая дорожка по условию не учитывается.</a:t>
            </a:r>
          </a:p>
          <a:p>
            <a:r>
              <a:rPr lang="ru-RU" dirty="0"/>
              <a:t>Поэтому используем только:</a:t>
            </a:r>
          </a:p>
          <a:p>
            <a:r>
              <a:rPr lang="ru-RU" dirty="0"/>
              <a:t>I = W · H · i · v · t.</a:t>
            </a:r>
          </a:p>
          <a:p>
            <a:r>
              <a:rPr lang="ru-RU" dirty="0"/>
              <a:t>Одна минута — 60 секунд.</a:t>
            </a:r>
          </a:p>
          <a:p>
            <a:r>
              <a:rPr lang="ru-RU" dirty="0"/>
              <a:t>После получения результата в битах переводим его в гигабайты.</a:t>
            </a:r>
          </a:p>
          <a:p>
            <a:r>
              <a:rPr lang="ru-RU" dirty="0"/>
              <a:t>Ответ — примерно 4,63 </a:t>
            </a:r>
            <a:r>
              <a:rPr lang="ru-RU" dirty="0" err="1"/>
              <a:t>Гбайта</a:t>
            </a:r>
            <a:r>
              <a:rPr lang="ru-RU" dirty="0"/>
              <a:t>.</a:t>
            </a:r>
          </a:p>
          <a:p>
            <a:r>
              <a:rPr lang="ru-RU" dirty="0"/>
              <a:t>Это ещё раз показывает, насколько большой объём занимает несжатое видео.</a:t>
            </a:r>
          </a:p>
          <a:p>
            <a:r>
              <a:rPr lang="ru-RU" b="1" dirty="0"/>
              <a:t>Передача данных. Задача 2</a:t>
            </a:r>
          </a:p>
          <a:p>
            <a:r>
              <a:rPr lang="ru-RU" dirty="0"/>
              <a:t>Здесь работает самая простая формула этого блока:</a:t>
            </a:r>
          </a:p>
          <a:p>
            <a:r>
              <a:rPr lang="ru-RU" b="1" dirty="0"/>
              <a:t>I = v · t.</a:t>
            </a:r>
            <a:endParaRPr lang="ru-RU" dirty="0"/>
          </a:p>
          <a:p>
            <a:r>
              <a:rPr lang="ru-RU" dirty="0"/>
              <a:t>Скорость составляет 128 000 бит в секунду.</a:t>
            </a:r>
          </a:p>
          <a:p>
            <a:r>
              <a:rPr lang="ru-RU" dirty="0"/>
              <a:t>Время:</a:t>
            </a:r>
          </a:p>
          <a:p>
            <a:r>
              <a:rPr lang="ru-RU" dirty="0"/>
              <a:t>2 минуты = 120 секунд.</a:t>
            </a:r>
          </a:p>
          <a:p>
            <a:r>
              <a:rPr lang="ru-RU" dirty="0"/>
              <a:t>Полученный объём будет в битах.</a:t>
            </a:r>
          </a:p>
          <a:p>
            <a:r>
              <a:rPr lang="ru-RU" dirty="0"/>
              <a:t>Затем переводим его в байты и килобайты.</a:t>
            </a:r>
          </a:p>
          <a:p>
            <a:r>
              <a:rPr lang="ru-RU"/>
              <a:t>Ответ — 1875 Кбайт.</a:t>
            </a:r>
          </a:p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2AD7-B6F8-429B-AA1D-E5242BD9BEA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22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BCBE74-F45B-4007-90A5-AEBA84D0F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E2AE93-09AF-4CA8-B70D-3415B7182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BAD6ED-9ADA-4078-A1F7-9E266095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8A110D-045C-4300-ACE3-2F6E7C35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87FF1F-1EB5-44F1-ACDB-C6D404735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10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C3265-3380-45F5-8CB3-9F7C4063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7997A4-C5F1-4B78-AD97-447BF0527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636B8B-7259-4548-98DB-C30B2EA2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EBA69D-284C-4B8E-B6A4-D5C290FE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6FA70B-AEB0-4591-A48E-ED1CE6D4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191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B769C-9905-48A0-B9E8-906509D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DF55D3-4983-41EF-B1A3-F7A848719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DB5C17-F8AE-45F8-B9E2-CCBAA0B9F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00F408-01A7-4F16-AA84-58C51AB9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F24AEE-BFA4-4D42-9DE5-60A2685C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31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31F95-2D83-4A90-82CD-2F06AC4C6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32A852-8096-4CFD-86CA-B18BFE1A9F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D3C6A7-D90A-4447-BAD7-CA15BFF62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63D08B-410C-4D66-A274-D9A79196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ACF8EE-CA1A-4881-9952-91CB0E01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8B406C-11E4-4583-9533-F1D902E9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90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E575-D65E-45B0-93FF-2D4FD7AAC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925F7E-E055-4006-8A3A-E34D226FA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D3C17F-B5C6-4BD4-86AD-510D2877B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75C01F-720A-4DC3-A94F-DEA6FE0F5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2512FC2-5A1F-489F-ABD9-6A5A2FBC6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22B1C9B-F383-4BDB-A5E6-C56C7967C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FB24A8-F087-43E6-94E2-06C42530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BB2BA47-BE83-449A-8C3F-079D46D6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33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30E062-B57A-4436-82E3-604DEB2D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D98D1EA-8783-480C-9012-38FA9C8C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1F24DCF-A75F-4071-AE25-3179DD78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0A82F0B-A76E-4703-80E1-259B6629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14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27F49B6-1E30-4AF8-AEBB-4F54459DE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7DAEF97-08EB-4123-9859-B1DC1D48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344CCF-17C3-419D-9B2D-40608E7D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58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E3551-FDF8-4375-93EF-15FD7184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417AC9-B56E-48B0-A351-7EEF7FFF8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454245-1F9B-4F3D-B6DB-60D877E0D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77C5AD-1139-4C87-9408-8794E4582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15AB45-9228-4317-A4C6-231C1432D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E204DF-6056-4F82-B126-160C2603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050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B5D86-02D8-4BD4-82BB-FB6690EC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92CA2F-0CE3-4224-A334-548C69AF9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A5BD06-510E-4E1E-A01D-F38B22F8A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80C833-A8F3-4515-966F-EA8A443A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C3AFEC-F07F-49A5-A817-C07801768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4BC7D8-F3E4-4AE3-A086-55D7EFC93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50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5BDB2-D53F-4CEE-B218-21630E22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4CF73D-A66F-460B-AF31-733472B96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EEBDE2-30B4-4846-A4E4-274FF95B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FD6551-7E4B-4350-83BB-908B115D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53FCB4-666F-4059-8941-E316D50D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5315AB6-B798-42A2-84D5-49F3C1733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D13710-7248-411C-90D2-13634F734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9BA3A0-7C45-4B87-B681-4A3A371F9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EA05EB-5070-4FD7-A67E-8ED82E06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8C8BEF-D701-4BA1-A350-828AC396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328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8263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1647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1253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4634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966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2966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8783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90478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741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36150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3280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0390F9-A0D4-45D7-830B-12D2325D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5AEABE-9EA7-49FB-929F-39122E437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DD9EA2-EF15-4ED6-B346-4520BB63F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AFB74-6620-4400-AF78-56C7BEB8A96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A36329-BEF4-42E8-B69E-CAA4349ED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9DFA81-D1DB-4A97-8677-DC0ACF610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90AF3-226F-41A9-BDD5-2AB9C08D8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54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73496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847108" y="2254026"/>
            <a:ext cx="753406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2000" b="1" kern="0" dirty="0">
                <a:solidFill>
                  <a:srgbClr val="283CF5"/>
                </a:solidFill>
                <a:latin typeface="Arial"/>
                <a:cs typeface="Arial"/>
              </a:rPr>
              <a:t>Р</a:t>
            </a:r>
            <a:r>
              <a:rPr kumimoji="0" lang="ru-RU" sz="2000" b="1" i="0" u="none" strike="noStrike" kern="0" cap="none" spc="0" normalizeH="0" baseline="0" noProof="0" dirty="0" err="1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ешение</a:t>
            </a: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 задач на определение объема текстовой, графической и мультимедийной информации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Информатика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3308AA-BB8F-01E3-5970-0A81D3D72FAA}"/>
              </a:ext>
            </a:extLst>
          </p:cNvPr>
          <p:cNvSpPr txBox="1"/>
          <p:nvPr/>
        </p:nvSpPr>
        <p:spPr>
          <a:xfrm>
            <a:off x="2074605" y="149630"/>
            <a:ext cx="83377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Главная формула: мощность алфавита и вес символа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793E4-AADE-0FCD-05B1-F6A33945A177}"/>
              </a:ext>
            </a:extLst>
          </p:cNvPr>
          <p:cNvSpPr txBox="1"/>
          <p:nvPr/>
        </p:nvSpPr>
        <p:spPr>
          <a:xfrm>
            <a:off x="452283" y="751509"/>
            <a:ext cx="10461524" cy="2636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Если алфавит (набор символов, цветов и т.п.) содержит 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N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элементов, то для кодирования одного элемента нужно 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бит:</a:t>
            </a:r>
            <a:endParaRPr lang="ru-RU" sz="14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spcAft>
                <a:spcPts val="1050"/>
              </a:spcAft>
            </a:pP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N = 2ⁱ</a:t>
            </a:r>
            <a:endParaRPr lang="ru-RU" sz="14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N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мощность алфавита (сколько разных символов, цветов, уровней звука);</a:t>
            </a:r>
            <a:endParaRPr lang="ru-RU" sz="14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информационный вес одного элемента, бит.</a:t>
            </a:r>
            <a:endParaRPr lang="ru-RU" sz="14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Если N не является степенью двойки, берём 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ближайшую большую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степень, то есть округляем i вверх:</a:t>
            </a:r>
            <a:endParaRPr lang="ru-RU" sz="14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spcAft>
                <a:spcPts val="1050"/>
              </a:spcAft>
            </a:pP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⌈</a:t>
            </a:r>
            <a:r>
              <a:rPr lang="ru-RU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log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₂ N⌉</a:t>
            </a:r>
            <a:endParaRPr lang="ru-RU" sz="14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Пример: N = 33 (русский алфавит). 2⁵ = 32 &lt; 33 ≤ 64 = 2⁶, значит i = 6 бит. 5 бит не хватит: с ними можно закодировать только 32 символа.</a:t>
            </a:r>
            <a:endParaRPr lang="ru-RU" sz="14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0512E35-1808-96F4-8186-7009D0ED3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595714"/>
              </p:ext>
            </p:extLst>
          </p:nvPr>
        </p:nvGraphicFramePr>
        <p:xfrm>
          <a:off x="2214717" y="3258220"/>
          <a:ext cx="8699090" cy="34501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349545">
                  <a:extLst>
                    <a:ext uri="{9D8B030D-6E8A-4147-A177-3AD203B41FA5}">
                      <a16:colId xmlns:a16="http://schemas.microsoft.com/office/drawing/2014/main" val="975181353"/>
                    </a:ext>
                  </a:extLst>
                </a:gridCol>
                <a:gridCol w="4349545">
                  <a:extLst>
                    <a:ext uri="{9D8B030D-6E8A-4147-A177-3AD203B41FA5}">
                      <a16:colId xmlns:a16="http://schemas.microsoft.com/office/drawing/2014/main" val="2155288431"/>
                    </a:ext>
                  </a:extLst>
                </a:gridCol>
              </a:tblGrid>
              <a:tr h="3054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i, бит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854198131"/>
                  </a:ext>
                </a:extLst>
              </a:tr>
              <a:tr h="3054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08396511"/>
                  </a:ext>
                </a:extLst>
              </a:tr>
              <a:tr h="3054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025372249"/>
                  </a:ext>
                </a:extLst>
              </a:tr>
              <a:tr h="3054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5–8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237473350"/>
                  </a:ext>
                </a:extLst>
              </a:tr>
              <a:tr h="3054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9–16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168008767"/>
                  </a:ext>
                </a:extLst>
              </a:tr>
              <a:tr h="3054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17–32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057263956"/>
                  </a:ext>
                </a:extLst>
              </a:tr>
              <a:tr h="3054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33–64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287222476"/>
                  </a:ext>
                </a:extLst>
              </a:tr>
              <a:tr h="3054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65–128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446715481"/>
                  </a:ext>
                </a:extLst>
              </a:tr>
              <a:tr h="3054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129–256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43483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110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8D5C9C-7DBA-C87B-2017-155AC1205743}"/>
              </a:ext>
            </a:extLst>
          </p:cNvPr>
          <p:cNvSpPr txBox="1"/>
          <p:nvPr/>
        </p:nvSpPr>
        <p:spPr>
          <a:xfrm>
            <a:off x="806245" y="209293"/>
            <a:ext cx="9596283" cy="540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75"/>
              </a:spcBef>
              <a:spcAft>
                <a:spcPts val="525"/>
              </a:spcAft>
            </a:pP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Общий алгоритм решения задач</a:t>
            </a:r>
            <a:endParaRPr lang="ru-RU" sz="28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Записать «Дано»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и выписать все величины с единицами измерения.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Определить, что найти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, и в каких единицах нужен ответ.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Выбрать формулу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по типу информации (текст, изображение, звук, видео, передача).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Перевести величины в степени двойки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, где возможно (1024 = 2¹⁰, 256 = 2⁸, 64 = 2⁶ и т.д.).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Привести единицы к одной системе.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Обычно всё переводят в биты, а в конце — в нужную единицу.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Вычислить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, сокращая степени.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Проверить ответ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: нужные ли единицы и разумна ли величина. Если нужно, округлить по условию.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Типичные ошибки: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забыли умножить или разделить на 8 при переводе между битами и байтами;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поделили на 1000 вместо 1024;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 звуке не учли количество каналов (стерео = 2);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перевели время неверно (1 мин = 60 с) или частоту (1 кГц = 1000 Гц, а не 1024);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округлили i вниз вместо округления вверх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424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0D0D3D-D17B-FBBF-EBC1-2F6D1EF78492}"/>
              </a:ext>
            </a:extLst>
          </p:cNvPr>
          <p:cNvSpPr txBox="1"/>
          <p:nvPr/>
        </p:nvSpPr>
        <p:spPr>
          <a:xfrm>
            <a:off x="3146322" y="18896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Объём текстовой информации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D2F1F-3B4B-6C02-264C-460D38635B58}"/>
              </a:ext>
            </a:extLst>
          </p:cNvPr>
          <p:cNvSpPr txBox="1"/>
          <p:nvPr/>
        </p:nvSpPr>
        <p:spPr>
          <a:xfrm>
            <a:off x="383457" y="712180"/>
            <a:ext cx="10176388" cy="254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Формула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K · i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информационный объём текста;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K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количество символов в тексте;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информационный вес одного символа (бит).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Если текст состоит из страниц: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K = страниц × строк на странице × символов в строке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Пробелы, знаки препинания, цифры и переносы строки - тоже символы, их нужно учитывать.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205E4-C3ED-95A9-2074-6A9720DBE788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Кодировки текста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FBA470BC-74A5-6D31-F102-E4764512B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531316"/>
              </p:ext>
            </p:extLst>
          </p:nvPr>
        </p:nvGraphicFramePr>
        <p:xfrm>
          <a:off x="612058" y="3723384"/>
          <a:ext cx="11343968" cy="23164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35992">
                  <a:extLst>
                    <a:ext uri="{9D8B030D-6E8A-4147-A177-3AD203B41FA5}">
                      <a16:colId xmlns:a16="http://schemas.microsoft.com/office/drawing/2014/main" val="2653202292"/>
                    </a:ext>
                  </a:extLst>
                </a:gridCol>
                <a:gridCol w="2835992">
                  <a:extLst>
                    <a:ext uri="{9D8B030D-6E8A-4147-A177-3AD203B41FA5}">
                      <a16:colId xmlns:a16="http://schemas.microsoft.com/office/drawing/2014/main" val="3250386605"/>
                    </a:ext>
                  </a:extLst>
                </a:gridCol>
                <a:gridCol w="2240526">
                  <a:extLst>
                    <a:ext uri="{9D8B030D-6E8A-4147-A177-3AD203B41FA5}">
                      <a16:colId xmlns:a16="http://schemas.microsoft.com/office/drawing/2014/main" val="3859128184"/>
                    </a:ext>
                  </a:extLst>
                </a:gridCol>
                <a:gridCol w="3431458">
                  <a:extLst>
                    <a:ext uri="{9D8B030D-6E8A-4147-A177-3AD203B41FA5}">
                      <a16:colId xmlns:a16="http://schemas.microsoft.com/office/drawing/2014/main" val="3448264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Кодировка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Вес символа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символов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Примечание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759302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ASCII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бит (хранится в 8)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только латиница, цифры, знаки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834580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КОИ-8, Windows-1251, CP866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бит = 1 байт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латиница + кириллица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502269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UTF-16 (Unicode)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бит = 2 байта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65 536 (основной набор)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почти все алфавиты мира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737449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UTF-32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бита = 4 байта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более 1 млн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фиксированная длина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017160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UTF-8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 1 до 4 байт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символы Unicode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латиница - 1 байт, кириллица - 2 байта, большинство иероглифов - 3 байта, эмодзи - 4 байта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25969661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12A12A2-AFC8-7456-CFE0-816A09CC2801}"/>
              </a:ext>
            </a:extLst>
          </p:cNvPr>
          <p:cNvSpPr txBox="1"/>
          <p:nvPr/>
        </p:nvSpPr>
        <p:spPr>
          <a:xfrm>
            <a:off x="846802" y="6104108"/>
            <a:ext cx="10695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Если в задаче сказано «в 16-битной кодировке </a:t>
            </a:r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Unicode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» — значит 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16 бит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 </a:t>
            </a:r>
          </a:p>
          <a:p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Если «в 8-битной кодировке КОИ-8» — 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8 бит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271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CFB2E9-2793-A5DD-B690-7C7150ECAD74}"/>
              </a:ext>
            </a:extLst>
          </p:cNvPr>
          <p:cNvSpPr txBox="1"/>
          <p:nvPr/>
        </p:nvSpPr>
        <p:spPr>
          <a:xfrm>
            <a:off x="3048000" y="0"/>
            <a:ext cx="60960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Примеры с решениями</a:t>
            </a:r>
            <a:endParaRPr lang="ru-RU" sz="2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2ADA0-4CBC-4839-5C65-5A92A3D421E5}"/>
              </a:ext>
            </a:extLst>
          </p:cNvPr>
          <p:cNvSpPr txBox="1"/>
          <p:nvPr/>
        </p:nvSpPr>
        <p:spPr>
          <a:xfrm>
            <a:off x="393290" y="891553"/>
            <a:ext cx="11198941" cy="525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1. Объём текста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Текст занимает 4 страницы. На каждой странице 40 строк по 64 символа. Текст записан в 16-битной кодировке 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Unicode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 Найдите объём текста в килобайтах.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Дано: 4 страницы, 40 строк, 64 символа, i = 16 бит. Найти: I в Кбайт.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K = 4 · 40 · 64 = 10 240 символов.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K · i = 10 240 · 16 = 163 840 бит.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163 840 бит : 8 = 20 480 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20 480 байт : 1024 =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20 Кбайт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Через степени двойки: 4 · 40 · 64 · 16 = 2² · 40 · 2⁶ · 2⁴ = 40 · 2¹² бит = 40 · 2⁹ байт = 40 · 2⁻¹ Кбайт = 20 Кбайт.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20 Кбайт.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53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2E92A5-2AD0-BC26-8BEF-DCDD14C9ABDE}"/>
              </a:ext>
            </a:extLst>
          </p:cNvPr>
          <p:cNvSpPr txBox="1"/>
          <p:nvPr/>
        </p:nvSpPr>
        <p:spPr>
          <a:xfrm>
            <a:off x="737418" y="318254"/>
            <a:ext cx="11012129" cy="423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2. Объём сообщения, когда известна мощность алфавита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Алфавит племени содержит 64 символа. Сообщение состоит из 2048 символов. Каков информационный объём сообщения в килобайтах?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N = 64 = 2⁶, значит i = 6 бит.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2048 · 6 = 12 288 бит.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12 288 : 8 = 1536 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1536 : 1024 =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1,5 Кбайт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1,5 Кбайт.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66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00E07E-CB8E-0973-C0F7-2BC986FEB508}"/>
              </a:ext>
            </a:extLst>
          </p:cNvPr>
          <p:cNvSpPr txBox="1"/>
          <p:nvPr/>
        </p:nvSpPr>
        <p:spPr>
          <a:xfrm>
            <a:off x="776748" y="295155"/>
            <a:ext cx="10658168" cy="3733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3. Обратная задача: найти мощность алфавита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Сообщение объёмом 3 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Кбайта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содержит 6144 символа. Какова мощность алфавита, которым записано сообщение?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3 Кбайт = 3 · 1024 · 8 = 24 576 бит.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I : K = 24 576 : 6144 = 4 бита.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N = 2ⁱ = 2⁴ =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16 символов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16 символов.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46F81-AA75-8BD2-F7C4-46EE1636382A}"/>
              </a:ext>
            </a:extLst>
          </p:cNvPr>
          <p:cNvSpPr txBox="1"/>
          <p:nvPr/>
        </p:nvSpPr>
        <p:spPr>
          <a:xfrm>
            <a:off x="698090" y="4144234"/>
            <a:ext cx="10274710" cy="2418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4. Перекодировка текста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Текст в 16-битной кодировке 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Unicode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перекодировали в 8-битную кодировку Windows-1251. После этого объём уменьшился на 320 байт. Сколько символов в тексте?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Вес каждого символа уменьшился на 16 − 8 = 8 бит = 1 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Всего объём уменьшился на 320 байт, значит символов: 320 : 1 =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320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320 символов.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00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D1F437-45E6-27D2-8596-BC3CBE7BF4B0}"/>
              </a:ext>
            </a:extLst>
          </p:cNvPr>
          <p:cNvSpPr txBox="1"/>
          <p:nvPr/>
        </p:nvSpPr>
        <p:spPr>
          <a:xfrm>
            <a:off x="717754" y="134829"/>
            <a:ext cx="11021961" cy="5849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5. Пароли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При регистрации каждому пользователю выдаётся пароль из 15 символов. Используются только 12 символов: А, Б, В, Г, Д, Е, Ж, З, И, К, Л, М. Каждый символ кодируется одинаковым минимально возможным количеством бит. Каждый пароль хранится в минимально возможном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целом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количестве байт. Сколько байт нужно для хранения паролей 50 пользователей?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N = 12. 2³ = 8 &lt; 12 ≤ 16 = 2⁴, значит i = 4 бита.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Один пароль: 15 · 4 = 60 бит.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Переводим в байты: 60 : 8 = 7,5 байта. Нужно целое число байт, поэтому округляем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вверх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: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8 байт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50 паролей: 50 · 8 =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400 байт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Важно.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Округление делается для каждого пароля отдельно. Если сначала умножить 60 бит · 50 = 3000 бит = 375 байт, ответ будет неверным.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400 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23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7D6971-5616-7026-7B28-05C5841D50DF}"/>
              </a:ext>
            </a:extLst>
          </p:cNvPr>
          <p:cNvSpPr txBox="1"/>
          <p:nvPr/>
        </p:nvSpPr>
        <p:spPr>
          <a:xfrm>
            <a:off x="353961" y="529010"/>
            <a:ext cx="10156723" cy="409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6. Кодировка UTF-8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Сколько байт займёт строка «Привет, мир!» в кодировке UTF-8? Кириллические символы занимают 2 байта, латинские буквы, знаки препинания и пробел - 1 байт.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Кириллица: П, р, и, в, е, т, м, и, р — 9 символов · 2 байта = 18 байт.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Остальные: «,», пробел, «!» — 3 символа · 1 байт = 3 байта.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Всего: 18 + 3 = 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21 байт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21 байт.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85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725B2C-A88F-9B33-A9FA-7C48219B3E9D}"/>
              </a:ext>
            </a:extLst>
          </p:cNvPr>
          <p:cNvSpPr txBox="1"/>
          <p:nvPr/>
        </p:nvSpPr>
        <p:spPr>
          <a:xfrm>
            <a:off x="2900516" y="0"/>
            <a:ext cx="60960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Объём графической информации</a:t>
            </a:r>
            <a:endParaRPr lang="ru-RU" sz="28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A935E7-C24D-336D-B63B-EC3EC818DA81}"/>
              </a:ext>
            </a:extLst>
          </p:cNvPr>
          <p:cNvSpPr txBox="1"/>
          <p:nvPr/>
        </p:nvSpPr>
        <p:spPr>
          <a:xfrm>
            <a:off x="452284" y="661207"/>
            <a:ext cx="10992464" cy="252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Основные понятия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Растровое изображение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изображение из точек (пикселей), расположенных в виде сетки.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Пиксель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минимальный элемент изображения, у которого один цвет.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Разрешение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количество пикселей по ширине и высоте (например, 1920 × 1080).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Палитра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набор цветов, которые можно использовать (N цветов).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Глубина цвета (i)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количество бит, которыми кодируется цвет одного пикселя.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N = 2ⁱ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: количество цветов в палитре связано с глубиной цвета той же формулой, что и мощность алфавита.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0F29153-A5DE-91FE-0FA5-1DDAC6749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330388"/>
              </p:ext>
            </p:extLst>
          </p:nvPr>
        </p:nvGraphicFramePr>
        <p:xfrm>
          <a:off x="838200" y="3429000"/>
          <a:ext cx="10515600" cy="26834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95658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342779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8680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Глубина цвета i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цветов N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837481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бит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чёрно-белое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202374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бита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57105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бит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875875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бит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65 536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Color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472935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бита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16 777 216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Color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105958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бита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16 777 216 + прозрачность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Color + альфа-канал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90276423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F504AE9-F19B-73A4-512B-8B87C4285CDB}"/>
              </a:ext>
            </a:extLst>
          </p:cNvPr>
          <p:cNvSpPr txBox="1"/>
          <p:nvPr/>
        </p:nvSpPr>
        <p:spPr>
          <a:xfrm>
            <a:off x="452284" y="6196793"/>
            <a:ext cx="11651226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>
              <a:lnSpc>
                <a:spcPct val="150000"/>
              </a:lnSpc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 True Color цвет каждого пикселя задаётся тремя составляющими RGB (красный, зелёный, синий) по 8 бит: 3 · 8 = 24 бита.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084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9668A5-61AD-9404-5C75-3B36DC6CA246}"/>
              </a:ext>
            </a:extLst>
          </p:cNvPr>
          <p:cNvSpPr txBox="1"/>
          <p:nvPr/>
        </p:nvSpPr>
        <p:spPr>
          <a:xfrm>
            <a:off x="835741" y="430722"/>
            <a:ext cx="8563897" cy="536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Формула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lnSpc>
                <a:spcPct val="150000"/>
              </a:lnSpc>
              <a:spcAft>
                <a:spcPts val="1050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K ·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,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где </a:t>
            </a:r>
            <a:r>
              <a:rPr lang="en-US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K = W · H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→ </a:t>
            </a:r>
            <a:r>
              <a:rPr lang="en-US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W · H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·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объём изображения (без учёта сжатия и служебной информации);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W, H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ширина и высота в пикселях;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K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общее количество пикселей;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глубина цвета, бит.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Если изображение сканируется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(задано в дюймах и 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dpi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):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W = ширина (дюйм) · разрешение (</a:t>
            </a:r>
            <a:r>
              <a:rPr lang="ru-RU" sz="1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dpi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,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H = высота (дюйм) · разрешение (</a:t>
            </a:r>
            <a:r>
              <a:rPr lang="ru-RU" sz="1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dpi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dpi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(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dots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per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inch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) - количество точек на дюйм;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 дюйм = 2,54 см.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Видеопамять: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объём одной страницы видеопамяти = разрешение экрана · глубина цвета.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141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A2EB0-C0DA-1259-1E66-5594F28BE249}"/>
              </a:ext>
            </a:extLst>
          </p:cNvPr>
          <p:cNvSpPr txBox="1"/>
          <p:nvPr/>
        </p:nvSpPr>
        <p:spPr>
          <a:xfrm>
            <a:off x="2920181" y="0"/>
            <a:ext cx="60960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Примеры с решениями</a:t>
            </a:r>
            <a:endParaRPr lang="ru-RU" sz="28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B7EC6-84A3-FCFE-83AD-5CACE51FBA0E}"/>
              </a:ext>
            </a:extLst>
          </p:cNvPr>
          <p:cNvSpPr txBox="1"/>
          <p:nvPr/>
        </p:nvSpPr>
        <p:spPr>
          <a:xfrm>
            <a:off x="757083" y="936510"/>
            <a:ext cx="9940414" cy="4741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7. Объём изображения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Рисунок размером 1024 × 768 пикселей использует палитру из 65 536 цветов. Определите объём в мегабайтах.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N = 65 536 = 2¹⁶, значит i = 16 бит = 2 байта.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K = 1024 · 768 = 786 432 пикселя.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786 432 · 2 = 1 572 864 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1 572 864 : 1024 = 1536 Кбайт; 1536 : 1024 =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1,5 Мбайт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Через степени: 2¹⁰ · 768 · 2¹ байт = 768 · 2¹¹ байт = 768 · 2 Кбайт = 1536 Кбайт = 1,5 Мбайт.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1,5 Мбайт.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43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A9C038-66F9-CC0E-E9BF-2EB0C9CDB3C6}"/>
              </a:ext>
            </a:extLst>
          </p:cNvPr>
          <p:cNvSpPr txBox="1"/>
          <p:nvPr/>
        </p:nvSpPr>
        <p:spPr>
          <a:xfrm>
            <a:off x="334297" y="111777"/>
            <a:ext cx="10972800" cy="3167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8. Обратная задача: найти количество цветов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Растровый рисунок 128 × 256 пикселей занимает 16 Кбайт памяти. Каково максимально возможное количество цветов в палитре?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16 Кбайт = 2⁴ · 2¹⁰ · 2³ = 2¹⁷ бит.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K = 128 · 256 = 2⁷ · 2⁸ = 2¹⁵ пикселей.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I : K = 2¹⁷ : 2¹⁵ = 2² = 4 бита.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N = 2⁴ =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16 цветов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16 цветов.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49989-001F-90C7-AC90-FECF7A55A447}"/>
              </a:ext>
            </a:extLst>
          </p:cNvPr>
          <p:cNvSpPr txBox="1"/>
          <p:nvPr/>
        </p:nvSpPr>
        <p:spPr>
          <a:xfrm>
            <a:off x="334297" y="3279311"/>
            <a:ext cx="11749548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9. Изменение палитры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Изображение с палитрой 4096 цветов преобразовали так, что в палитре осталось 16 цветов. Во сколько раз уменьшился объём файла?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До: N₁ = 4096 = 2¹², i₁ = 12 бит.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После: N₂ = 16 = 2⁴, i₂ = 4 бита.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Количество пикселей не изменилось, поэтому объём уменьшился во столько раз, во сколько уменьшилась глубина цвета: 12 : 4 =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 3 раза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Объём уменьшается в 3 раза, а не в 4096 : 16 = 256 раз. Объём зависит от количества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бит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на пиксель, а не от количества цветов.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в 3 раза.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72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059718-260F-552F-B967-E1E9E89EEF0C}"/>
              </a:ext>
            </a:extLst>
          </p:cNvPr>
          <p:cNvSpPr txBox="1"/>
          <p:nvPr/>
        </p:nvSpPr>
        <p:spPr>
          <a:xfrm>
            <a:off x="540774" y="828768"/>
            <a:ext cx="11336594" cy="464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10. Сканирование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Изображение размером 2 × 4 дюйма отсканировали с разрешением 512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dpi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и глубиной цвета 8 бит. Какой объём будет у файла?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W = 2 · 512 = 1024 пикселя, H = 4 · 512 = 2048 пикселей.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K = 1024 · 2048 = 2¹⁰ · 2¹¹ = 2²¹ пикселей.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8 бит = 1 байт.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2²¹ · 1 = 2²¹ байт = 2¹ Мбайт = 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2 Мбайт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2 Мбайт.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81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9E4DA4-0E16-2D6F-B192-3F9F100AA9C0}"/>
              </a:ext>
            </a:extLst>
          </p:cNvPr>
          <p:cNvSpPr txBox="1"/>
          <p:nvPr/>
        </p:nvSpPr>
        <p:spPr>
          <a:xfrm>
            <a:off x="3185651" y="11030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Объём звуковой информации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B069F-CEFB-5395-6D14-5BF2964FDEF5}"/>
              </a:ext>
            </a:extLst>
          </p:cNvPr>
          <p:cNvSpPr txBox="1"/>
          <p:nvPr/>
        </p:nvSpPr>
        <p:spPr>
          <a:xfrm>
            <a:off x="314632" y="751751"/>
            <a:ext cx="11316930" cy="2962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Основные понятия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Звук - непрерывная волна. Чтобы сохранить её в компьютере, выполняют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дискретизацию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: через равные промежутки времени измеряют уровень сигнала и записывают его двоичным числом.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Частота дискретизации (f)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количество измерений за 1 секунду. Измеряется в герцах: 1 Гц = 1 измерение в секунду, 1 кГц = 1000 Гц.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Глубина кодирования (разрешение) (i)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количество бит на одно измерение. При глубине i можно различить N = 2ⁱ уровней громкости.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Количество каналов (k)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: моно - 1, стерео - 2, 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квадро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- 4.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Время звучания (t)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в секундах.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FD4C88C-B723-D044-3505-EAAB28038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804874"/>
              </p:ext>
            </p:extLst>
          </p:nvPr>
        </p:nvGraphicFramePr>
        <p:xfrm>
          <a:off x="838200" y="3972461"/>
          <a:ext cx="10515600" cy="25412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13942852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06125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000959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74118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Частота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Глубина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Каналы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523138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Телефонная связь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кГц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бит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моно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848593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Радио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22,05 кГц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бит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моно/стерео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209133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 CD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44,1 кГц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бит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стерео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389724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DVD, видео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кГц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16–24 бита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стерео и более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418596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Студийная запись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96–192 кГц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бита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стерео и более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500454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660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EB397F-158E-082F-BC1F-63836CACF6F2}"/>
              </a:ext>
            </a:extLst>
          </p:cNvPr>
          <p:cNvSpPr txBox="1"/>
          <p:nvPr/>
        </p:nvSpPr>
        <p:spPr>
          <a:xfrm>
            <a:off x="550606" y="415729"/>
            <a:ext cx="11090788" cy="505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Формула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f · i · k · t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f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частота дискретизации, Гц;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глубина кодирования, бит;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k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количество каналов;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t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время, с.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Результат получается в 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битах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Внимание: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1 кГц = 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1000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Гц, а не 1024. Приставка «кило» здесь означает тысячу, потому что это не единица информации. Поэтому в звуковых задачах ответ часто не делится нацело и его округляют до целого или выбирают ближайший вариант.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53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65B82D-A80E-7C4F-85C0-4A25EB8E632B}"/>
              </a:ext>
            </a:extLst>
          </p:cNvPr>
          <p:cNvSpPr txBox="1"/>
          <p:nvPr/>
        </p:nvSpPr>
        <p:spPr>
          <a:xfrm>
            <a:off x="3048000" y="0"/>
            <a:ext cx="60960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Примеры с решениями</a:t>
            </a:r>
            <a:endParaRPr lang="ru-RU" sz="28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93471-0848-25E3-E1E0-DD50B7309769}"/>
              </a:ext>
            </a:extLst>
          </p:cNvPr>
          <p:cNvSpPr txBox="1"/>
          <p:nvPr/>
        </p:nvSpPr>
        <p:spPr>
          <a:xfrm>
            <a:off x="560438" y="766712"/>
            <a:ext cx="11080956" cy="4741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11. Объём звукового файла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Производится 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стереозвукозапись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с частотой дискретизации 48 кГц и глубиной кодирования 16 бит. Запись длится 1 минуту. Сжатие не применяется. Определите объём файла в мегабайтах. Ответ округлите до целого.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Дано: f = 48 000 Гц, i = 16 бит, k = 2, t = 60 с.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48 000 · 16 · 2 · 60 = 92 160 000 бит.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92 160 000 : 8 = 11 520 000 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11 520 000 : 1024 = 11 250 Кбайт.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11 250 : 1024 ≈ 10,99 Мбайт ≈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11 Мбайт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≈ 11 Мбайт.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30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036B99-6B1E-5411-4259-304509D4A363}"/>
              </a:ext>
            </a:extLst>
          </p:cNvPr>
          <p:cNvSpPr txBox="1"/>
          <p:nvPr/>
        </p:nvSpPr>
        <p:spPr>
          <a:xfrm>
            <a:off x="737419" y="138730"/>
            <a:ext cx="10353368" cy="505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12. Ответ с выбором ближайшего значения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Производится четырёхканальная (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квадро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) звукозапись с частотой дискретизации 32 кГц и 32-битным разрешением. Запись длится 2 минуты, сжатие не производится. Какое из чисел ближе всего к размеру файла: 1) 30 Мбайт; 2) 60 Мбайт; 3) 90 Мбайт; 4) 120 Мбайт?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32 000 · 32 · 4 · 120 = 491 520 000 бит.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491 520 000 : 8 = 61 440 000 байт.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61 440 000 : 2²⁰ ≈ 58,6 Мбайт.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Ближайшее значение — 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60 Мбайт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2) 60 Мбайт.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01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1023C-5587-4E13-C44E-CEF9EAD73B70}"/>
              </a:ext>
            </a:extLst>
          </p:cNvPr>
          <p:cNvSpPr txBox="1"/>
          <p:nvPr/>
        </p:nvSpPr>
        <p:spPr>
          <a:xfrm>
            <a:off x="865238" y="325603"/>
            <a:ext cx="10638504" cy="5621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13. Задача на сравнение 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Музыкальный фрагмент записали в формате моно и оцифровали. Получился файл размером 30 Мбайт. Затем тот же фрагмент записали повторно в формате стерео и оцифровали с частотой дискретизации в 2 раза выше и разрешением в 1,5 раза меньше, чем в первый раз. Сжатие не производилось. Каков размер второго файла?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Объём пропорционален произведению f · i · k (время не изменилось):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Каналы: моно → стерео — объём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× 2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Частота выше в 2 раза — объём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× 2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Разрешение меньше в 1,5 раза — объём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: 1,5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I₂ = 30 · 2 · 2 : 1,5 =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80 Мбайт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lnSpc>
                <a:spcPct val="150000"/>
              </a:lnSpc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 задачах на сравнение не нужно знать сами значения f, i, k: достаточно знать, во сколько раз они изменились.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80 Мбайт.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62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130759-8D5E-05A8-F9A9-8E1177EBDAFB}"/>
              </a:ext>
            </a:extLst>
          </p:cNvPr>
          <p:cNvSpPr txBox="1"/>
          <p:nvPr/>
        </p:nvSpPr>
        <p:spPr>
          <a:xfrm>
            <a:off x="3215149" y="0"/>
            <a:ext cx="60960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Объём видеоинформации</a:t>
            </a:r>
            <a:endParaRPr lang="ru-RU" sz="28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63926-CB76-2F75-E9E7-60F1BD9F50E4}"/>
              </a:ext>
            </a:extLst>
          </p:cNvPr>
          <p:cNvSpPr txBox="1"/>
          <p:nvPr/>
        </p:nvSpPr>
        <p:spPr>
          <a:xfrm>
            <a:off x="521109" y="870607"/>
            <a:ext cx="10019071" cy="5116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Основные понятия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Видео - это последовательность кадров (изображений), которые сменяются с определённой частотой, и звуковая дорожка.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Частота кадров (v)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- количество кадров в секунду (кадр/с, 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fps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): 24, 25, 30, 60.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Каждый кадр - растровое изображение W × H с глубиной цвета i.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W · H ·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Формулы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Видеоряд без сжатия: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видео = W · H · i · v · t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Звуковая дорожка: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звук = f · i звука · k · t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Общий объём: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I = I видео + I звук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>
              <a:spcAft>
                <a:spcPts val="1050"/>
              </a:spcAf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На практике видео всегда сжимают (кодеки H.264, H.265 и др.): объём уменьшается в десятки и сотни раз. В задачах сжатие учитывается, только если об этом сказано в условии.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951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2FC5EF-E3C9-086C-504D-4E1D300A57B2}"/>
              </a:ext>
            </a:extLst>
          </p:cNvPr>
          <p:cNvSpPr txBox="1"/>
          <p:nvPr/>
        </p:nvSpPr>
        <p:spPr>
          <a:xfrm>
            <a:off x="3048000" y="20862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с решением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B248A-6879-0262-746D-E649012FCD66}"/>
              </a:ext>
            </a:extLst>
          </p:cNvPr>
          <p:cNvSpPr txBox="1"/>
          <p:nvPr/>
        </p:nvSpPr>
        <p:spPr>
          <a:xfrm>
            <a:off x="811161" y="938321"/>
            <a:ext cx="10569678" cy="4600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Пример 14. Объём видеофайла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Условие.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Видеоролик длительностью 10 с снят с разрешением 640 × 480 пикселей, глубиной цвета 24 бита и частотой 25 кадров/с. Звуковая дорожка: стерео, 44,1 кГц, 16 бит. Сжатие не применяется. Определите объём файла в мегабайтах (округлите до десятых).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Решение.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Один кадр: 640 · 480 · 24 бит = 640 · 480 · 3 байта = 921 600 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Видеоряд: 921 600 · 25 · 10 = 230 400 000 байт ≈ 219,7 Мбайт.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Звук: 44 100 · 16 · 2 · 10 = 14 112 000 бит = 1 764 000 байт ≈ 1,7 Мбайт.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Всего: 230 400 000 + 1 764 000 = 232 164 000 байт ≈ 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221,4 Мбайт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Ответ: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≈ 221,4 Мбайт.</a:t>
            </a:r>
            <a:endParaRPr lang="ru-RU" sz="16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24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4E526B-0AE4-5677-6E15-5A9980CDE08E}"/>
              </a:ext>
            </a:extLst>
          </p:cNvPr>
          <p:cNvSpPr txBox="1"/>
          <p:nvPr/>
        </p:nvSpPr>
        <p:spPr>
          <a:xfrm>
            <a:off x="3283974" y="102663"/>
            <a:ext cx="60960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Сводная таблица формул</a:t>
            </a:r>
            <a:endParaRPr lang="ru-RU" sz="28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397BD67-1739-300D-D355-067B5CCE8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084464"/>
              </p:ext>
            </p:extLst>
          </p:nvPr>
        </p:nvGraphicFramePr>
        <p:xfrm>
          <a:off x="661219" y="1186180"/>
          <a:ext cx="11275143" cy="4119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758381">
                  <a:extLst>
                    <a:ext uri="{9D8B030D-6E8A-4147-A177-3AD203B41FA5}">
                      <a16:colId xmlns:a16="http://schemas.microsoft.com/office/drawing/2014/main" val="2138352421"/>
                    </a:ext>
                  </a:extLst>
                </a:gridCol>
                <a:gridCol w="3564194">
                  <a:extLst>
                    <a:ext uri="{9D8B030D-6E8A-4147-A177-3AD203B41FA5}">
                      <a16:colId xmlns:a16="http://schemas.microsoft.com/office/drawing/2014/main" val="1876674804"/>
                    </a:ext>
                  </a:extLst>
                </a:gridCol>
                <a:gridCol w="3952568">
                  <a:extLst>
                    <a:ext uri="{9D8B030D-6E8A-4147-A177-3AD203B41FA5}">
                      <a16:colId xmlns:a16="http://schemas.microsoft.com/office/drawing/2014/main" val="154637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информации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Формула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Обозначения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72796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Мощность алфавита / палитры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= 2ⁱ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- количество символов (цветов), i - бит на символ (пиксель)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58385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= K · i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- количество символов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281002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Изображение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= W · H · i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 × H - разрешение, i - глубина цвета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171529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Сканирование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 = ширина ·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dpi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 = высота ·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dpi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размеры в дюймах, 1 дюйм = 2,54 см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125445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Звук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= f · i · k · t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- частота, Гц; i - глубина, бит; k - каналы; t - время, 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354090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Видео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= W · H · i · v · t + I </a:t>
                      </a: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звук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 - кадров в секунду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382119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Передача данных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= v · t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 - скорость, бит/с; t - время, 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10041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529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3BB82D-38A0-C3B4-F3F1-3ED272EA1E54}"/>
              </a:ext>
            </a:extLst>
          </p:cNvPr>
          <p:cNvSpPr txBox="1"/>
          <p:nvPr/>
        </p:nvSpPr>
        <p:spPr>
          <a:xfrm>
            <a:off x="3264310" y="1791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Задачи для самостоятельного решения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D9AD8-DE8A-22C8-9F6D-52A5588DBC53}"/>
              </a:ext>
            </a:extLst>
          </p:cNvPr>
          <p:cNvSpPr txBox="1"/>
          <p:nvPr/>
        </p:nvSpPr>
        <p:spPr>
          <a:xfrm>
            <a:off x="417870" y="837438"/>
            <a:ext cx="11356259" cy="4825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Текстовая информация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1.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Реферат содержит 16 страниц, на каждой 32 строки по 64 символа. Текст записан в 16-битной кодировке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Unicode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 Определите объём реферата в килобайтах.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2.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Алфавит содержит 32 символа. Какой объём информации (в битах) несёт сообщение из 140 символов?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3.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Сообщение объёмом 1/512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Мбайта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содержит 2048 символов. Какова мощность алфавита?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4.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Текст в 16-битной кодировке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Unicode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перекодировали в 8-битную кодировку КОИ-8. Объём уменьшился на 480 бит. Сколько символов в тексте?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5.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Пароль состоит из 11 символов. Используются 26 заглавных латинских букв и 10 цифр. Каждый символ кодируется одинаковым минимально возможным количеством бит, каждый пароль — минимально возможным целым количеством байт. Сколько байт нужно для хранения 60 паролей?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347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C9165C-D6C0-A04C-9D69-F1CFFA49775C}"/>
              </a:ext>
            </a:extLst>
          </p:cNvPr>
          <p:cNvSpPr txBox="1"/>
          <p:nvPr/>
        </p:nvSpPr>
        <p:spPr>
          <a:xfrm>
            <a:off x="609600" y="566658"/>
            <a:ext cx="10618838" cy="4825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Графическая информация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1.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Определите объём (в килобайтах) изображения 640 × 480 пикселей с палитрой 256 цветов.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2.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Растровое изображение 512 × 512 пикселей занимает 96 Кбайт. Какое максимальное количество цветов может быть в палитре?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3.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Рисунок 256 × 128 пикселей должен занимать не больше 20 Кбайт. Какое максимальное количество цветов можно использовать?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4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Изображение с глубиной цвета 24 бита занимало 1,5 Мбайт. Его преобразовали в палитру из 256 цветов. Каким стал объём файла (в Кбайт)?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5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Фотографию 3 × 4 дюйма отсканировали с разрешением 600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dpi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и глубиной цвета 24 бита. Определите объём файла в мегабайтах (округлите до сотых).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708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810ACE-5CD7-32A1-9631-8E284964D34A}"/>
              </a:ext>
            </a:extLst>
          </p:cNvPr>
          <p:cNvSpPr txBox="1"/>
          <p:nvPr/>
        </p:nvSpPr>
        <p:spPr>
          <a:xfrm>
            <a:off x="540774" y="154915"/>
            <a:ext cx="10461522" cy="288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Звуковая информация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1.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Сколько килобайт займёт двухминутная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монозапись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с частотой 8 кГц и глубиной 8 бит?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2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Определите объём (в Мбайт, округлить до десятых) трёхминутной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стереозаписи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с частотой 44,1 кГц и глубиной 16 бит.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3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Звуковой файл объёмом 5 Мбайт записан в формате стерео с частотой 32 кГц и глубиной 16 бит. Какова длительность записи (округлите до целых секунд)?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A1E5C-ED25-7AE7-CB59-2FA6A9BACD7B}"/>
              </a:ext>
            </a:extLst>
          </p:cNvPr>
          <p:cNvSpPr txBox="1"/>
          <p:nvPr/>
        </p:nvSpPr>
        <p:spPr>
          <a:xfrm>
            <a:off x="609601" y="3156731"/>
            <a:ext cx="11080954" cy="2325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Видео и передача данных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1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Видео длительностью 1 минута снято в разрешении 1280 × 720, глубина цвета - 24 бита, частота - 30 кадров/с. Звук и сжатие не учитываются. Определите объём в гигабайтах (округлите до сотых).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50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Задача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2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.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urce serif 4"/>
                <a:cs typeface="Times New Roman" panose="02020603050405020304" pitchFamily="18" charset="0"/>
              </a:rPr>
              <a:t> По каналу со скоростью 128 000 бит/с файл передавался 2 минуты. Определите размер файла в килобайтах.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8079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8050</Words>
  <Application>Microsoft Office PowerPoint</Application>
  <PresentationFormat>Широкоэкранный</PresentationFormat>
  <Paragraphs>957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25</vt:i4>
      </vt:variant>
    </vt:vector>
  </HeadingPairs>
  <TitlesOfParts>
    <vt:vector size="34" baseType="lpstr">
      <vt:lpstr>Aptos</vt:lpstr>
      <vt:lpstr>Arial</vt:lpstr>
      <vt:lpstr>Calibri</vt:lpstr>
      <vt:lpstr>Calibri Light</vt:lpstr>
      <vt:lpstr>KyivType Sans Heavy</vt:lpstr>
      <vt:lpstr>Symbol</vt:lpstr>
      <vt:lpstr>Times New Roman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Преподаватель</dc:creator>
  <cp:lastModifiedBy>Наиля Мавлюдова</cp:lastModifiedBy>
  <cp:revision>8</cp:revision>
  <dcterms:created xsi:type="dcterms:W3CDTF">2026-10-05T13:19:35Z</dcterms:created>
  <dcterms:modified xsi:type="dcterms:W3CDTF">2026-10-06T06:42:25Z</dcterms:modified>
</cp:coreProperties>
</file>