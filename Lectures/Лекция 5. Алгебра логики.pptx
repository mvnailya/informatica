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9F1E4C-68F6-4BE1-9E0E-B323F9F0E788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496" autoAdjust="0"/>
  </p:normalViewPr>
  <p:slideViewPr>
    <p:cSldViewPr snapToGrid="0">
      <p:cViewPr varScale="1">
        <p:scale>
          <a:sx n="58" d="100"/>
          <a:sy n="58" d="100"/>
        </p:scale>
        <p:origin x="161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3B7EA6-E9C5-4E2C-92EC-1A39FADF6946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48CD3-9DB0-4264-B14D-02032036C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798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 мы будем разбирать задачи на определение информационного объёма разных видов данных.</a:t>
            </a:r>
          </a:p>
          <a:p>
            <a:r>
              <a:rPr lang="ru-RU" dirty="0"/>
              <a:t>До этого мы уже говорили о том, что любая информация в компьютере в конечном итоге представляется в двоичном виде. Но в задачах недостаточно просто знать, что существуют биты и байты. Нужно понимать, </a:t>
            </a:r>
            <a:r>
              <a:rPr lang="ru-RU" b="1" dirty="0"/>
              <a:t>от чего зависит объём конкретного вида информации</a:t>
            </a:r>
            <a:r>
              <a:rPr lang="ru-RU" dirty="0"/>
              <a:t>.</a:t>
            </a:r>
          </a:p>
          <a:p>
            <a:r>
              <a:rPr lang="ru-RU" dirty="0"/>
              <a:t>Для текста это количество символов и вес одного символа. Для изображения — количество пикселей и глубина цвета. Для звука — частота дискретизации, глубина кодирования, количество каналов и длительность. Для видео добавляется ещё количество кадров в секунду.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EB6EA5-BBE7-43BF-8BFD-25EDB7B7767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53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Алгебра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изучает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операции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над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значениями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истинности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классической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двузначной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логике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допускаются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будем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обозначать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числами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 и 0.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цифры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показывают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утверждения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количество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предметов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Рассмотрим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утверждения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A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пароль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верный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B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учётная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запись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активна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доступа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записать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И B.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система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разрешает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вход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хотя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доступ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разрешается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словесное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превращается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формулу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однозначным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логике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важно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точно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определить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смысл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163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Высказывание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предложение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о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котором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определённо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сказать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«2 + 2 = 5»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является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высказыванием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хотя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Откройте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тетради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»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побуждение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а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Который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час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?»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вопрос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они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являются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высказываниями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Элементарные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высказывания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рассматриваем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исходные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утверждения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Составные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получаем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соединяя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логическими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связками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утверждение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о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Джордже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Буле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B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равенство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2 + 2 = 5.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примера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принимаем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= 1, B = 0.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Составное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высказывание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И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компонентов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ложен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921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переменная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обозначает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высказывание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принимает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разных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источниках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используются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Л, true и false, 1 и 0.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таблицах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сегодняшнего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занятия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будем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придерживаться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записи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 и 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чтобы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легко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сравнивать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составного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выражения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зависит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операции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между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ними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= 1 и B = 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И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а A ИЛИ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Исходные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данные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одинаковые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обработки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разное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Слова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» и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»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удобно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ответы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чётко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сформулированные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вопросы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Перед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переводом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ответа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в 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понимать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какое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именно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утверждение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проверяется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5239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Переменная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менять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константа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всегда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выбранному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Операнд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к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чему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применяется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¬A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операнд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унарно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В A ∧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операнда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бинарна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Операндом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быть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целое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скобках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строится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констант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операций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скобок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Булева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функция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сопоставляет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каждому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набору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аргументов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Таблица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истинности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описывает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всех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возможных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наборов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независимых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n,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наборами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будет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2ⁿ: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2,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двух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4,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трёх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8.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Заголовок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таблицы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количество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входит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Повторные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появления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буквы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создают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новых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331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меняет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—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идёт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дождь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»,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¬A —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дождя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».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таблице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всего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возможных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входа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= 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= 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Двойное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исходное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= 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первое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даёт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второе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0.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= 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получаем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снова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¬(¬A) = A.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Закон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противоречия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говорит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A ∧ ¬A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всегда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паре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и ¬A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неизбежно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ноль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Закон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исключённого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третьего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A ∨ ¬A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всегда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паре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обязательно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единица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законы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относятся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рассматриваемой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классической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двузначной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логике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983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тогда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когда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операнда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четырёх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строках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таблицы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единица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появляется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лишь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= 1 и B =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удобно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запомнить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требование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выполнить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одновременно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должно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делиться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2,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3.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6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проходит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проверки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4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делится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2,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3,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 и 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совпадает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обычным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умножением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Разберём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свойства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A ∧ 0 = 0: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невыполнимое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обязательное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обнуляет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A ∧ 1 = A: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заведомо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выполненное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ничего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меняет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A ∧ A = A: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повторная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проверка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меняет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ответа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Перестановка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операндов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изменение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группировки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тоже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меняют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982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Обычное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ИЛИ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хотя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допускает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выполнены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строка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даёт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Единственный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ноль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возникает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строке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00.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Фраза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куплю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хлеб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молоко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»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неразделительном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ИЛИ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выполняется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покупке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обоих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продуктов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специально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запрещает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выбрать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варианта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понадобится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другая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строгая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дизъюнкция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A ∨ 0 = A: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добавленное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помогает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получить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A ∨ 1 = 1: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операнда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достаточно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A ∨ A = A: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повтор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меняет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Порядок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группировка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ИЛИ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также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влияют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Название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сложение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»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означает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обычную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арифметику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1 ∨ 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2.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755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Импликация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→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читается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B». A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посылка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B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заключение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случае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когда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посылка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заключение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1 → 0 = 0.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представить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выполнено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должно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выполняться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B».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Нарушение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обнаруживается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выполненном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невыполненном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B.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дождя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идёт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дождь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асфальт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мокрый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»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нарушается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сухим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мокрым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асфальтом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00 и 01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оцениваем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формулу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устанавливаем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причинную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связь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Формулировку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о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посылке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поясняем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именно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материальной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импликации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доказывает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реальность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любого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вывода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Проверим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замену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→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¬A ∨ B: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наборах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00, 01, 10, 11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получаются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1, 1, 0, 1.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Контрапозиция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сохраняет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смысл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A →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равносильно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¬B → ¬A.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Просто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поменять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местами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и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нельзя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прямая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импликация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обратная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919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Строгая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дизъюнкция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XOR,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когда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двух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операндов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различаются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01 и 10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00 и 11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отличие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обычного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ИЛИ,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операнда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напитком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разрешён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ровно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выбор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чай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либо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кофе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Отказаться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обоих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выбрать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значит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выполнить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Формулу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записать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уже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знакомые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операции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(A ∧ ¬B) ∨ (¬A ∧ B).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Первая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скобка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отвечает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случай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вторая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01.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A ⊕ A = 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совпадают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A ⊕ 0 = A: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ноль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сохраняет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A ⊕ 1 = ¬A: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единица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переключает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Название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сложение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модулю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2»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связано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 + 1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даёт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остаток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делении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2.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двоичная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ровно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»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относится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двум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операндам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22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Эквиваленция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проверяет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совпадение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операнда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равны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равны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равен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различаются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её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таблица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противоположна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таблице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XOR: A ↔ B = ¬(A ⊕ B).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Фраза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тогда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тогда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»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означает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импликации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одновременно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A → B и B → A.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целых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чисел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чётность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равносильна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делимости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2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без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остатка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импликации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тоже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эквиваленция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даёт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037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собраны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разные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обозначения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тех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операций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встретить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∧, &amp;,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точку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слово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AND. ИЛИ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обозначают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∨,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иногда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знаком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плюс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словом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OR.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математической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записи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символа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определяет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контекст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практики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единый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набор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¬, ∧, ∨, →, ⊕, ↔.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уменьшит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путаницу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Обозначения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языках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программирования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могут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иметь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свои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особенности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математическую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таблицу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обозначений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нельзя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автоматически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переносить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код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3338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формальная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запись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составного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нём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могут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быть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константы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операций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(A ∨ B) ∧ ¬C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читается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выполнено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B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выполнено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C.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Перед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вычислением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определим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область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действия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каждой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операции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формуле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относится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к C.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объединяют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∨ B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операнд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внешнего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Последней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выполняется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именно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Порядок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действий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важен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В A ∨ B ∧ C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выполняется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B ∧ C.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поставить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(A ∨ B) ∧ C,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получим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другую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формулу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= 1, B = 0, C = 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первая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даёт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вторая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0.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такой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набор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уже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показывает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формулы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равносильны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57206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лекции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принимаем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порядок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НЕ, И,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после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ИЛИ и XOR,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далее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импликация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эквиваленция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скобок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также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учитываем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приоритет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смешение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операций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уровня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вызвать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сомнение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явно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расставляем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в ¬A ∨ B ∧ C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получаем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¬A и B ∧ C,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соединяем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операцией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ИЛИ.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Независимые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промежуточные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столбцы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вычислить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любом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порядке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важно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ещё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вычисленный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Цепочку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импликаций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без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скобок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лучше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давать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разные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соглашения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о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группировке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создают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неоднозначность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практических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заданиях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нужная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группировка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указана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Связь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множествами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такова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соответствует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пересечению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ИЛИ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объединению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НЕ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дополнению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относительно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выбранного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универсального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множества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помогает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представить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какие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объекты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удовлетворяют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4047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Разберём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таблицу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шагам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Независимых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2² = 4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00, 01, 10, 11.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выписываем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наборы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создаём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столбцы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¬A, B ∧ A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итог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F = ¬A ∨ (B ∧ A).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получаем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снова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 и 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итог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тоже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итог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итог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Получился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столбец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1, 1, 0, 1.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Он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совпадает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таблицей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→ B.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Проверили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все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наборы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можем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заключить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формулы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равносильны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угадывать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ответ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примеру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таблица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даёт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полное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обоснование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повторном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появлении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строке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исходное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остаётся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4280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Предикат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переменными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которого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зависит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P(x) = (x &lt; 0).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После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подстановки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x = −3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получаем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высказывание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после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x = 2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указать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область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допустимых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целые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действительные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числа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другой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набор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объектов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Множество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истинности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все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допустимые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которых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x &lt; 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действительной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прямой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все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отрицательные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числа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вопросе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участвуют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координаты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удобно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записать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P(x, y) = (x ≤ 0) ∨ (y ≥ 0).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объединение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левой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замкнутой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полуплоскости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верхней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замкнутой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полуплоскости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подходят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точки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с x &gt; 0 и y &lt; 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внутренняя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четвёртой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четверти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координатные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оси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входят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множество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Закрашенную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схему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читаем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изображение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области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которая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продолжается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неограниченно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Вопрос</a:t>
            </a:r>
            <a:r>
              <a:rPr lang="en-US" sz="1800" b="1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студентам</a:t>
            </a:r>
            <a:r>
              <a:rPr lang="en-US" sz="1800" b="1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Принадлежит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точка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(2; −1)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множеству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истинности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?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точка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(−2; −1)?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Ожидаемый</a:t>
            </a:r>
            <a:r>
              <a:rPr lang="en-US" sz="1800" b="1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Первая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принадлежит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Вторая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принадлежит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x ≤ 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9459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найти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целые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z,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которых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одновременно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выполняются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z &gt; 5 и z − 2 &lt; 15.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решаем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второе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неравенство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прибавляем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2 к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обеим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частям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получаем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z &lt; 17.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Значит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вместе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5 &lt; z &lt; 17.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Поскольку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z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целое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множество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истинности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состоит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чисел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6, 7, 8, 9, 10, 11, 12, 13, 14, 15, 16.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Границы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5 и 17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входят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: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исходных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условиях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стоят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строгие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неравенства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элементов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равно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16 − 6 + 1 = 11.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соответствует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пересечению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множеств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решений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двух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условий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областью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были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действительные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числа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ответом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был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открытый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интервал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(5; 17),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содержащий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бесконечно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много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чисел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область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определения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существенно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влияет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ответ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8612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Перед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практикой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сравним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все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операции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тех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наборах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даёт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1,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ИЛИ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дают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импликация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1, XOR — 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эквиваленция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11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ИЛИ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XOR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эквиваленция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быстрого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самоконтроля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запомним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четыре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ориентира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истинно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11. ИЛИ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00.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Импликация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ложна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10. XOR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проверяет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различие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эквиваленция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совпадение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работает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одним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значением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меняет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противоположное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1581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Теперь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построим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таблицы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самостоятельно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каждой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задаче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выпишите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разные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найдите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строк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перечислите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наборы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без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пропусков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повторов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двух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меняется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B —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каждой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строке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трёх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меняется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четыре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B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две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C —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каждой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строке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Добавляйте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отдельный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столбец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каждого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нужного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промежуточного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пытайтесь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вычислять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длинную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формулу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целиком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уме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Последний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столбец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обозначьте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F.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окончании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назовите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наборы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где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F = 1,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проверьте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хотя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бы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одну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строку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непосредственной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подстановкой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формулу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промежуточная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повторяется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её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готовый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столбец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задают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группировку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независимые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ветви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выражения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разрешается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вычислять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любом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удобном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порядке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Важно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чтобы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итоговая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операция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использовала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правильные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операнды</a:t>
            </a:r>
            <a:r>
              <a:rPr lang="en-US" sz="1800" dirty="0">
                <a:solidFill>
                  <a:srgbClr val="000000"/>
                </a:solidFill>
                <a:effectLst/>
                <a:latin typeface="DejaVu Serif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DejaVu Serif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48CD3-9DB0-4264-B14D-02032036C78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3890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2202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151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9527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186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6032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8283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855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621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2574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926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0020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708538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 bwMode="auto">
          <a:xfrm>
            <a:off x="3847108" y="2254026"/>
            <a:ext cx="753406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Алгебра логики. Таблицы истинности. Логические операции</a:t>
            </a:r>
          </a:p>
        </p:txBody>
      </p:sp>
      <p:sp>
        <p:nvSpPr>
          <p:cNvPr id="92" name="Google Shape;92;p13"/>
          <p:cNvSpPr txBox="1"/>
          <p:nvPr/>
        </p:nvSpPr>
        <p:spPr bwMode="auto">
          <a:xfrm>
            <a:off x="3722075" y="5189207"/>
            <a:ext cx="78852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Преподаватель: Евдошенко Неля </a:t>
            </a: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Ильнуровна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3" name="Google Shape;93;p13"/>
          <p:cNvSpPr txBox="1"/>
          <p:nvPr/>
        </p:nvSpPr>
        <p:spPr bwMode="auto">
          <a:xfrm>
            <a:off x="3722075" y="3290820"/>
            <a:ext cx="8146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Дисциплина: Информатика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43D479-5895-359A-DC57-D37385B182EC}"/>
              </a:ext>
            </a:extLst>
          </p:cNvPr>
          <p:cNvSpPr txBox="1"/>
          <p:nvPr/>
        </p:nvSpPr>
        <p:spPr>
          <a:xfrm>
            <a:off x="481781" y="425559"/>
            <a:ext cx="11513574" cy="98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Алгебра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раздел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математической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изучающий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операции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логическими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значениями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преобразования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информатике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условий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проверки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рассуждений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проектирования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цифровых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устройств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9F574-6B7C-9EE0-62AC-502592ABD89A}"/>
              </a:ext>
            </a:extLst>
          </p:cNvPr>
          <p:cNvSpPr txBox="1"/>
          <p:nvPr/>
        </p:nvSpPr>
        <p:spPr>
          <a:xfrm>
            <a:off x="481781" y="1536814"/>
            <a:ext cx="4709651" cy="220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арифметике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работаем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числами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истинностью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утверждений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система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решает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разрешить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вход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исходя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введён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верный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пароль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заблокирован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Алгебра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позволяет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точно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решение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635594A-39FD-95BF-46C6-BF388965B378}"/>
              </a:ext>
            </a:extLst>
          </p:cNvPr>
          <p:cNvSpPr/>
          <p:nvPr/>
        </p:nvSpPr>
        <p:spPr>
          <a:xfrm>
            <a:off x="7123452" y="1276895"/>
            <a:ext cx="3454314" cy="4304209"/>
          </a:xfrm>
          <a:prstGeom prst="roundRect">
            <a:avLst>
              <a:gd name="adj" fmla="val 7941"/>
            </a:avLst>
          </a:prstGeom>
          <a:solidFill>
            <a:srgbClr val="FFFFFF"/>
          </a:solidFill>
          <a:ln/>
          <a:effectLst>
            <a:outerShdw blurRad="127" dist="36830" dir="5400000" algn="bl" rotWithShape="0">
              <a:srgbClr val="1F3340">
                <a:alpha val="10000"/>
              </a:srgbClr>
            </a:outerShdw>
          </a:effectLst>
        </p:spPr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C5919FAF-3164-CA1E-62B6-01799564A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644" y="1892944"/>
            <a:ext cx="2793930" cy="2794000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33A7382A-4728-4497-361C-3BB6D22DCA29}"/>
              </a:ext>
            </a:extLst>
          </p:cNvPr>
          <p:cNvSpPr/>
          <p:nvPr/>
        </p:nvSpPr>
        <p:spPr>
          <a:xfrm>
            <a:off x="7189232" y="4759771"/>
            <a:ext cx="332265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Двоичный выбор истинности: 1 или 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7BEEBF-E2EB-6478-2137-C281F6F60955}"/>
              </a:ext>
            </a:extLst>
          </p:cNvPr>
          <p:cNvSpPr txBox="1"/>
          <p:nvPr/>
        </p:nvSpPr>
        <p:spPr>
          <a:xfrm>
            <a:off x="481781" y="398529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Рассмотрим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утверждения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endParaRPr lang="ru-RU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пароль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верный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учётная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активна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доступа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записать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И B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условия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истинны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система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разрешает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вход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хотя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ложно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доступ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разрешается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462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8A5F23-400B-C3CB-A5CD-A8C801B9FCFB}"/>
              </a:ext>
            </a:extLst>
          </p:cNvPr>
          <p:cNvSpPr txBox="1"/>
          <p:nvPr/>
        </p:nvSpPr>
        <p:spPr>
          <a:xfrm>
            <a:off x="3341384" y="3607539"/>
            <a:ext cx="352353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FCAE759-60B5-1B66-DA2B-FE424799B1D8}"/>
              </a:ext>
            </a:extLst>
          </p:cNvPr>
          <p:cNvSpPr txBox="1">
            <a:spLocks/>
          </p:cNvSpPr>
          <p:nvPr/>
        </p:nvSpPr>
        <p:spPr>
          <a:xfrm>
            <a:off x="671945" y="412330"/>
            <a:ext cx="10858993" cy="553986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/>
            <a:r>
              <a:rPr lang="ru-RU" sz="2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Высказывания и переменные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1C2469D7-24EB-9BB5-80E5-AFD2C4968850}"/>
              </a:ext>
            </a:extLst>
          </p:cNvPr>
          <p:cNvSpPr txBox="1">
            <a:spLocks/>
          </p:cNvSpPr>
          <p:nvPr/>
        </p:nvSpPr>
        <p:spPr>
          <a:xfrm>
            <a:off x="671945" y="1397855"/>
            <a:ext cx="10858994" cy="187064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just"/>
            <a:r>
              <a:rPr lang="ru-RU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Высказывание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это предложение, в отношении которого можно сказать, истинно оно или ложно.</a:t>
            </a:r>
          </a:p>
          <a:p>
            <a:pPr algn="just"/>
            <a:r>
              <a:rPr lang="ru-RU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Высказывания, образованные из других высказываний, называются </a:t>
            </a:r>
            <a:r>
              <a:rPr lang="ru-RU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составными</a:t>
            </a:r>
            <a:r>
              <a:rPr lang="ru-RU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ru-RU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Простое (элементарное) высказывание не разбивается на другие высказывания, соединённые логическими операциями.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1D977-839B-5D4E-2FE7-343EBC25FE3D}"/>
              </a:ext>
            </a:extLst>
          </p:cNvPr>
          <p:cNvSpPr txBox="1"/>
          <p:nvPr/>
        </p:nvSpPr>
        <p:spPr>
          <a:xfrm>
            <a:off x="671945" y="2984228"/>
            <a:ext cx="108698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270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истинности или ложности элементарных высказываний не является задачей алгебры логики.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AB3281D-A622-C54C-C3B0-A4B81FF97B5E}"/>
              </a:ext>
            </a:extLst>
          </p:cNvPr>
          <p:cNvSpPr/>
          <p:nvPr/>
        </p:nvSpPr>
        <p:spPr>
          <a:xfrm>
            <a:off x="671945" y="4429058"/>
            <a:ext cx="2662177" cy="10038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2700" algn="just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 = «Джордж Буль – основоположник алгебры логики»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5926083-C310-F3CF-7F32-D0FE57BBAAC5}"/>
              </a:ext>
            </a:extLst>
          </p:cNvPr>
          <p:cNvSpPr/>
          <p:nvPr/>
        </p:nvSpPr>
        <p:spPr>
          <a:xfrm>
            <a:off x="5021913" y="4429058"/>
            <a:ext cx="2662177" cy="10038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2700"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«2 + 2 = 5»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61F5760-6C4B-43AA-0A40-2A5B7AB49853}"/>
              </a:ext>
            </a:extLst>
          </p:cNvPr>
          <p:cNvSpPr/>
          <p:nvPr/>
        </p:nvSpPr>
        <p:spPr>
          <a:xfrm>
            <a:off x="8857878" y="4456304"/>
            <a:ext cx="2662177" cy="1003841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2700" algn="ctr"/>
            <a: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ru-RU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9F0D5CB9-2C11-E4E2-651E-45CCCC4836B1}"/>
              </a:ext>
            </a:extLst>
          </p:cNvPr>
          <p:cNvCxnSpPr/>
          <p:nvPr/>
        </p:nvCxnSpPr>
        <p:spPr>
          <a:xfrm flipV="1">
            <a:off x="7923746" y="5139126"/>
            <a:ext cx="1496291" cy="10945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32503D3-A2D7-B449-430C-A93640F15F47}"/>
              </a:ext>
            </a:extLst>
          </p:cNvPr>
          <p:cNvCxnSpPr>
            <a:cxnSpLocks/>
          </p:cNvCxnSpPr>
          <p:nvPr/>
        </p:nvCxnSpPr>
        <p:spPr>
          <a:xfrm flipV="1">
            <a:off x="7923746" y="5139126"/>
            <a:ext cx="2619563" cy="10945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1F5AD42-0002-985A-D6DD-F3C1A7B5E39C}"/>
              </a:ext>
            </a:extLst>
          </p:cNvPr>
          <p:cNvSpPr txBox="1"/>
          <p:nvPr/>
        </p:nvSpPr>
        <p:spPr>
          <a:xfrm>
            <a:off x="6379174" y="6018844"/>
            <a:ext cx="154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логические переменные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036CA0-5C30-5D4F-5C6B-3EF4A8342F4F}"/>
              </a:ext>
            </a:extLst>
          </p:cNvPr>
          <p:cNvSpPr txBox="1"/>
          <p:nvPr/>
        </p:nvSpPr>
        <p:spPr>
          <a:xfrm>
            <a:off x="10259396" y="6016108"/>
            <a:ext cx="154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связка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1CF28D6B-5FCD-507E-D1D4-4794F9B8E259}"/>
              </a:ext>
            </a:extLst>
          </p:cNvPr>
          <p:cNvCxnSpPr>
            <a:cxnSpLocks/>
          </p:cNvCxnSpPr>
          <p:nvPr/>
        </p:nvCxnSpPr>
        <p:spPr>
          <a:xfrm flipH="1" flipV="1">
            <a:off x="10259396" y="5299636"/>
            <a:ext cx="702140" cy="7164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E1717947-352C-B168-87AC-68FEB231D2C1}"/>
              </a:ext>
            </a:extLst>
          </p:cNvPr>
          <p:cNvSpPr/>
          <p:nvPr/>
        </p:nvSpPr>
        <p:spPr>
          <a:xfrm>
            <a:off x="9875001" y="4699561"/>
            <a:ext cx="576151" cy="60007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16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  <p:bldP spid="8" grpId="0" animBg="1"/>
      <p:bldP spid="11" grpId="0"/>
      <p:bldP spid="12" grpId="0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F1888-4FE6-052B-FFF0-FFC018C26B3E}"/>
              </a:ext>
            </a:extLst>
          </p:cNvPr>
          <p:cNvSpPr txBox="1">
            <a:spLocks/>
          </p:cNvSpPr>
          <p:nvPr/>
        </p:nvSpPr>
        <p:spPr>
          <a:xfrm>
            <a:off x="671945" y="305268"/>
            <a:ext cx="10858993" cy="610226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/>
            <a:r>
              <a:rPr lang="ru-RU" sz="2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Высказывания и переменные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BA39B2-D670-DCEA-8522-2CB05019AA02}"/>
              </a:ext>
            </a:extLst>
          </p:cNvPr>
          <p:cNvSpPr txBox="1">
            <a:spLocks/>
          </p:cNvSpPr>
          <p:nvPr/>
        </p:nvSpPr>
        <p:spPr>
          <a:xfrm>
            <a:off x="671945" y="1270035"/>
            <a:ext cx="10858994" cy="246756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just"/>
            <a:r>
              <a:rPr lang="ru-RU" sz="24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переменная</a:t>
            </a:r>
            <a:r>
              <a:rPr lang="ru-RU" sz="24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переменная, которая обозначает любое высказывание и может принимать логические значения «истина» или «ложь».</a:t>
            </a:r>
          </a:p>
          <a:p>
            <a:pPr algn="just"/>
            <a:r>
              <a:rPr lang="ru-RU" sz="24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Истинность или ложность составных высказываний зависит от истинности или ложности образующих их высказываний и определённой трактовки связок (логических операций над высказываниями).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8B0CDF8-AEA5-50C2-2BA8-06800FD46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86644"/>
              </p:ext>
            </p:extLst>
          </p:nvPr>
        </p:nvGraphicFramePr>
        <p:xfrm>
          <a:off x="4187788" y="4077594"/>
          <a:ext cx="3816424" cy="21700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8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005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</a:rPr>
                        <a:t>Истина</a:t>
                      </a:r>
                      <a:endParaRPr lang="ru-RU" sz="2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>
                          <a:solidFill>
                            <a:schemeClr val="tx1"/>
                          </a:solidFill>
                        </a:rPr>
                        <a:t>Ложь</a:t>
                      </a:r>
                      <a:endParaRPr lang="ru-RU" sz="2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005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И</a:t>
                      </a:r>
                      <a:endParaRPr lang="ru-RU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Л</a:t>
                      </a:r>
                      <a:endParaRPr lang="ru-RU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00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ru-RU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ru-RU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005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да</a:t>
                      </a:r>
                      <a:endParaRPr lang="ru-RU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ru-RU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005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569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BCFD37-C5A5-E2EC-AA6B-C366E987067E}"/>
              </a:ext>
            </a:extLst>
          </p:cNvPr>
          <p:cNvSpPr txBox="1"/>
          <p:nvPr/>
        </p:nvSpPr>
        <p:spPr>
          <a:xfrm>
            <a:off x="137653" y="121709"/>
            <a:ext cx="4739026" cy="3988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Логическая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переменная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принимает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множества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{0, 1}.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Логическая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константа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фиксированное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0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1.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Логическая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операция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задаёт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получения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результата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одного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нескольких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логических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значений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Операнд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к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которому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применяется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операция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Операция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одним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операндом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называется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унарной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с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двумя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бинарной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Отрицание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унарно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И, ИЛИ и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импликация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бинарны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Логическую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функцию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логических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аргументов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также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называют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булевой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функцией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название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связано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именем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математика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Джорджа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Буля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Логическое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формула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строится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переменных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констант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операций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скобок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1577A02B-B6A0-450D-73A1-4245981B9E07}"/>
              </a:ext>
            </a:extLst>
          </p:cNvPr>
          <p:cNvSpPr txBox="1">
            <a:spLocks/>
          </p:cNvSpPr>
          <p:nvPr/>
        </p:nvSpPr>
        <p:spPr>
          <a:xfrm>
            <a:off x="137653" y="4232202"/>
            <a:ext cx="4463844" cy="250408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just"/>
            <a:r>
              <a:rPr lang="ru-RU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операция полностью может быть описана </a:t>
            </a:r>
            <a:r>
              <a:rPr lang="ru-RU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таблицей истинности</a:t>
            </a:r>
            <a:r>
              <a:rPr lang="ru-RU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указывающей, какие значения принимает составное высказывание при всех возможных значениях образующих его элементарных высказываний.</a:t>
            </a: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6485F106-B84A-3AFB-14CB-F143D1D79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678" y="0"/>
            <a:ext cx="73150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53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7DF0898E-C1CA-E9D6-4121-3015ABD1FBBB}"/>
              </a:ext>
            </a:extLst>
          </p:cNvPr>
          <p:cNvSpPr/>
          <p:nvPr/>
        </p:nvSpPr>
        <p:spPr>
          <a:xfrm>
            <a:off x="4048668" y="276224"/>
            <a:ext cx="550660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Отрицание (инверсия, НЕ)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56EBBDF7-0E95-5AC9-B092-92D6876BB955}"/>
              </a:ext>
            </a:extLst>
          </p:cNvPr>
          <p:cNvSpPr/>
          <p:nvPr/>
        </p:nvSpPr>
        <p:spPr>
          <a:xfrm>
            <a:off x="596731" y="802183"/>
            <a:ext cx="10631708" cy="1279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Унарная операция: меняет истинностное значение высказывания на противоположное. Значение ¬A истинно, когда A ложно, и ложно, когда A истинно.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55E0ACB-9324-9EAE-A3B8-E1B900E735CC}"/>
              </a:ext>
            </a:extLst>
          </p:cNvPr>
          <p:cNvSpPr/>
          <p:nvPr/>
        </p:nvSpPr>
        <p:spPr>
          <a:xfrm>
            <a:off x="482588" y="1654869"/>
            <a:ext cx="2677053" cy="1182291"/>
          </a:xfrm>
          <a:prstGeom prst="roundRect">
            <a:avLst>
              <a:gd name="adj" fmla="val 16435"/>
            </a:avLst>
          </a:prstGeom>
          <a:solidFill>
            <a:srgbClr val="FFFFFF"/>
          </a:solidFill>
          <a:ln w="25399">
            <a:solidFill>
              <a:srgbClr val="D6E3E8"/>
            </a:solidFill>
            <a:prstDash val="solid"/>
          </a:ln>
        </p:spPr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D461343-3DC8-247B-DF3D-CD4FE341285B}"/>
              </a:ext>
            </a:extLst>
          </p:cNvPr>
          <p:cNvSpPr/>
          <p:nvPr/>
        </p:nvSpPr>
        <p:spPr>
          <a:xfrm>
            <a:off x="660384" y="1807269"/>
            <a:ext cx="249925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Обозначения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C7A4E55-38E3-DC16-B032-15AB07917635}"/>
              </a:ext>
            </a:extLst>
          </p:cNvPr>
          <p:cNvSpPr/>
          <p:nvPr/>
        </p:nvSpPr>
        <p:spPr>
          <a:xfrm>
            <a:off x="660384" y="2132309"/>
            <a:ext cx="249925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¬A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не 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Ā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not 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!A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34DBD57-2D87-5D48-B62C-0F990D5727C7}"/>
              </a:ext>
            </a:extLst>
          </p:cNvPr>
          <p:cNvSpPr/>
          <p:nvPr/>
        </p:nvSpPr>
        <p:spPr>
          <a:xfrm>
            <a:off x="3769127" y="1654869"/>
            <a:ext cx="2677053" cy="1182291"/>
          </a:xfrm>
          <a:prstGeom prst="roundRect">
            <a:avLst>
              <a:gd name="adj" fmla="val 16435"/>
            </a:avLst>
          </a:prstGeom>
          <a:solidFill>
            <a:srgbClr val="FFFFFF"/>
          </a:solidFill>
          <a:ln w="25399">
            <a:solidFill>
              <a:srgbClr val="D6E3E8"/>
            </a:solidFill>
            <a:prstDash val="solid"/>
          </a:ln>
        </p:spPr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B8FC1256-936C-5B26-8061-F123847953C6}"/>
              </a:ext>
            </a:extLst>
          </p:cNvPr>
          <p:cNvSpPr/>
          <p:nvPr/>
        </p:nvSpPr>
        <p:spPr>
          <a:xfrm>
            <a:off x="3946922" y="1807269"/>
            <a:ext cx="249925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Пример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06217911-DDA3-9FDD-B313-C461DDC061D6}"/>
              </a:ext>
            </a:extLst>
          </p:cNvPr>
          <p:cNvSpPr/>
          <p:nvPr/>
        </p:nvSpPr>
        <p:spPr>
          <a:xfrm>
            <a:off x="3946922" y="2132309"/>
            <a:ext cx="232146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A = «Идёт дождь»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¬A = «Дождя нет»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8DF87769-3B45-016D-4644-66583C9E1EDC}"/>
              </a:ext>
            </a:extLst>
          </p:cNvPr>
          <p:cNvSpPr/>
          <p:nvPr/>
        </p:nvSpPr>
        <p:spPr>
          <a:xfrm>
            <a:off x="482588" y="3122611"/>
            <a:ext cx="586219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Фундаментальные законы инверсии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161246BE-DB49-DAB5-9006-45DEC127C67D}"/>
              </a:ext>
            </a:extLst>
          </p:cNvPr>
          <p:cNvSpPr/>
          <p:nvPr/>
        </p:nvSpPr>
        <p:spPr>
          <a:xfrm>
            <a:off x="482588" y="3639417"/>
            <a:ext cx="5963592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•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Закон двойного отрицания: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¬(¬A) = 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•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Закон противоречия: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A ∧ ¬A = 0 (утверждение и его отрицание не могут быть истинны одновременно)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•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Закон исключенного третьего: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A ∨ ¬A =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95445BFD-3CB7-FCFC-4FF4-68071446BED7}"/>
              </a:ext>
            </a:extLst>
          </p:cNvPr>
          <p:cNvSpPr/>
          <p:nvPr/>
        </p:nvSpPr>
        <p:spPr>
          <a:xfrm>
            <a:off x="7589251" y="1780977"/>
            <a:ext cx="353567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Таблица истинности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0F8746BE-E856-5332-E769-3E34C2039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031845"/>
              </p:ext>
            </p:extLst>
          </p:nvPr>
        </p:nvGraphicFramePr>
        <p:xfrm>
          <a:off x="7589251" y="2241352"/>
          <a:ext cx="3535670" cy="1802660"/>
        </p:xfrm>
        <a:graphic>
          <a:graphicData uri="http://schemas.openxmlformats.org/drawingml/2006/table">
            <a:tbl>
              <a:tblPr/>
              <a:tblGrid>
                <a:gridCol w="176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¬A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E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4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 15">
            <a:extLst>
              <a:ext uri="{FF2B5EF4-FFF2-40B4-BE49-F238E27FC236}">
                <a16:creationId xmlns:a16="http://schemas.microsoft.com/office/drawing/2014/main" id="{A36C05B7-92D8-1692-78A4-9619FF294D62}"/>
              </a:ext>
            </a:extLst>
          </p:cNvPr>
          <p:cNvSpPr/>
          <p:nvPr/>
        </p:nvSpPr>
        <p:spPr>
          <a:xfrm>
            <a:off x="7589251" y="4221857"/>
            <a:ext cx="3983317" cy="59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Таблица инверсии состоит всего из 2 </a:t>
            </a:r>
            <a:r>
              <a:rPr lang="en-US" sz="1600" kern="100" spc="6" dirty="0" err="1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строк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644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65F44760-989E-A7C7-3E59-D60CD3BA4342}"/>
              </a:ext>
            </a:extLst>
          </p:cNvPr>
          <p:cNvSpPr/>
          <p:nvPr/>
        </p:nvSpPr>
        <p:spPr>
          <a:xfrm>
            <a:off x="4647353" y="240302"/>
            <a:ext cx="533386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Конъюнкция (логическое И)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D40D9ED1-355E-8C8B-CDE1-2732B03E9A27}"/>
              </a:ext>
            </a:extLst>
          </p:cNvPr>
          <p:cNvSpPr/>
          <p:nvPr/>
        </p:nvSpPr>
        <p:spPr>
          <a:xfrm>
            <a:off x="616127" y="752178"/>
            <a:ext cx="1087778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Логическое умножение двух высказываний. Высказывание A ∧ B истинно тогда и только тогда, когда оба операнда истинны одновременно (A = 1 и B = 1).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639D369A-164B-07E3-23D1-91EA586EB978}"/>
              </a:ext>
            </a:extLst>
          </p:cNvPr>
          <p:cNvSpPr/>
          <p:nvPr/>
        </p:nvSpPr>
        <p:spPr>
          <a:xfrm>
            <a:off x="616126" y="1637654"/>
            <a:ext cx="2590735" cy="1734741"/>
          </a:xfrm>
          <a:prstGeom prst="roundRect">
            <a:avLst>
              <a:gd name="adj" fmla="val 11201"/>
            </a:avLst>
          </a:prstGeom>
          <a:solidFill>
            <a:srgbClr val="FFFFFF"/>
          </a:solidFill>
          <a:ln w="25399">
            <a:solidFill>
              <a:srgbClr val="D6E3E8"/>
            </a:solidFill>
            <a:prstDash val="solid"/>
          </a:ln>
        </p:spPr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723AF921-86A3-5771-4FE5-55C0F5170ECD}"/>
              </a:ext>
            </a:extLst>
          </p:cNvPr>
          <p:cNvSpPr/>
          <p:nvPr/>
        </p:nvSpPr>
        <p:spPr>
          <a:xfrm>
            <a:off x="793922" y="1790054"/>
            <a:ext cx="241294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Обозначения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DAC124D-553D-3AEF-5F01-C86383415C5E}"/>
              </a:ext>
            </a:extLst>
          </p:cNvPr>
          <p:cNvSpPr/>
          <p:nvPr/>
        </p:nvSpPr>
        <p:spPr>
          <a:xfrm>
            <a:off x="793922" y="2115094"/>
            <a:ext cx="223514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∧ 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&amp; 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· 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AND 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7FC9080F-7E5D-3B41-8CA6-EE2FEBF1D7C7}"/>
              </a:ext>
            </a:extLst>
          </p:cNvPr>
          <p:cNvSpPr/>
          <p:nvPr/>
        </p:nvSpPr>
        <p:spPr>
          <a:xfrm>
            <a:off x="3606063" y="1637654"/>
            <a:ext cx="2845376" cy="1734741"/>
          </a:xfrm>
          <a:prstGeom prst="roundRect">
            <a:avLst>
              <a:gd name="adj" fmla="val 11201"/>
            </a:avLst>
          </a:prstGeom>
          <a:solidFill>
            <a:srgbClr val="FFFFFF"/>
          </a:solidFill>
          <a:ln w="25399">
            <a:solidFill>
              <a:srgbClr val="D6E3E8"/>
            </a:solidFill>
            <a:prstDash val="solid"/>
          </a:ln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18527BB3-376F-B24C-E71A-0D9B14A27853}"/>
              </a:ext>
            </a:extLst>
          </p:cNvPr>
          <p:cNvSpPr/>
          <p:nvPr/>
        </p:nvSpPr>
        <p:spPr>
          <a:xfrm>
            <a:off x="3783859" y="1790054"/>
            <a:ext cx="265010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Пример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18EE7408-7A7B-E26E-C4F5-B5B85B6FCA18}"/>
              </a:ext>
            </a:extLst>
          </p:cNvPr>
          <p:cNvSpPr/>
          <p:nvPr/>
        </p:nvSpPr>
        <p:spPr>
          <a:xfrm>
            <a:off x="3783859" y="2115094"/>
            <a:ext cx="245483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«Число делится на 2 и на 3»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Истинно для 6; ложно для 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9B6BAD9F-41F5-AD75-4A33-F0F8E7B94FD7}"/>
              </a:ext>
            </a:extLst>
          </p:cNvPr>
          <p:cNvSpPr/>
          <p:nvPr/>
        </p:nvSpPr>
        <p:spPr>
          <a:xfrm>
            <a:off x="616126" y="3790405"/>
            <a:ext cx="568945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Ключевые алгебраические свойства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3958E302-5DEA-E99E-F041-C22F59CF37FB}"/>
              </a:ext>
            </a:extLst>
          </p:cNvPr>
          <p:cNvSpPr/>
          <p:nvPr/>
        </p:nvSpPr>
        <p:spPr>
          <a:xfrm>
            <a:off x="616126" y="4115446"/>
            <a:ext cx="5333867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•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С нулём и единицей: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A ∧ 0 = 0; A ∧ 1 = 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•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Идемпотентность: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A ∧ A = 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•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Коммутативность: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A ∧ B = B ∧ 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•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Ассоциативность: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(A ∧ B) ∧ C = A ∧ (B ∧ C)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749DD160-EBCB-8725-5B94-5A40E9BB8B7E}"/>
              </a:ext>
            </a:extLst>
          </p:cNvPr>
          <p:cNvSpPr/>
          <p:nvPr/>
        </p:nvSpPr>
        <p:spPr>
          <a:xfrm>
            <a:off x="7391215" y="1345109"/>
            <a:ext cx="375910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Таблица истинности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B2CF7169-B250-34AF-B3F3-135A34724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010995"/>
              </p:ext>
            </p:extLst>
          </p:nvPr>
        </p:nvGraphicFramePr>
        <p:xfrm>
          <a:off x="7391215" y="1834059"/>
          <a:ext cx="3759106" cy="3012900"/>
        </p:xfrm>
        <a:graphic>
          <a:graphicData uri="http://schemas.openxmlformats.org/drawingml/2006/table">
            <a:tbl>
              <a:tblPr/>
              <a:tblGrid>
                <a:gridCol w="1127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A ∧ B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E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5">
            <a:extLst>
              <a:ext uri="{FF2B5EF4-FFF2-40B4-BE49-F238E27FC236}">
                <a16:creationId xmlns:a16="http://schemas.microsoft.com/office/drawing/2014/main" id="{2457F03B-C973-341C-35D7-DAC4F04BFAB2}"/>
              </a:ext>
            </a:extLst>
          </p:cNvPr>
          <p:cNvSpPr/>
          <p:nvPr/>
        </p:nvSpPr>
        <p:spPr>
          <a:xfrm>
            <a:off x="7391215" y="4999434"/>
            <a:ext cx="4289508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spcAft>
                <a:spcPts val="950"/>
              </a:spcAft>
              <a:buNone/>
            </a:pPr>
            <a:r>
              <a:rPr lang="en-US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Единственная 1 появляется в строке A = 1, B =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3000"/>
              </a:lnSpc>
              <a:buNone/>
            </a:pPr>
            <a:r>
              <a:rPr lang="en-US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Аналог в арифметике: обычное умножение 0·0=0, 0·1=0, 1·0=0, 1·1=1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04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3E21018D-FD8C-6B30-5C55-25AB0901EA12}"/>
              </a:ext>
            </a:extLst>
          </p:cNvPr>
          <p:cNvSpPr/>
          <p:nvPr/>
        </p:nvSpPr>
        <p:spPr>
          <a:xfrm>
            <a:off x="3530512" y="307875"/>
            <a:ext cx="533386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Дизъюнкция (логическое ИЛИ)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A81D965-452C-E710-4CF4-CD929FE88102}"/>
              </a:ext>
            </a:extLst>
          </p:cNvPr>
          <p:cNvSpPr/>
          <p:nvPr/>
        </p:nvSpPr>
        <p:spPr>
          <a:xfrm>
            <a:off x="537468" y="867966"/>
            <a:ext cx="1107496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Логическое сложение: A ∨ B = 0 только при A = 0 и B = 0; во всех остальных случаях дизъюнкция истинна.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53F752F8-DACF-DA3B-34E0-A8D8B92D8536}"/>
              </a:ext>
            </a:extLst>
          </p:cNvPr>
          <p:cNvSpPr/>
          <p:nvPr/>
        </p:nvSpPr>
        <p:spPr>
          <a:xfrm>
            <a:off x="537468" y="1592957"/>
            <a:ext cx="2590735" cy="1458516"/>
          </a:xfrm>
          <a:prstGeom prst="roundRect">
            <a:avLst>
              <a:gd name="adj" fmla="val 13322"/>
            </a:avLst>
          </a:prstGeom>
          <a:solidFill>
            <a:srgbClr val="FFFFFF"/>
          </a:solidFill>
          <a:ln w="25399">
            <a:solidFill>
              <a:srgbClr val="D6E3E8"/>
            </a:solidFill>
            <a:prstDash val="solid"/>
          </a:ln>
        </p:spPr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3F3C3EA6-EDF4-DD04-7F94-417D407FD159}"/>
              </a:ext>
            </a:extLst>
          </p:cNvPr>
          <p:cNvSpPr/>
          <p:nvPr/>
        </p:nvSpPr>
        <p:spPr>
          <a:xfrm>
            <a:off x="715264" y="1745357"/>
            <a:ext cx="241294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Обозначения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AB73B556-8025-ED38-1D3B-05F033713CD4}"/>
              </a:ext>
            </a:extLst>
          </p:cNvPr>
          <p:cNvSpPr/>
          <p:nvPr/>
        </p:nvSpPr>
        <p:spPr>
          <a:xfrm>
            <a:off x="715264" y="2070397"/>
            <a:ext cx="223514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∨ 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| 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+ 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, «или» (неразделительное)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4F086AE1-FB80-8B12-26E1-35A1D42E3B8E}"/>
              </a:ext>
            </a:extLst>
          </p:cNvPr>
          <p:cNvSpPr/>
          <p:nvPr/>
        </p:nvSpPr>
        <p:spPr>
          <a:xfrm>
            <a:off x="3492856" y="1592957"/>
            <a:ext cx="2590735" cy="1458516"/>
          </a:xfrm>
          <a:prstGeom prst="roundRect">
            <a:avLst>
              <a:gd name="adj" fmla="val 13322"/>
            </a:avLst>
          </a:prstGeom>
          <a:solidFill>
            <a:srgbClr val="FFFFFF"/>
          </a:solidFill>
          <a:ln w="25399">
            <a:solidFill>
              <a:srgbClr val="D6E3E8"/>
            </a:solidFill>
            <a:prstDash val="solid"/>
          </a:ln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037C41A8-348D-84BA-E920-45DA973C10CC}"/>
              </a:ext>
            </a:extLst>
          </p:cNvPr>
          <p:cNvSpPr/>
          <p:nvPr/>
        </p:nvSpPr>
        <p:spPr>
          <a:xfrm>
            <a:off x="3670652" y="1745357"/>
            <a:ext cx="241294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Пример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0B0883D6-19F8-4450-A598-7BE4D1C0F295}"/>
              </a:ext>
            </a:extLst>
          </p:cNvPr>
          <p:cNvSpPr/>
          <p:nvPr/>
        </p:nvSpPr>
        <p:spPr>
          <a:xfrm>
            <a:off x="3670652" y="2070397"/>
            <a:ext cx="223514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«Куплю хлеб или молоко»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верно и при покупке обоих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62444963-7ECA-DCE1-D9BD-30EF6F9EA65F}"/>
              </a:ext>
            </a:extLst>
          </p:cNvPr>
          <p:cNvSpPr/>
          <p:nvPr/>
        </p:nvSpPr>
        <p:spPr>
          <a:xfrm>
            <a:off x="537468" y="3329979"/>
            <a:ext cx="568945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Ключевые алгебраические свойства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27D60124-6EE1-F278-5E87-410830B3DD40}"/>
              </a:ext>
            </a:extLst>
          </p:cNvPr>
          <p:cNvSpPr/>
          <p:nvPr/>
        </p:nvSpPr>
        <p:spPr>
          <a:xfrm>
            <a:off x="537468" y="3655020"/>
            <a:ext cx="533386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С нулём и единицей: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A ∨ 0 = A; A ∨ 1 =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Идемпотентность: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A ∨ A = 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Коммутативность и ассоциативность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9672D872-7E50-6869-A6AA-95F3534E3F43}"/>
              </a:ext>
            </a:extLst>
          </p:cNvPr>
          <p:cNvSpPr/>
          <p:nvPr/>
        </p:nvSpPr>
        <p:spPr>
          <a:xfrm>
            <a:off x="7853331" y="1572892"/>
            <a:ext cx="375910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Таблица истинности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65127118-ADCC-F8FD-AF8C-CA824DCFC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045885"/>
              </p:ext>
            </p:extLst>
          </p:nvPr>
        </p:nvGraphicFramePr>
        <p:xfrm>
          <a:off x="7853331" y="2070397"/>
          <a:ext cx="3759106" cy="3012900"/>
        </p:xfrm>
        <a:graphic>
          <a:graphicData uri="http://schemas.openxmlformats.org/drawingml/2006/table">
            <a:tbl>
              <a:tblPr/>
              <a:tblGrid>
                <a:gridCol w="1127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A ∨ B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E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5">
            <a:extLst>
              <a:ext uri="{FF2B5EF4-FFF2-40B4-BE49-F238E27FC236}">
                <a16:creationId xmlns:a16="http://schemas.microsoft.com/office/drawing/2014/main" id="{46476326-ECFD-2163-8FF4-0746E50F3705}"/>
              </a:ext>
            </a:extLst>
          </p:cNvPr>
          <p:cNvSpPr/>
          <p:nvPr/>
        </p:nvSpPr>
        <p:spPr>
          <a:xfrm>
            <a:off x="7623594" y="5285108"/>
            <a:ext cx="4218579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Единственный 0 появляется в строке A = 0, B = 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00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C5546110-3606-958A-E802-7716B30C9C79}"/>
              </a:ext>
            </a:extLst>
          </p:cNvPr>
          <p:cNvSpPr/>
          <p:nvPr/>
        </p:nvSpPr>
        <p:spPr>
          <a:xfrm>
            <a:off x="4724281" y="292199"/>
            <a:ext cx="533386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dirty="0"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Импликация (A → B)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B6E6FF2E-F312-8B9B-EC5C-A851431524C0}"/>
              </a:ext>
            </a:extLst>
          </p:cNvPr>
          <p:cNvSpPr/>
          <p:nvPr/>
        </p:nvSpPr>
        <p:spPr>
          <a:xfrm>
            <a:off x="457189" y="807740"/>
            <a:ext cx="1096789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Логическое следование: где A </a:t>
            </a:r>
            <a:r>
              <a:rPr lang="ru-RU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посылка (условие), B </a:t>
            </a:r>
            <a:r>
              <a:rPr lang="ru-RU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заключение (следствие). </a:t>
            </a:r>
            <a:r>
              <a:rPr lang="en-US" b="1" dirty="0"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Импликация ложна лишь в одном случае: истинная посылка влечет ложный вывод (1 → 0 = 0).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7C1AD4FA-FE04-8765-1F4E-35834947ABD6}"/>
              </a:ext>
            </a:extLst>
          </p:cNvPr>
          <p:cNvSpPr/>
          <p:nvPr/>
        </p:nvSpPr>
        <p:spPr>
          <a:xfrm>
            <a:off x="557134" y="1668562"/>
            <a:ext cx="2590735" cy="1458516"/>
          </a:xfrm>
          <a:prstGeom prst="roundRect">
            <a:avLst>
              <a:gd name="adj" fmla="val 13322"/>
            </a:avLst>
          </a:prstGeom>
          <a:solidFill>
            <a:srgbClr val="FFFFFF"/>
          </a:solidFill>
          <a:ln w="25399">
            <a:solidFill>
              <a:srgbClr val="D6E3E8"/>
            </a:solidFill>
            <a:prstDash val="solid"/>
          </a:ln>
        </p:spPr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1F78944-FE7C-E6FD-07C4-E720E38BF3EF}"/>
              </a:ext>
            </a:extLst>
          </p:cNvPr>
          <p:cNvSpPr/>
          <p:nvPr/>
        </p:nvSpPr>
        <p:spPr>
          <a:xfrm>
            <a:off x="734930" y="1820962"/>
            <a:ext cx="241294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Базовое тождество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78905D4-393C-32D7-F793-91B75747FAD4}"/>
              </a:ext>
            </a:extLst>
          </p:cNvPr>
          <p:cNvSpPr/>
          <p:nvPr/>
        </p:nvSpPr>
        <p:spPr>
          <a:xfrm>
            <a:off x="734930" y="2146002"/>
            <a:ext cx="223514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→ B ≡ ¬A ∨ 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(выражение через НЕ и ИЛИ)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655B68B0-D6FD-68E8-1E88-1F578A032CB9}"/>
              </a:ext>
            </a:extLst>
          </p:cNvPr>
          <p:cNvSpPr/>
          <p:nvPr/>
        </p:nvSpPr>
        <p:spPr>
          <a:xfrm>
            <a:off x="3300265" y="1668562"/>
            <a:ext cx="2795735" cy="1458516"/>
          </a:xfrm>
          <a:prstGeom prst="roundRect">
            <a:avLst>
              <a:gd name="adj" fmla="val 13322"/>
            </a:avLst>
          </a:prstGeom>
          <a:solidFill>
            <a:srgbClr val="FFFFFF"/>
          </a:solidFill>
          <a:ln w="25399">
            <a:solidFill>
              <a:srgbClr val="D6E3E8"/>
            </a:solidFill>
            <a:prstDash val="solid"/>
          </a:ln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9F884C70-7F1D-C359-B6F1-BBA8A3A0E9AB}"/>
              </a:ext>
            </a:extLst>
          </p:cNvPr>
          <p:cNvSpPr/>
          <p:nvPr/>
        </p:nvSpPr>
        <p:spPr>
          <a:xfrm>
            <a:off x="3478061" y="1820962"/>
            <a:ext cx="241294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Закон контрапозиции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49450405-77FF-5FA9-E8D7-438D17A49485}"/>
              </a:ext>
            </a:extLst>
          </p:cNvPr>
          <p:cNvSpPr/>
          <p:nvPr/>
        </p:nvSpPr>
        <p:spPr>
          <a:xfrm>
            <a:off x="3478061" y="2146002"/>
            <a:ext cx="250978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→ B ≡ ¬B → ¬A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Не коммутативна: A → B ≠ B → 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EE3BD5F-0466-49FD-A83C-012264BB830D}"/>
              </a:ext>
            </a:extLst>
          </p:cNvPr>
          <p:cNvSpPr/>
          <p:nvPr/>
        </p:nvSpPr>
        <p:spPr>
          <a:xfrm>
            <a:off x="734930" y="3429000"/>
            <a:ext cx="568945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Пример и парадокс ложной посылки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6356F144-A0DC-8BD2-1F7F-54EE7851A760}"/>
              </a:ext>
            </a:extLst>
          </p:cNvPr>
          <p:cNvSpPr/>
          <p:nvPr/>
        </p:nvSpPr>
        <p:spPr>
          <a:xfrm>
            <a:off x="734930" y="3754041"/>
            <a:ext cx="533386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«Если идёт дождь (A), то асфальт мокрый (B)». При A = 0 обещание не нарушено при любом состоянии асфальта: из лжи следует всё что угодно (ex falso quodlibet).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082B0D42-0F09-85F1-0028-1576050475CD}"/>
              </a:ext>
            </a:extLst>
          </p:cNvPr>
          <p:cNvSpPr/>
          <p:nvPr/>
        </p:nvSpPr>
        <p:spPr>
          <a:xfrm>
            <a:off x="7391215" y="1303040"/>
            <a:ext cx="375910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00" dirty="0"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Таблица истинности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23F57624-8746-E46C-D8B0-677AE855E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798983"/>
              </p:ext>
            </p:extLst>
          </p:nvPr>
        </p:nvGraphicFramePr>
        <p:xfrm>
          <a:off x="7391215" y="1763415"/>
          <a:ext cx="3759106" cy="3012900"/>
        </p:xfrm>
        <a:graphic>
          <a:graphicData uri="http://schemas.openxmlformats.org/drawingml/2006/table">
            <a:tbl>
              <a:tblPr/>
              <a:tblGrid>
                <a:gridCol w="1127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A → B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E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5">
            <a:extLst>
              <a:ext uri="{FF2B5EF4-FFF2-40B4-BE49-F238E27FC236}">
                <a16:creationId xmlns:a16="http://schemas.microsoft.com/office/drawing/2014/main" id="{235AD9ED-3940-A67A-E75B-1962E9EADA43}"/>
              </a:ext>
            </a:extLst>
          </p:cNvPr>
          <p:cNvSpPr/>
          <p:nvPr/>
        </p:nvSpPr>
        <p:spPr>
          <a:xfrm>
            <a:off x="7391215" y="4928791"/>
            <a:ext cx="3759106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600" kern="100" spc="6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Ложна только при переходе 1 → 0 (нарушенное обещание)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A547C847-F60B-E2B2-7031-E9BF84F72347}"/>
              </a:ext>
            </a:extLst>
          </p:cNvPr>
          <p:cNvSpPr/>
          <p:nvPr/>
        </p:nvSpPr>
        <p:spPr>
          <a:xfrm>
            <a:off x="457189" y="6358830"/>
            <a:ext cx="1127731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ea typeface="Gothic A1 Medium" pitchFamily="34" charset="-122"/>
                <a:cs typeface="Times New Roman" panose="02020603050405020304" pitchFamily="18" charset="0"/>
              </a:rPr>
              <a:t>Важнейшая формула для экзаменов и олимпиад: A → B всегда заменяется на ¬A ∨ B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190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EDAF2999-B99C-BAEF-6CF2-A59548DDAA7D}"/>
              </a:ext>
            </a:extLst>
          </p:cNvPr>
          <p:cNvSpPr/>
          <p:nvPr/>
        </p:nvSpPr>
        <p:spPr>
          <a:xfrm>
            <a:off x="4568694" y="238804"/>
            <a:ext cx="533386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Строгая дизъюнкция (XOR, ⊕)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F3CDE55-EB4C-A719-A7B6-F979BD1AE8D6}"/>
              </a:ext>
            </a:extLst>
          </p:cNvPr>
          <p:cNvSpPr/>
          <p:nvPr/>
        </p:nvSpPr>
        <p:spPr>
          <a:xfrm>
            <a:off x="566965" y="793932"/>
            <a:ext cx="1121208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Сложение по модулю 2. Высказывание A ⊕ B истинно тогда и только тогда, когда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ровно одно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из высказываний истинно, а значения операндов различны.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DEAE6542-56D5-7834-258C-7FC8DA010D7B}"/>
              </a:ext>
            </a:extLst>
          </p:cNvPr>
          <p:cNvSpPr/>
          <p:nvPr/>
        </p:nvSpPr>
        <p:spPr>
          <a:xfrm>
            <a:off x="732514" y="1622607"/>
            <a:ext cx="2590735" cy="1458516"/>
          </a:xfrm>
          <a:prstGeom prst="roundRect">
            <a:avLst>
              <a:gd name="adj" fmla="val 13322"/>
            </a:avLst>
          </a:prstGeom>
          <a:solidFill>
            <a:srgbClr val="FFFFFF"/>
          </a:solidFill>
          <a:ln w="25399">
            <a:solidFill>
              <a:srgbClr val="D6E3E8"/>
            </a:solidFill>
            <a:prstDash val="solid"/>
          </a:ln>
        </p:spPr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202440D3-3649-E3AB-03DC-F651291A8A11}"/>
              </a:ext>
            </a:extLst>
          </p:cNvPr>
          <p:cNvSpPr/>
          <p:nvPr/>
        </p:nvSpPr>
        <p:spPr>
          <a:xfrm>
            <a:off x="910310" y="1775007"/>
            <a:ext cx="241294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Обозначения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9A1BC2D-9295-DBE1-5B9C-85BA4815B88E}"/>
              </a:ext>
            </a:extLst>
          </p:cNvPr>
          <p:cNvSpPr/>
          <p:nvPr/>
        </p:nvSpPr>
        <p:spPr>
          <a:xfrm>
            <a:off x="910310" y="2100047"/>
            <a:ext cx="223514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⊕ 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XOR 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^ 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«Либо A, либо B»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C42EE0AE-6448-9F25-7F31-9F3D515607DA}"/>
              </a:ext>
            </a:extLst>
          </p:cNvPr>
          <p:cNvSpPr/>
          <p:nvPr/>
        </p:nvSpPr>
        <p:spPr>
          <a:xfrm>
            <a:off x="3475645" y="1622607"/>
            <a:ext cx="2590735" cy="1458516"/>
          </a:xfrm>
          <a:prstGeom prst="roundRect">
            <a:avLst>
              <a:gd name="adj" fmla="val 13322"/>
            </a:avLst>
          </a:prstGeom>
          <a:solidFill>
            <a:srgbClr val="FFFFFF"/>
          </a:solidFill>
          <a:ln w="25399">
            <a:solidFill>
              <a:srgbClr val="D6E3E8"/>
            </a:solidFill>
            <a:prstDash val="solid"/>
          </a:ln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2AA63E19-66B0-E0F1-C64B-3496FA46FA77}"/>
              </a:ext>
            </a:extLst>
          </p:cNvPr>
          <p:cNvSpPr/>
          <p:nvPr/>
        </p:nvSpPr>
        <p:spPr>
          <a:xfrm>
            <a:off x="3653441" y="1775007"/>
            <a:ext cx="241294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Разложение в базис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5CFDFB50-A50B-24D3-7C3A-2BF0AB7EE5C4}"/>
              </a:ext>
            </a:extLst>
          </p:cNvPr>
          <p:cNvSpPr/>
          <p:nvPr/>
        </p:nvSpPr>
        <p:spPr>
          <a:xfrm>
            <a:off x="3653441" y="2100047"/>
            <a:ext cx="223514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(A ∧ ¬B) ∨ (¬A ∧ B)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Также равно: (A ∨ B) ∧ ¬(A ∧ B)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C7BB0E8C-560B-8521-320B-DFC01D512CAF}"/>
              </a:ext>
            </a:extLst>
          </p:cNvPr>
          <p:cNvSpPr/>
          <p:nvPr/>
        </p:nvSpPr>
        <p:spPr>
          <a:xfrm>
            <a:off x="732514" y="3429000"/>
            <a:ext cx="568945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Свойства и практическое применение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DBF47D7F-1DF9-6161-FB77-CA79C24716FB}"/>
              </a:ext>
            </a:extLst>
          </p:cNvPr>
          <p:cNvSpPr/>
          <p:nvPr/>
        </p:nvSpPr>
        <p:spPr>
          <a:xfrm>
            <a:off x="732514" y="3754041"/>
            <a:ext cx="5333867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•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⊕ A = 0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;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⊕ 0 = 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;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⊕ 1 = ¬A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(обратимость операции)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• Пример: «В меню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бизнес-ланча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либо чай, либо кофе» (взять оба нельзя). XOR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основа шифра Вернама в криптографии и контрольных суммах.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21DBDE0D-0170-ADCC-4AD9-51C6E906A5AB}"/>
              </a:ext>
            </a:extLst>
          </p:cNvPr>
          <p:cNvSpPr/>
          <p:nvPr/>
        </p:nvSpPr>
        <p:spPr>
          <a:xfrm>
            <a:off x="7391215" y="1694639"/>
            <a:ext cx="375910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Таблица истинности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AC7FBD7B-FFEE-5DDD-3D68-3FC81B077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540537"/>
              </p:ext>
            </p:extLst>
          </p:nvPr>
        </p:nvGraphicFramePr>
        <p:xfrm>
          <a:off x="7391215" y="2100047"/>
          <a:ext cx="3759106" cy="3012900"/>
        </p:xfrm>
        <a:graphic>
          <a:graphicData uri="http://schemas.openxmlformats.org/drawingml/2006/table">
            <a:tbl>
              <a:tblPr/>
              <a:tblGrid>
                <a:gridCol w="1127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A ⊕ B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E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5">
            <a:extLst>
              <a:ext uri="{FF2B5EF4-FFF2-40B4-BE49-F238E27FC236}">
                <a16:creationId xmlns:a16="http://schemas.microsoft.com/office/drawing/2014/main" id="{6444A70F-1914-D773-558B-2A68EB41F90A}"/>
              </a:ext>
            </a:extLst>
          </p:cNvPr>
          <p:cNvSpPr/>
          <p:nvPr/>
        </p:nvSpPr>
        <p:spPr>
          <a:xfrm>
            <a:off x="7391215" y="5244802"/>
            <a:ext cx="3759106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Истина (1), когда операнды имеют разные биты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987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530549EE-729A-DD8F-5161-C8CF525154B6}"/>
              </a:ext>
            </a:extLst>
          </p:cNvPr>
          <p:cNvSpPr/>
          <p:nvPr/>
        </p:nvSpPr>
        <p:spPr>
          <a:xfrm>
            <a:off x="3718477" y="366063"/>
            <a:ext cx="5608200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Эквиваленция (A 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↔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 B, тождество)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BA7529A-E6E3-C5F0-C411-1EDAB1432095}"/>
              </a:ext>
            </a:extLst>
          </p:cNvPr>
          <p:cNvSpPr/>
          <p:nvPr/>
        </p:nvSpPr>
        <p:spPr>
          <a:xfrm>
            <a:off x="487800" y="986974"/>
            <a:ext cx="10941914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Операция логической равнозначности: A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↔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B = 1 тогда и только тогда, когда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оба высказывания имеют одинаковые значения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(оба истины или оба ложны).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B264728-9AAE-D95F-8940-1495E326D2B8}"/>
              </a:ext>
            </a:extLst>
          </p:cNvPr>
          <p:cNvSpPr/>
          <p:nvPr/>
        </p:nvSpPr>
        <p:spPr>
          <a:xfrm>
            <a:off x="487800" y="1919418"/>
            <a:ext cx="2953490" cy="1964323"/>
          </a:xfrm>
          <a:prstGeom prst="roundRect">
            <a:avLst>
              <a:gd name="adj" fmla="val 11820"/>
            </a:avLst>
          </a:prstGeom>
          <a:solidFill>
            <a:srgbClr val="FFFFFF"/>
          </a:solidFill>
          <a:ln w="25399">
            <a:solidFill>
              <a:srgbClr val="D6E3E8"/>
            </a:solidFill>
            <a:prstDash val="solid"/>
          </a:ln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8A3DC93-E5BD-FD44-F7E4-A9E8F80F54C5}"/>
              </a:ext>
            </a:extLst>
          </p:cNvPr>
          <p:cNvSpPr/>
          <p:nvPr/>
        </p:nvSpPr>
        <p:spPr>
          <a:xfrm>
            <a:off x="640196" y="2046419"/>
            <a:ext cx="2623487" cy="473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Обозначения и формулы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E5F93EC-4092-4375-1C02-3F1F7E2D418A}"/>
              </a:ext>
            </a:extLst>
          </p:cNvPr>
          <p:cNvSpPr/>
          <p:nvPr/>
        </p:nvSpPr>
        <p:spPr>
          <a:xfrm>
            <a:off x="640196" y="2569500"/>
            <a:ext cx="2623487" cy="1035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↔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 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≡ 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~ 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A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↔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B = (A → B) ∧ (B → 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A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↔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B = ¬(A ⊕ B)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8D733BBA-5858-0C9B-F931-EF5592AEF565}"/>
              </a:ext>
            </a:extLst>
          </p:cNvPr>
          <p:cNvSpPr/>
          <p:nvPr/>
        </p:nvSpPr>
        <p:spPr>
          <a:xfrm>
            <a:off x="3718477" y="1919418"/>
            <a:ext cx="2760981" cy="1964322"/>
          </a:xfrm>
          <a:prstGeom prst="roundRect">
            <a:avLst>
              <a:gd name="adj" fmla="val 11820"/>
            </a:avLst>
          </a:prstGeom>
          <a:solidFill>
            <a:srgbClr val="FFFFFF"/>
          </a:solidFill>
          <a:ln w="25399">
            <a:solidFill>
              <a:srgbClr val="D6E3E8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24FD9287-59C7-3E72-E6AF-3328C0E5F5AB}"/>
              </a:ext>
            </a:extLst>
          </p:cNvPr>
          <p:cNvSpPr/>
          <p:nvPr/>
        </p:nvSpPr>
        <p:spPr>
          <a:xfrm>
            <a:off x="3870873" y="2046418"/>
            <a:ext cx="2606740" cy="23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156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Строгий пример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D7D44C09-AD73-88BD-F57E-77D0FECF86C3}"/>
              </a:ext>
            </a:extLst>
          </p:cNvPr>
          <p:cNvSpPr/>
          <p:nvPr/>
        </p:nvSpPr>
        <p:spPr>
          <a:xfrm>
            <a:off x="3870873" y="2371458"/>
            <a:ext cx="2452499" cy="990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«Целое число чётно тогда и только тогда, когда оно делится на 2 без остатка».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D7F9BBC-278D-5FA5-D762-0833258DC554}"/>
              </a:ext>
            </a:extLst>
          </p:cNvPr>
          <p:cNvSpPr/>
          <p:nvPr/>
        </p:nvSpPr>
        <p:spPr>
          <a:xfrm>
            <a:off x="7508043" y="1617793"/>
            <a:ext cx="36372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Таблица истинности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696EE3F5-A0D0-85F7-E33E-C8065C6D5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197765"/>
              </p:ext>
            </p:extLst>
          </p:nvPr>
        </p:nvGraphicFramePr>
        <p:xfrm>
          <a:off x="7508042" y="2046418"/>
          <a:ext cx="3637269" cy="3025600"/>
        </p:xfrm>
        <a:graphic>
          <a:graphicData uri="http://schemas.openxmlformats.org/drawingml/2006/table">
            <a:tbl>
              <a:tblPr/>
              <a:tblGrid>
                <a:gridCol w="1091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1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A  B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E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1">
            <a:extLst>
              <a:ext uri="{FF2B5EF4-FFF2-40B4-BE49-F238E27FC236}">
                <a16:creationId xmlns:a16="http://schemas.microsoft.com/office/drawing/2014/main" id="{9DCF00F3-6B94-E662-11B7-5FACB54C924B}"/>
              </a:ext>
            </a:extLst>
          </p:cNvPr>
          <p:cNvSpPr/>
          <p:nvPr/>
        </p:nvSpPr>
        <p:spPr>
          <a:xfrm>
            <a:off x="7353284" y="5199018"/>
            <a:ext cx="414525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600" kern="100" spc="6" dirty="0" err="1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Равно</a:t>
            </a:r>
            <a:r>
              <a:rPr lang="en-US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1</a:t>
            </a:r>
            <a:r>
              <a:rPr lang="ru-RU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:</a:t>
            </a:r>
            <a:r>
              <a:rPr lang="en-US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</a:t>
            </a:r>
            <a:r>
              <a:rPr lang="en-US" sz="1600" kern="100" spc="6" dirty="0" err="1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при</a:t>
            </a:r>
            <a:r>
              <a:rPr lang="en-US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0</a:t>
            </a:r>
            <a:r>
              <a:rPr lang="ru-RU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</a:t>
            </a:r>
            <a:r>
              <a:rPr lang="en-US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=</a:t>
            </a:r>
            <a:r>
              <a:rPr lang="ru-RU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</a:t>
            </a:r>
            <a:r>
              <a:rPr lang="en-US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0 и </a:t>
            </a:r>
            <a:r>
              <a:rPr lang="en-US" sz="1600" kern="100" spc="6" dirty="0" err="1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при</a:t>
            </a:r>
            <a:r>
              <a:rPr lang="en-US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1</a:t>
            </a:r>
            <a:r>
              <a:rPr lang="ru-RU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</a:t>
            </a:r>
            <a:r>
              <a:rPr lang="en-US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=</a:t>
            </a:r>
            <a:r>
              <a:rPr lang="ru-RU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 </a:t>
            </a:r>
            <a:r>
              <a:rPr lang="en-US" sz="1600" kern="100" spc="6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914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4">
            <a:extLst>
              <a:ext uri="{FF2B5EF4-FFF2-40B4-BE49-F238E27FC236}">
                <a16:creationId xmlns:a16="http://schemas.microsoft.com/office/drawing/2014/main" id="{F7C4BBF9-FFDD-6102-6C3F-11CECE852CEA}"/>
              </a:ext>
            </a:extLst>
          </p:cNvPr>
          <p:cNvSpPr txBox="1">
            <a:spLocks/>
          </p:cNvSpPr>
          <p:nvPr/>
        </p:nvSpPr>
        <p:spPr>
          <a:xfrm>
            <a:off x="848926" y="44202"/>
            <a:ext cx="10858993" cy="63382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/>
            <a:r>
              <a:rPr lang="ru-RU" sz="24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Обозначения логических операций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>
                <a:extLst>
                  <a:ext uri="{FF2B5EF4-FFF2-40B4-BE49-F238E27FC236}">
                    <a16:creationId xmlns:a16="http://schemas.microsoft.com/office/drawing/2014/main" id="{5BE9FBE1-FE88-5ED7-FAB4-B73F42E8E6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9316066"/>
                  </p:ext>
                </p:extLst>
              </p:nvPr>
            </p:nvGraphicFramePr>
            <p:xfrm>
              <a:off x="1907350" y="727587"/>
              <a:ext cx="8280732" cy="576929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074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042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6904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895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Операция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Обозначение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Речевой оборот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100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Отрицание,</a:t>
                          </a:r>
                          <a:r>
                            <a:rPr lang="ru-RU" sz="1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инверсия, </a:t>
                          </a:r>
                          <a:br>
                            <a:rPr lang="ru-RU" sz="1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ru-RU" sz="1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лог. НЕ)</a:t>
                          </a:r>
                          <a:endParaRPr lang="ru-RU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m:rPr>
                                  <m:nor/>
                                </m:rPr>
                                <a:rPr lang="en-US" sz="1800" b="0" kern="1200" smtClean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a:rPr lang="en-US" sz="1800" b="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oMath>
                          </a14:m>
                          <a:r>
                            <a:rPr lang="ru-RU" sz="1800" b="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ru-RU" sz="1800" b="0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b="0" kern="1200" dirty="0" smtClean="0">
                                      <a:solidFill>
                                        <a:schemeClr val="tx1"/>
                                      </a:solidFill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800" b="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1800" b="0" kern="1200" smtClean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not</m:t>
                              </m:r>
                              <m:r>
                                <m:rPr>
                                  <m:nor/>
                                </m:rPr>
                                <a:rPr lang="en-US" sz="1800" b="0" kern="1200" smtClean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800" b="0" kern="1200" smtClean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sz="1800" b="0" kern="1200" smtClean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ru-RU" sz="1800" b="0" kern="1200" smtClean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не </m:t>
                              </m:r>
                              <m:r>
                                <m:rPr>
                                  <m:nor/>
                                </m:rPr>
                                <a:rPr lang="en-US" sz="1800" b="0" kern="1200" smtClean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</m:oMath>
                          </a14:m>
                          <a:endParaRPr lang="ru-RU" sz="1800" b="0" i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«Не», «не верно,</a:t>
                          </a:r>
                          <a:r>
                            <a:rPr lang="ru-RU" sz="1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что»</a:t>
                          </a:r>
                          <a:endParaRPr lang="ru-RU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42264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Конъюнкция (лог. умножение, лог. И)</a:t>
                          </a:r>
                          <a:endParaRPr lang="ru-RU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∧ B, A&amp;B,</a:t>
                          </a:r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· B, AB,</a:t>
                          </a:r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</a:t>
                          </a:r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</a:t>
                          </a:r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B, A and B</a:t>
                          </a:r>
                          <a:endParaRPr lang="ru-RU" sz="180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«И», «как …, так и», «вместе с», «но», «хотя»</a:t>
                          </a:r>
                          <a:endParaRPr lang="ru-RU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5884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Дизъюнкция (лог. сложение, лог. ИЛИ)</a:t>
                          </a:r>
                          <a:endParaRPr lang="ru-RU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∨ B, A + B,</a:t>
                          </a:r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pt-BR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| B, </a:t>
                          </a:r>
                          <a:br>
                            <a:rPr lang="ru-RU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pt-BR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ИЛИ B,</a:t>
                          </a:r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or B</a:t>
                          </a:r>
                          <a:endParaRPr lang="ru-RU" sz="1800" i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«Или», «или …, или …,</a:t>
                          </a:r>
                        </a:p>
                        <a:p>
                          <a:pPr marL="0" algn="ctr" defTabSz="914400" rtl="0" eaLnBrk="1" latinLnBrk="0" hangingPunct="1"/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или оба вместе»</a:t>
                          </a:r>
                          <a:endParaRPr lang="ru-RU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143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Строгая дизъюнкция</a:t>
                          </a:r>
                        </a:p>
                        <a:p>
                          <a:pPr algn="ctr"/>
                          <a:r>
                            <a:rPr lang="ru-RU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ru-RU" sz="1800" b="0" u="none" strike="noStrike" baseline="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искл</a:t>
                          </a:r>
                          <a:r>
                            <a:rPr lang="ru-RU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дизъюнкция, </a:t>
                          </a:r>
                          <a:br>
                            <a:rPr lang="ru-RU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ru-RU" sz="1800" b="0" u="none" strike="noStrike" baseline="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искл</a:t>
                          </a:r>
                          <a:r>
                            <a:rPr lang="ru-RU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ИЛИ)</a:t>
                          </a:r>
                          <a:endParaRPr lang="ru-RU" sz="1800" b="0" i="0" u="none" strike="noStrike" baseline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⊕ B, A </a:t>
                          </a:r>
                          <a:r>
                            <a:rPr lang="en-US" sz="1800" b="0" u="none" strike="noStrike" baseline="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xor</a:t>
                          </a:r>
                          <a:r>
                            <a:rPr lang="en-US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B</a:t>
                          </a:r>
                          <a:endParaRPr lang="ru-RU" sz="180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«Либо …, либо», «только … или только»</a:t>
                          </a:r>
                          <a:endParaRPr lang="ru-RU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100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Импликация </a:t>
                          </a:r>
                          <a:b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(лог. следование)</a:t>
                          </a:r>
                          <a:endParaRPr lang="ru-RU" sz="1800" b="0" i="0" u="none" strike="noStrike" kern="1200" baseline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</a:t>
                          </a:r>
                          <a:r>
                            <a:rPr lang="ru-RU" sz="18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 B, A ⇒ B</a:t>
                          </a:r>
                          <a:endParaRPr lang="ru-RU" sz="180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«Если …, то», «из …</a:t>
                          </a:r>
                        </a:p>
                        <a:p>
                          <a:pPr algn="ctr"/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следует», «влечёт»</a:t>
                          </a:r>
                          <a:endParaRPr lang="ru-RU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0442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u="none" strike="noStrike" kern="1200" baseline="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Эквиваленция</a:t>
                          </a:r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b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(эквивалентность, равнозначность)</a:t>
                          </a:r>
                          <a:endParaRPr lang="ru-RU" sz="1800" b="0" i="0" u="none" strike="noStrike" kern="1200" baseline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</a:t>
                          </a:r>
                          <a:r>
                            <a:rPr lang="ru-RU" sz="18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↔</a:t>
                          </a:r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B, A ⇔ B,</a:t>
                          </a:r>
                        </a:p>
                        <a:p>
                          <a:pPr algn="ctr"/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≡ B</a:t>
                          </a:r>
                          <a:endParaRPr lang="ru-RU" sz="180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«Эквивалентно», «необходимо и достаточно»</a:t>
                          </a:r>
                          <a:endParaRPr lang="ru-RU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>
                <a:extLst>
                  <a:ext uri="{FF2B5EF4-FFF2-40B4-BE49-F238E27FC236}">
                    <a16:creationId xmlns:a16="http://schemas.microsoft.com/office/drawing/2014/main" id="{5BE9FBE1-FE88-5ED7-FAB4-B73F42E8E6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9316066"/>
                  </p:ext>
                </p:extLst>
              </p:nvPr>
            </p:nvGraphicFramePr>
            <p:xfrm>
              <a:off x="1907350" y="727587"/>
              <a:ext cx="8280732" cy="576929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074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042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6904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895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Операция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Обозначение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Речевой оборот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100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Отрицание,</a:t>
                          </a:r>
                          <a:r>
                            <a:rPr lang="ru-RU" sz="1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инверсия, </a:t>
                          </a:r>
                          <a:br>
                            <a:rPr lang="ru-RU" sz="1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ru-RU" sz="1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лог. НЕ)</a:t>
                          </a:r>
                          <a:endParaRPr lang="ru-RU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3"/>
                          <a:stretch>
                            <a:fillRect l="-121900" t="-84483" r="-137731" b="-637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«Не», «не верно,</a:t>
                          </a:r>
                          <a:r>
                            <a:rPr lang="ru-RU" sz="1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что»</a:t>
                          </a:r>
                          <a:endParaRPr lang="ru-RU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42264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Конъюнкция (лог. умножение, лог. И)</a:t>
                          </a:r>
                          <a:endParaRPr lang="ru-RU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∧ B, A&amp;B,</a:t>
                          </a:r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· B, AB,</a:t>
                          </a:r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</a:t>
                          </a:r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</a:t>
                          </a:r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B, A and B</a:t>
                          </a:r>
                          <a:endParaRPr lang="ru-RU" sz="180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«И», «как …, так и», «вместе с», «но», «хотя»</a:t>
                          </a:r>
                          <a:endParaRPr lang="ru-RU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5884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Дизъюнкция (лог. сложение, лог. ИЛИ)</a:t>
                          </a:r>
                          <a:endParaRPr lang="ru-RU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∨ B, A + B,</a:t>
                          </a:r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pt-BR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| B, </a:t>
                          </a:r>
                          <a:br>
                            <a:rPr lang="ru-RU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pt-BR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ИЛИ B,</a:t>
                          </a:r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or B</a:t>
                          </a:r>
                          <a:endParaRPr lang="ru-RU" sz="1800" i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«Или», «или …, или …,</a:t>
                          </a:r>
                        </a:p>
                        <a:p>
                          <a:pPr marL="0" algn="ctr" defTabSz="914400" rtl="0" eaLnBrk="1" latinLnBrk="0" hangingPunct="1"/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или оба вместе»</a:t>
                          </a:r>
                          <a:endParaRPr lang="ru-RU" sz="180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143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Строгая дизъюнкция</a:t>
                          </a:r>
                        </a:p>
                        <a:p>
                          <a:pPr algn="ctr"/>
                          <a:r>
                            <a:rPr lang="ru-RU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ru-RU" sz="1800" b="0" u="none" strike="noStrike" baseline="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искл</a:t>
                          </a:r>
                          <a:r>
                            <a:rPr lang="ru-RU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дизъюнкция, </a:t>
                          </a:r>
                          <a:br>
                            <a:rPr lang="ru-RU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ru-RU" sz="1800" b="0" u="none" strike="noStrike" baseline="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искл</a:t>
                          </a:r>
                          <a:r>
                            <a:rPr lang="ru-RU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ИЛИ)</a:t>
                          </a:r>
                          <a:endParaRPr lang="ru-RU" sz="1800" b="0" i="0" u="none" strike="noStrike" baseline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⊕ B, A </a:t>
                          </a:r>
                          <a:r>
                            <a:rPr lang="en-US" sz="1800" b="0" u="none" strike="noStrike" baseline="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xor</a:t>
                          </a:r>
                          <a:r>
                            <a:rPr lang="en-US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B</a:t>
                          </a:r>
                          <a:endParaRPr lang="ru-RU" sz="180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u="none" strike="noStrike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«Либо …, либо», «только … или только»</a:t>
                          </a:r>
                          <a:endParaRPr lang="ru-RU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100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Импликация </a:t>
                          </a:r>
                          <a:b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(лог. следование)</a:t>
                          </a:r>
                          <a:endParaRPr lang="ru-RU" sz="1800" b="0" i="0" u="none" strike="noStrike" kern="1200" baseline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</a:t>
                          </a:r>
                          <a:r>
                            <a:rPr lang="ru-RU" sz="18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 B, A ⇒ B</a:t>
                          </a:r>
                          <a:endParaRPr lang="ru-RU" sz="180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«Если …, то», «из …</a:t>
                          </a:r>
                        </a:p>
                        <a:p>
                          <a:pPr algn="ctr"/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следует», «влечёт»</a:t>
                          </a:r>
                          <a:endParaRPr lang="ru-RU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0442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u="none" strike="noStrike" kern="1200" baseline="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Эквиваленция</a:t>
                          </a:r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b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(эквивалентность, равнозначность)</a:t>
                          </a:r>
                          <a:endParaRPr lang="ru-RU" sz="1800" b="0" i="0" u="none" strike="noStrike" kern="1200" baseline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</a:t>
                          </a:r>
                          <a:r>
                            <a:rPr lang="ru-RU" sz="18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↔</a:t>
                          </a:r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B, A ⇔ B,</a:t>
                          </a:r>
                        </a:p>
                        <a:p>
                          <a:pPr algn="ctr"/>
                          <a:r>
                            <a:rPr lang="en-US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≡ B</a:t>
                          </a:r>
                          <a:endParaRPr lang="ru-RU" sz="180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u="none" strike="noStrike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«Эквивалентно», «необходимо и достаточно»</a:t>
                          </a:r>
                          <a:endParaRPr lang="ru-RU" sz="1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88389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D2EB5D12-A960-2A87-55ED-7B005ECAA855}"/>
              </a:ext>
            </a:extLst>
          </p:cNvPr>
          <p:cNvSpPr txBox="1">
            <a:spLocks/>
          </p:cNvSpPr>
          <p:nvPr/>
        </p:nvSpPr>
        <p:spPr>
          <a:xfrm>
            <a:off x="671945" y="412329"/>
            <a:ext cx="10858993" cy="852267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/>
            <a:r>
              <a:rPr lang="ru-RU" sz="2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Логические выражения</a:t>
            </a:r>
          </a:p>
        </p:txBody>
      </p:sp>
      <p:sp>
        <p:nvSpPr>
          <p:cNvPr id="3" name="Объект 4">
            <a:extLst>
              <a:ext uri="{FF2B5EF4-FFF2-40B4-BE49-F238E27FC236}">
                <a16:creationId xmlns:a16="http://schemas.microsoft.com/office/drawing/2014/main" id="{531C35C6-ECBD-1EBA-4DF5-FE3D81583E52}"/>
              </a:ext>
            </a:extLst>
          </p:cNvPr>
          <p:cNvSpPr txBox="1">
            <a:spLocks/>
          </p:cNvSpPr>
          <p:nvPr/>
        </p:nvSpPr>
        <p:spPr>
          <a:xfrm>
            <a:off x="671945" y="1188847"/>
            <a:ext cx="10858994" cy="1057962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just"/>
            <a:r>
              <a:rPr lang="ru-RU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Составное логическое высказывание </a:t>
            </a:r>
            <a:r>
              <a:rPr lang="ru-RU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можно представить в виде логического выражения (формулы), состоящего из логических констант (0, 1), логических переменных, знаков логических операций и скобок.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4010950A-7276-D92A-413A-99071CA066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1945" y="2352712"/>
                <a:ext cx="10858993" cy="217239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логического выражения справедливо:</a:t>
                </a:r>
              </a:p>
              <a:p>
                <a:pPr marL="457200" indent="-457200">
                  <a:buClr>
                    <a:srgbClr val="00B0F0"/>
                  </a:buClr>
                  <a:buFont typeface="Системный шрифт, обычный"/>
                  <a:buChar char="✦"/>
                </a:pPr>
                <a:r>
                  <a:rPr lang="ru-RU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всякая логическая переменная, а также логические константы (0, 1), есть логическое выражение</a:t>
                </a:r>
              </a:p>
              <a:p>
                <a:pPr marL="457200" indent="-457200">
                  <a:buClr>
                    <a:srgbClr val="00B0F0"/>
                  </a:buClr>
                  <a:buFont typeface="Системный шрифт, обычный"/>
                  <a:buChar char="✦"/>
                </a:pPr>
                <a:r>
                  <a:rPr lang="ru-RU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:r>
                  <a:rPr lang="ru-RU" sz="20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логическое выражение, то и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ru-RU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en-US" sz="2000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bar>
                  </m:oMath>
                </a14:m>
                <a:r>
                  <a:rPr lang="ru-RU" sz="20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логическое выражение</a:t>
                </a:r>
              </a:p>
              <a:p>
                <a:pPr marL="457200" indent="-457200">
                  <a:buClr>
                    <a:srgbClr val="00B0F0"/>
                  </a:buClr>
                  <a:buFont typeface="Системный шрифт, обычный"/>
                  <a:buChar char="✦"/>
                </a:pPr>
                <a:r>
                  <a:rPr lang="ru-RU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:r>
                  <a:rPr lang="ru-RU" sz="20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:r>
                  <a:rPr lang="ru-RU" sz="20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–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выражения, то связанные любой бинарной операцией они также представляют собой логическое выражение</a:t>
                </a:r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4010950A-7276-D92A-413A-99071CA06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45" y="2352712"/>
                <a:ext cx="10858993" cy="2172390"/>
              </a:xfrm>
              <a:prstGeom prst="rect">
                <a:avLst/>
              </a:prstGeom>
              <a:blipFill>
                <a:blip r:embed="rId3"/>
                <a:stretch>
                  <a:fillRect l="-730" t="-3090" b="-42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олилиния 8">
            <a:extLst>
              <a:ext uri="{FF2B5EF4-FFF2-40B4-BE49-F238E27FC236}">
                <a16:creationId xmlns:a16="http://schemas.microsoft.com/office/drawing/2014/main" id="{03721FA5-20D4-25F2-E6EC-CE21A7AD3211}"/>
              </a:ext>
            </a:extLst>
          </p:cNvPr>
          <p:cNvSpPr/>
          <p:nvPr/>
        </p:nvSpPr>
        <p:spPr>
          <a:xfrm>
            <a:off x="4385414" y="5244021"/>
            <a:ext cx="717435" cy="684076"/>
          </a:xfrm>
          <a:custGeom>
            <a:avLst/>
            <a:gdLst>
              <a:gd name="connsiteX0" fmla="*/ 0 w 717435"/>
              <a:gd name="connsiteY0" fmla="*/ 0 h 936104"/>
              <a:gd name="connsiteX1" fmla="*/ 358718 w 717435"/>
              <a:gd name="connsiteY1" fmla="*/ 0 h 936104"/>
              <a:gd name="connsiteX2" fmla="*/ 717435 w 717435"/>
              <a:gd name="connsiteY2" fmla="*/ 468052 h 936104"/>
              <a:gd name="connsiteX3" fmla="*/ 358718 w 717435"/>
              <a:gd name="connsiteY3" fmla="*/ 936104 h 936104"/>
              <a:gd name="connsiteX4" fmla="*/ 0 w 717435"/>
              <a:gd name="connsiteY4" fmla="*/ 936104 h 936104"/>
              <a:gd name="connsiteX5" fmla="*/ 0 w 717435"/>
              <a:gd name="connsiteY5" fmla="*/ 0 h 936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7435" h="936104">
                <a:moveTo>
                  <a:pt x="0" y="0"/>
                </a:moveTo>
                <a:lnTo>
                  <a:pt x="358718" y="0"/>
                </a:lnTo>
                <a:lnTo>
                  <a:pt x="717435" y="468052"/>
                </a:lnTo>
                <a:lnTo>
                  <a:pt x="358718" y="936104"/>
                </a:lnTo>
                <a:lnTo>
                  <a:pt x="0" y="93610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spcFirstLastPara="0" vert="horz" wrap="square" lIns="106680" tIns="53340" rIns="206029" bIns="53340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</a:p>
        </p:txBody>
      </p:sp>
      <p:sp>
        <p:nvSpPr>
          <p:cNvPr id="6" name="Полилиния 9">
            <a:extLst>
              <a:ext uri="{FF2B5EF4-FFF2-40B4-BE49-F238E27FC236}">
                <a16:creationId xmlns:a16="http://schemas.microsoft.com/office/drawing/2014/main" id="{80F462E6-DDF7-E502-88EB-32659BDEA955}"/>
              </a:ext>
            </a:extLst>
          </p:cNvPr>
          <p:cNvSpPr/>
          <p:nvPr/>
        </p:nvSpPr>
        <p:spPr>
          <a:xfrm>
            <a:off x="4863703" y="5244021"/>
            <a:ext cx="1368152" cy="684076"/>
          </a:xfrm>
          <a:custGeom>
            <a:avLst/>
            <a:gdLst>
              <a:gd name="connsiteX0" fmla="*/ 0 w 1833834"/>
              <a:gd name="connsiteY0" fmla="*/ 0 h 936104"/>
              <a:gd name="connsiteX1" fmla="*/ 1365782 w 1833834"/>
              <a:gd name="connsiteY1" fmla="*/ 0 h 936104"/>
              <a:gd name="connsiteX2" fmla="*/ 1833834 w 1833834"/>
              <a:gd name="connsiteY2" fmla="*/ 468052 h 936104"/>
              <a:gd name="connsiteX3" fmla="*/ 1365782 w 1833834"/>
              <a:gd name="connsiteY3" fmla="*/ 936104 h 936104"/>
              <a:gd name="connsiteX4" fmla="*/ 0 w 1833834"/>
              <a:gd name="connsiteY4" fmla="*/ 936104 h 936104"/>
              <a:gd name="connsiteX5" fmla="*/ 468052 w 1833834"/>
              <a:gd name="connsiteY5" fmla="*/ 468052 h 936104"/>
              <a:gd name="connsiteX6" fmla="*/ 0 w 1833834"/>
              <a:gd name="connsiteY6" fmla="*/ 0 h 936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3834" h="936104">
                <a:moveTo>
                  <a:pt x="0" y="0"/>
                </a:moveTo>
                <a:lnTo>
                  <a:pt x="1365782" y="0"/>
                </a:lnTo>
                <a:lnTo>
                  <a:pt x="1833834" y="468052"/>
                </a:lnTo>
                <a:lnTo>
                  <a:pt x="1365782" y="936104"/>
                </a:lnTo>
                <a:lnTo>
                  <a:pt x="0" y="936104"/>
                </a:lnTo>
                <a:lnTo>
                  <a:pt x="468052" y="46805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0" vert="horz" wrap="square" lIns="548062" tIns="53340" rIns="494722" bIns="53340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олилиния 10">
            <a:extLst>
              <a:ext uri="{FF2B5EF4-FFF2-40B4-BE49-F238E27FC236}">
                <a16:creationId xmlns:a16="http://schemas.microsoft.com/office/drawing/2014/main" id="{E084AC3B-D37F-FF32-2AB8-5968B1FC3F7B}"/>
              </a:ext>
            </a:extLst>
          </p:cNvPr>
          <p:cNvSpPr/>
          <p:nvPr/>
        </p:nvSpPr>
        <p:spPr>
          <a:xfrm>
            <a:off x="5992710" y="5244021"/>
            <a:ext cx="1908212" cy="684076"/>
          </a:xfrm>
          <a:custGeom>
            <a:avLst/>
            <a:gdLst>
              <a:gd name="connsiteX0" fmla="*/ 0 w 2592318"/>
              <a:gd name="connsiteY0" fmla="*/ 0 h 936104"/>
              <a:gd name="connsiteX1" fmla="*/ 2124266 w 2592318"/>
              <a:gd name="connsiteY1" fmla="*/ 0 h 936104"/>
              <a:gd name="connsiteX2" fmla="*/ 2592318 w 2592318"/>
              <a:gd name="connsiteY2" fmla="*/ 468052 h 936104"/>
              <a:gd name="connsiteX3" fmla="*/ 2124266 w 2592318"/>
              <a:gd name="connsiteY3" fmla="*/ 936104 h 936104"/>
              <a:gd name="connsiteX4" fmla="*/ 0 w 2592318"/>
              <a:gd name="connsiteY4" fmla="*/ 936104 h 936104"/>
              <a:gd name="connsiteX5" fmla="*/ 468052 w 2592318"/>
              <a:gd name="connsiteY5" fmla="*/ 468052 h 936104"/>
              <a:gd name="connsiteX6" fmla="*/ 0 w 2592318"/>
              <a:gd name="connsiteY6" fmla="*/ 0 h 936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2318" h="936104">
                <a:moveTo>
                  <a:pt x="0" y="0"/>
                </a:moveTo>
                <a:lnTo>
                  <a:pt x="2124266" y="0"/>
                </a:lnTo>
                <a:lnTo>
                  <a:pt x="2592318" y="468052"/>
                </a:lnTo>
                <a:lnTo>
                  <a:pt x="2124266" y="936104"/>
                </a:lnTo>
                <a:lnTo>
                  <a:pt x="0" y="936104"/>
                </a:lnTo>
                <a:lnTo>
                  <a:pt x="468052" y="46805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548062" tIns="53340" rIns="494722" bIns="53340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br>
              <a:rPr lang="ru-RU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Либо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олилиния 11">
            <a:extLst>
              <a:ext uri="{FF2B5EF4-FFF2-40B4-BE49-F238E27FC236}">
                <a16:creationId xmlns:a16="http://schemas.microsoft.com/office/drawing/2014/main" id="{F3525363-9B6D-E639-B6AC-03A855446FAE}"/>
              </a:ext>
            </a:extLst>
          </p:cNvPr>
          <p:cNvSpPr/>
          <p:nvPr/>
        </p:nvSpPr>
        <p:spPr>
          <a:xfrm>
            <a:off x="7661777" y="5244021"/>
            <a:ext cx="2592288" cy="684076"/>
          </a:xfrm>
          <a:custGeom>
            <a:avLst/>
            <a:gdLst>
              <a:gd name="connsiteX0" fmla="*/ 0 w 3417826"/>
              <a:gd name="connsiteY0" fmla="*/ 0 h 936104"/>
              <a:gd name="connsiteX1" fmla="*/ 2949774 w 3417826"/>
              <a:gd name="connsiteY1" fmla="*/ 0 h 936104"/>
              <a:gd name="connsiteX2" fmla="*/ 3417826 w 3417826"/>
              <a:gd name="connsiteY2" fmla="*/ 468052 h 936104"/>
              <a:gd name="connsiteX3" fmla="*/ 2949774 w 3417826"/>
              <a:gd name="connsiteY3" fmla="*/ 936104 h 936104"/>
              <a:gd name="connsiteX4" fmla="*/ 0 w 3417826"/>
              <a:gd name="connsiteY4" fmla="*/ 936104 h 936104"/>
              <a:gd name="connsiteX5" fmla="*/ 468052 w 3417826"/>
              <a:gd name="connsiteY5" fmla="*/ 468052 h 936104"/>
              <a:gd name="connsiteX6" fmla="*/ 0 w 3417826"/>
              <a:gd name="connsiteY6" fmla="*/ 0 h 936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17826" h="936104">
                <a:moveTo>
                  <a:pt x="0" y="0"/>
                </a:moveTo>
                <a:lnTo>
                  <a:pt x="2949774" y="0"/>
                </a:lnTo>
                <a:lnTo>
                  <a:pt x="3417826" y="468052"/>
                </a:lnTo>
                <a:lnTo>
                  <a:pt x="2949774" y="936104"/>
                </a:lnTo>
                <a:lnTo>
                  <a:pt x="0" y="936104"/>
                </a:lnTo>
                <a:lnTo>
                  <a:pt x="468052" y="46805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spcFirstLastPara="0" vert="horz" wrap="square" lIns="548062" tIns="53340" rIns="494722" bIns="53340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Следует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Равносильно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FA03515-9C8D-1904-E96B-927052C21FEC}"/>
              </a:ext>
            </a:extLst>
          </p:cNvPr>
          <p:cNvSpPr/>
          <p:nvPr/>
        </p:nvSpPr>
        <p:spPr>
          <a:xfrm>
            <a:off x="2165449" y="5244021"/>
            <a:ext cx="2159657" cy="684076"/>
          </a:xfrm>
          <a:prstGeom prst="rect">
            <a:avLst/>
          </a:prstGeom>
          <a:solidFill>
            <a:srgbClr val="00B0F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Приоритет</a:t>
            </a:r>
          </a:p>
        </p:txBody>
      </p:sp>
    </p:spTree>
    <p:extLst>
      <p:ext uri="{BB962C8B-B14F-4D97-AF65-F5344CB8AC3E}">
        <p14:creationId xmlns:p14="http://schemas.microsoft.com/office/powerpoint/2010/main" val="200429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B48FF64A-09CB-F6FB-73F6-2D1824048768}"/>
              </a:ext>
            </a:extLst>
          </p:cNvPr>
          <p:cNvSpPr/>
          <p:nvPr/>
        </p:nvSpPr>
        <p:spPr>
          <a:xfrm>
            <a:off x="1251126" y="344834"/>
            <a:ext cx="990575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Приоритет операций определяет порядок вычисления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B1412638-0DFF-069A-D8B3-BCCDF568A0C5}"/>
              </a:ext>
            </a:extLst>
          </p:cNvPr>
          <p:cNvSpPr/>
          <p:nvPr/>
        </p:nvSpPr>
        <p:spPr>
          <a:xfrm>
            <a:off x="730016" y="1029766"/>
            <a:ext cx="9905752" cy="2160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Скобки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Отрицание ¬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Конъюнкция ∧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Дизъюнкция ∨ и строгая дизъюнкция ⊕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Импликация 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6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Эквиваленция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↔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914957EF-2184-ECE1-58B6-08FD41BAEA45}"/>
              </a:ext>
            </a:extLst>
          </p:cNvPr>
          <p:cNvSpPr/>
          <p:nvPr/>
        </p:nvSpPr>
        <p:spPr>
          <a:xfrm>
            <a:off x="592364" y="3175788"/>
            <a:ext cx="5324475" cy="1608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Операции одного уровня выполняются слева направо; импликация часто вычисляется справа налево, поэтому неочевидные случаи заключают в скобки.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C71DB7-885E-DDE9-2955-CED8C9056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059" y="3190552"/>
            <a:ext cx="5324475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94F0BA-F61A-5E6C-F967-959D26808EFA}"/>
              </a:ext>
            </a:extLst>
          </p:cNvPr>
          <p:cNvSpPr txBox="1"/>
          <p:nvPr/>
        </p:nvSpPr>
        <p:spPr>
          <a:xfrm>
            <a:off x="6543059" y="260577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Изображения логических операций в виде операций над множествами</a:t>
            </a:r>
          </a:p>
        </p:txBody>
      </p:sp>
    </p:spTree>
    <p:extLst>
      <p:ext uri="{BB962C8B-B14F-4D97-AF65-F5344CB8AC3E}">
        <p14:creationId xmlns:p14="http://schemas.microsoft.com/office/powerpoint/2010/main" val="2213626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7EB334C5-CD50-CAD2-3F72-2BDABA3E66AD}"/>
              </a:ext>
            </a:extLst>
          </p:cNvPr>
          <p:cNvSpPr/>
          <p:nvPr/>
        </p:nvSpPr>
        <p:spPr>
          <a:xfrm>
            <a:off x="1066773" y="355699"/>
            <a:ext cx="405377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Анализ формулы ¬A ∨ B ∧ A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C812F684-48A4-E993-E16C-0AFCC7582705}"/>
              </a:ext>
            </a:extLst>
          </p:cNvPr>
          <p:cNvSpPr/>
          <p:nvPr/>
        </p:nvSpPr>
        <p:spPr>
          <a:xfrm>
            <a:off x="761980" y="819428"/>
            <a:ext cx="435857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Алгоритм построения таблицы истинности: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66F29232-9CFD-545B-2D04-92489134AACB}"/>
              </a:ext>
            </a:extLst>
          </p:cNvPr>
          <p:cNvSpPr/>
          <p:nvPr/>
        </p:nvSpPr>
        <p:spPr>
          <a:xfrm>
            <a:off x="762378" y="1371517"/>
            <a:ext cx="83375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9E695613-8038-581C-5654-15B9BEAC83AA}"/>
              </a:ext>
            </a:extLst>
          </p:cNvPr>
          <p:cNvSpPr/>
          <p:nvPr/>
        </p:nvSpPr>
        <p:spPr>
          <a:xfrm>
            <a:off x="1219367" y="1263567"/>
            <a:ext cx="390118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Количество строк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40A506B8-39EF-9F0C-D639-0776B89B9DD6}"/>
              </a:ext>
            </a:extLst>
          </p:cNvPr>
          <p:cNvSpPr/>
          <p:nvPr/>
        </p:nvSpPr>
        <p:spPr>
          <a:xfrm>
            <a:off x="1219367" y="1720767"/>
            <a:ext cx="390118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2 переменные (A, B) ⇒  строки наборов.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246ED0D9-79A4-9367-3DE8-68669B0998E4}"/>
              </a:ext>
            </a:extLst>
          </p:cNvPr>
          <p:cNvSpPr/>
          <p:nvPr/>
        </p:nvSpPr>
        <p:spPr>
          <a:xfrm>
            <a:off x="762377" y="2209808"/>
            <a:ext cx="73608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8729973F-FFA0-482F-908A-DD2497282DFB}"/>
              </a:ext>
            </a:extLst>
          </p:cNvPr>
          <p:cNvSpPr/>
          <p:nvPr/>
        </p:nvSpPr>
        <p:spPr>
          <a:xfrm>
            <a:off x="1219367" y="2101858"/>
            <a:ext cx="344419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Расстановка действий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C3578CE7-0F97-B394-BB4E-6DDDB7517982}"/>
              </a:ext>
            </a:extLst>
          </p:cNvPr>
          <p:cNvSpPr/>
          <p:nvPr/>
        </p:nvSpPr>
        <p:spPr>
          <a:xfrm>
            <a:off x="1219367" y="2559058"/>
            <a:ext cx="344419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1) ¬A (инверсия)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2) B ∧ A (конъюнкция)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3) (¬A) ∨ (B ∧ A) (дизъюнкция)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E877AE66-A803-4974-90F2-49B7A5DBF3EE}"/>
              </a:ext>
            </a:extLst>
          </p:cNvPr>
          <p:cNvSpPr/>
          <p:nvPr/>
        </p:nvSpPr>
        <p:spPr>
          <a:xfrm>
            <a:off x="761980" y="3625588"/>
            <a:ext cx="83375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8C722941-B418-E112-5D52-DEA2CDD72633}"/>
              </a:ext>
            </a:extLst>
          </p:cNvPr>
          <p:cNvSpPr/>
          <p:nvPr/>
        </p:nvSpPr>
        <p:spPr>
          <a:xfrm>
            <a:off x="1218970" y="3517638"/>
            <a:ext cx="390118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Вывод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D4030FBC-2EFD-0491-0791-49DB8683CC78}"/>
              </a:ext>
            </a:extLst>
          </p:cNvPr>
          <p:cNvSpPr/>
          <p:nvPr/>
        </p:nvSpPr>
        <p:spPr>
          <a:xfrm>
            <a:off x="1218970" y="3974838"/>
            <a:ext cx="390118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Формула ложна (0) только при </a:t>
            </a:r>
            <a:r>
              <a:rPr lang="en-US" sz="1600" b="1" dirty="0">
                <a:latin typeface="Times New Roman" panose="02020603050405020304" pitchFamily="18" charset="0"/>
                <a:ea typeface="Gothic A1 Bold" pitchFamily="34" charset="-122"/>
                <a:cs typeface="Times New Roman" panose="02020603050405020304" pitchFamily="18" charset="0"/>
              </a:rPr>
              <a:t>A = 1, B = 0</a:t>
            </a:r>
            <a:r>
              <a:rPr lang="en-US" sz="1600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. В остальных 3 случаях результат равен 1.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A2DED65E-DB2A-A902-FE82-67DBC435051C}"/>
              </a:ext>
            </a:extLst>
          </p:cNvPr>
          <p:cNvSpPr/>
          <p:nvPr/>
        </p:nvSpPr>
        <p:spPr>
          <a:xfrm>
            <a:off x="6009430" y="1067494"/>
            <a:ext cx="514089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Gothic A1 SemiBold" pitchFamily="34" charset="-122"/>
                <a:cs typeface="Times New Roman" panose="02020603050405020304" pitchFamily="18" charset="0"/>
              </a:rPr>
              <a:t>Итоговая таблица истинности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39AFB7F1-BAE7-FE20-CEB0-B9CE5905E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108493"/>
              </p:ext>
            </p:extLst>
          </p:nvPr>
        </p:nvGraphicFramePr>
        <p:xfrm>
          <a:off x="6009430" y="1553369"/>
          <a:ext cx="5420192" cy="3638955"/>
        </p:xfrm>
        <a:graphic>
          <a:graphicData uri="http://schemas.openxmlformats.org/drawingml/2006/table">
            <a:tbl>
              <a:tblPr/>
              <a:tblGrid>
                <a:gridCol w="867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1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31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1: ¬A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2: B ∧ A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3: </a:t>
                      </a:r>
                      <a:r>
                        <a:rPr lang="en-US" sz="170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Результ</a:t>
                      </a:r>
                      <a:r>
                        <a:rPr lang="ru-RU" sz="170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ат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E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othic A1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ea typeface="Gothic A1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139697" marB="139697"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9">
            <a:extLst>
              <a:ext uri="{FF2B5EF4-FFF2-40B4-BE49-F238E27FC236}">
                <a16:creationId xmlns:a16="http://schemas.microsoft.com/office/drawing/2014/main" id="{278A3E53-3916-7E1D-9E3B-AC91D7F3F26D}"/>
              </a:ext>
            </a:extLst>
          </p:cNvPr>
          <p:cNvSpPr/>
          <p:nvPr/>
        </p:nvSpPr>
        <p:spPr>
          <a:xfrm>
            <a:off x="6009430" y="5344815"/>
            <a:ext cx="514089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600" kern="100" spc="6" dirty="0">
                <a:latin typeface="Times New Roman" panose="02020603050405020304" pitchFamily="18" charset="0"/>
                <a:ea typeface="Gothic A1" pitchFamily="34" charset="-122"/>
                <a:cs typeface="Times New Roman" panose="02020603050405020304" pitchFamily="18" charset="0"/>
              </a:rPr>
              <a:t>Обратите внимание: таблица эквивалентна формуле импликации A → B!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601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6D7020C0-38B4-F4A6-0376-490D10343379}"/>
              </a:ext>
            </a:extLst>
          </p:cNvPr>
          <p:cNvSpPr txBox="1">
            <a:spLocks/>
          </p:cNvSpPr>
          <p:nvPr/>
        </p:nvSpPr>
        <p:spPr>
          <a:xfrm>
            <a:off x="666503" y="132987"/>
            <a:ext cx="10858993" cy="852267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/>
            <a:r>
              <a:rPr lang="ru-RU" sz="2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Предикаты и множества истинности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4">
                <a:extLst>
                  <a:ext uri="{FF2B5EF4-FFF2-40B4-BE49-F238E27FC236}">
                    <a16:creationId xmlns:a16="http://schemas.microsoft.com/office/drawing/2014/main" id="{F57B5A2B-1159-854B-E0B7-494F593B8F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503" y="744664"/>
                <a:ext cx="10858994" cy="187064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lvl1pPr>
                <a:lvl2pPr marR="0" lvl="1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lvl2pPr>
                <a:lvl3pPr marR="0" lvl="2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lvl3pPr>
                <a:lvl4pPr marR="0" lvl="3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lvl4pPr>
                <a:lvl5pPr marR="0" lvl="4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lvl5pPr>
                <a:lvl6pPr marR="0" lvl="5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lvl6pPr>
                <a:lvl7pPr marR="0" lvl="6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lvl7pPr>
                <a:lvl8pPr marR="0" lvl="7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lvl8pPr>
                <a:lvl9pPr marR="0" lvl="8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>
                <a:pPr algn="just"/>
                <a:r>
                  <a:rPr lang="ru-RU" sz="2000" b="1" kern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Предикат</a:t>
                </a:r>
                <a:r>
                  <a:rPr lang="ru-RU" sz="2000" kern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это утверждение, содержащее одну или несколько переменных.</a:t>
                </a:r>
              </a:p>
              <a:p>
                <a:pPr algn="just"/>
                <a:r>
                  <a:rPr lang="ru-RU" sz="2000" kern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Предикаты позволяют задать множество, не перечисляя</a:t>
                </a:r>
                <a:r>
                  <a:rPr lang="en-US" sz="2000" kern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kern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всех его элементов. </a:t>
                </a:r>
              </a:p>
              <a:p>
                <a:pPr algn="just"/>
                <a:r>
                  <a:rPr lang="ru-RU" sz="2000" kern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Предикат </a:t>
                </a:r>
                <a14:m>
                  <m:oMath xmlns:m="http://schemas.openxmlformats.org/officeDocument/2006/math">
                    <m:r>
                      <a:rPr lang="en-US" sz="20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&lt;0)</m:t>
                    </m:r>
                  </m:oMath>
                </a14:m>
                <a:r>
                  <a:rPr lang="ru-RU" sz="2000" kern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описывает множество отрицательных чисел.</a:t>
                </a:r>
              </a:p>
              <a:p>
                <a:pPr algn="just"/>
                <a:r>
                  <a:rPr lang="ru-RU" sz="2000" kern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Само по себе оно не истинно и не ложно, пока переменной не присвоено конкретное значение из области определения.</a:t>
                </a:r>
              </a:p>
              <a:p>
                <a:pPr algn="just"/>
                <a:endParaRPr lang="ru-RU" sz="20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ru-RU" sz="20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4">
                <a:extLst>
                  <a:ext uri="{FF2B5EF4-FFF2-40B4-BE49-F238E27FC236}">
                    <a16:creationId xmlns:a16="http://schemas.microsoft.com/office/drawing/2014/main" id="{F57B5A2B-1159-854B-E0B7-494F593B8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503" y="744664"/>
                <a:ext cx="10858994" cy="1870640"/>
              </a:xfrm>
              <a:prstGeom prst="rect">
                <a:avLst/>
              </a:prstGeom>
              <a:blipFill>
                <a:blip r:embed="rId3"/>
                <a:stretch>
                  <a:fillRect l="-561" t="-1629" r="-5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31E139-C4D2-6EE9-F1E6-15E40290CB12}"/>
                  </a:ext>
                </a:extLst>
              </p:cNvPr>
              <p:cNvSpPr txBox="1"/>
              <p:nvPr/>
            </p:nvSpPr>
            <p:spPr>
              <a:xfrm>
                <a:off x="666503" y="2686532"/>
                <a:ext cx="1085899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11113" algn="just"/>
                <a:r>
                  <a:rPr lang="ru-RU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Какое множество на координатной плоскости задает предикат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≤0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r>
                  <a:rPr lang="ru-RU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31E139-C4D2-6EE9-F1E6-15E40290C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503" y="2686532"/>
                <a:ext cx="10858994" cy="400110"/>
              </a:xfrm>
              <a:prstGeom prst="rect">
                <a:avLst/>
              </a:prstGeom>
              <a:blipFill>
                <a:blip r:embed="rId4"/>
                <a:stretch>
                  <a:fillRect l="-449" t="-9231" b="-2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DB2C702-DBCF-871E-A9F8-D9FD76B9DA88}"/>
              </a:ext>
            </a:extLst>
          </p:cNvPr>
          <p:cNvGrpSpPr/>
          <p:nvPr/>
        </p:nvGrpSpPr>
        <p:grpSpPr>
          <a:xfrm>
            <a:off x="4473678" y="3429000"/>
            <a:ext cx="2639328" cy="2486639"/>
            <a:chOff x="5184775" y="3248553"/>
            <a:chExt cx="2751917" cy="2592715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391815A6-33EE-6AB4-E925-046EB7F62315}"/>
                </a:ext>
              </a:extLst>
            </p:cNvPr>
            <p:cNvGrpSpPr/>
            <p:nvPr/>
          </p:nvGrpSpPr>
          <p:grpSpPr>
            <a:xfrm>
              <a:off x="5184775" y="3429000"/>
              <a:ext cx="2412268" cy="2412268"/>
              <a:chOff x="5328084" y="3392996"/>
              <a:chExt cx="2412268" cy="2412268"/>
            </a:xfrm>
          </p:grpSpPr>
          <p:sp>
            <p:nvSpPr>
              <p:cNvPr id="9" name="Круговая 14">
                <a:extLst>
                  <a:ext uri="{FF2B5EF4-FFF2-40B4-BE49-F238E27FC236}">
                    <a16:creationId xmlns:a16="http://schemas.microsoft.com/office/drawing/2014/main" id="{6A1A44FC-77FE-67A7-1116-F837345A6E9A}"/>
                  </a:ext>
                </a:extLst>
              </p:cNvPr>
              <p:cNvSpPr/>
              <p:nvPr/>
            </p:nvSpPr>
            <p:spPr>
              <a:xfrm rot="5400000">
                <a:off x="5408498" y="3634613"/>
                <a:ext cx="2245973" cy="2023530"/>
              </a:xfrm>
              <a:custGeom>
                <a:avLst/>
                <a:gdLst>
                  <a:gd name="connsiteX0" fmla="*/ 2160240 w 2160240"/>
                  <a:gd name="connsiteY0" fmla="*/ 981990 h 1963979"/>
                  <a:gd name="connsiteX1" fmla="*/ 1080120 w 2160240"/>
                  <a:gd name="connsiteY1" fmla="*/ 1963980 h 1963979"/>
                  <a:gd name="connsiteX2" fmla="*/ 0 w 2160240"/>
                  <a:gd name="connsiteY2" fmla="*/ 981990 h 1963979"/>
                  <a:gd name="connsiteX3" fmla="*/ 1080120 w 2160240"/>
                  <a:gd name="connsiteY3" fmla="*/ 0 h 1963979"/>
                  <a:gd name="connsiteX4" fmla="*/ 1080120 w 2160240"/>
                  <a:gd name="connsiteY4" fmla="*/ 981990 h 1963979"/>
                  <a:gd name="connsiteX5" fmla="*/ 2160240 w 2160240"/>
                  <a:gd name="connsiteY5" fmla="*/ 981990 h 1963979"/>
                  <a:gd name="connsiteX0" fmla="*/ 2218400 w 2218400"/>
                  <a:gd name="connsiteY0" fmla="*/ 981990 h 1997524"/>
                  <a:gd name="connsiteX1" fmla="*/ 1138280 w 2218400"/>
                  <a:gd name="connsiteY1" fmla="*/ 1963980 h 1997524"/>
                  <a:gd name="connsiteX2" fmla="*/ 250406 w 2218400"/>
                  <a:gd name="connsiteY2" fmla="*/ 1695979 h 1997524"/>
                  <a:gd name="connsiteX3" fmla="*/ 58160 w 2218400"/>
                  <a:gd name="connsiteY3" fmla="*/ 981990 h 1997524"/>
                  <a:gd name="connsiteX4" fmla="*/ 1138280 w 2218400"/>
                  <a:gd name="connsiteY4" fmla="*/ 0 h 1997524"/>
                  <a:gd name="connsiteX5" fmla="*/ 1138280 w 2218400"/>
                  <a:gd name="connsiteY5" fmla="*/ 981990 h 1997524"/>
                  <a:gd name="connsiteX6" fmla="*/ 2218400 w 2218400"/>
                  <a:gd name="connsiteY6" fmla="*/ 981990 h 1997524"/>
                  <a:gd name="connsiteX0" fmla="*/ 2162855 w 2162855"/>
                  <a:gd name="connsiteY0" fmla="*/ 990319 h 2005853"/>
                  <a:gd name="connsiteX1" fmla="*/ 1082735 w 2162855"/>
                  <a:gd name="connsiteY1" fmla="*/ 1972309 h 2005853"/>
                  <a:gd name="connsiteX2" fmla="*/ 194861 w 2162855"/>
                  <a:gd name="connsiteY2" fmla="*/ 1704308 h 2005853"/>
                  <a:gd name="connsiteX3" fmla="*/ 2615 w 2162855"/>
                  <a:gd name="connsiteY3" fmla="*/ 990319 h 2005853"/>
                  <a:gd name="connsiteX4" fmla="*/ 267429 w 2162855"/>
                  <a:gd name="connsiteY4" fmla="*/ 543165 h 2005853"/>
                  <a:gd name="connsiteX5" fmla="*/ 1082735 w 2162855"/>
                  <a:gd name="connsiteY5" fmla="*/ 8329 h 2005853"/>
                  <a:gd name="connsiteX6" fmla="*/ 1082735 w 2162855"/>
                  <a:gd name="connsiteY6" fmla="*/ 990319 h 2005853"/>
                  <a:gd name="connsiteX7" fmla="*/ 2162855 w 2162855"/>
                  <a:gd name="connsiteY7" fmla="*/ 990319 h 2005853"/>
                  <a:gd name="connsiteX0" fmla="*/ 2162855 w 2162855"/>
                  <a:gd name="connsiteY0" fmla="*/ 993927 h 2009461"/>
                  <a:gd name="connsiteX1" fmla="*/ 1082735 w 2162855"/>
                  <a:gd name="connsiteY1" fmla="*/ 1975917 h 2009461"/>
                  <a:gd name="connsiteX2" fmla="*/ 194861 w 2162855"/>
                  <a:gd name="connsiteY2" fmla="*/ 1707916 h 2009461"/>
                  <a:gd name="connsiteX3" fmla="*/ 2615 w 2162855"/>
                  <a:gd name="connsiteY3" fmla="*/ 993927 h 2009461"/>
                  <a:gd name="connsiteX4" fmla="*/ 267429 w 2162855"/>
                  <a:gd name="connsiteY4" fmla="*/ 546773 h 2009461"/>
                  <a:gd name="connsiteX5" fmla="*/ 1082735 w 2162855"/>
                  <a:gd name="connsiteY5" fmla="*/ 11937 h 2009461"/>
                  <a:gd name="connsiteX6" fmla="*/ 1082735 w 2162855"/>
                  <a:gd name="connsiteY6" fmla="*/ 993927 h 2009461"/>
                  <a:gd name="connsiteX7" fmla="*/ 2162855 w 2162855"/>
                  <a:gd name="connsiteY7" fmla="*/ 993927 h 2009461"/>
                  <a:gd name="connsiteX0" fmla="*/ 2185350 w 2185350"/>
                  <a:gd name="connsiteY0" fmla="*/ 993927 h 2009461"/>
                  <a:gd name="connsiteX1" fmla="*/ 1105230 w 2185350"/>
                  <a:gd name="connsiteY1" fmla="*/ 1975917 h 2009461"/>
                  <a:gd name="connsiteX2" fmla="*/ 217356 w 2185350"/>
                  <a:gd name="connsiteY2" fmla="*/ 1707916 h 2009461"/>
                  <a:gd name="connsiteX3" fmla="*/ 25110 w 2185350"/>
                  <a:gd name="connsiteY3" fmla="*/ 993927 h 2009461"/>
                  <a:gd name="connsiteX4" fmla="*/ 289924 w 2185350"/>
                  <a:gd name="connsiteY4" fmla="*/ 546773 h 2009461"/>
                  <a:gd name="connsiteX5" fmla="*/ 1105230 w 2185350"/>
                  <a:gd name="connsiteY5" fmla="*/ 11937 h 2009461"/>
                  <a:gd name="connsiteX6" fmla="*/ 1105230 w 2185350"/>
                  <a:gd name="connsiteY6" fmla="*/ 993927 h 2009461"/>
                  <a:gd name="connsiteX7" fmla="*/ 2185350 w 2185350"/>
                  <a:gd name="connsiteY7" fmla="*/ 993927 h 2009461"/>
                  <a:gd name="connsiteX0" fmla="*/ 2233301 w 2233301"/>
                  <a:gd name="connsiteY0" fmla="*/ 1005700 h 2021234"/>
                  <a:gd name="connsiteX1" fmla="*/ 1153181 w 2233301"/>
                  <a:gd name="connsiteY1" fmla="*/ 1987690 h 2021234"/>
                  <a:gd name="connsiteX2" fmla="*/ 265307 w 2233301"/>
                  <a:gd name="connsiteY2" fmla="*/ 1719689 h 2021234"/>
                  <a:gd name="connsiteX3" fmla="*/ 73061 w 2233301"/>
                  <a:gd name="connsiteY3" fmla="*/ 1005700 h 2021234"/>
                  <a:gd name="connsiteX4" fmla="*/ 250792 w 2233301"/>
                  <a:gd name="connsiteY4" fmla="*/ 369861 h 2021234"/>
                  <a:gd name="connsiteX5" fmla="*/ 1153181 w 2233301"/>
                  <a:gd name="connsiteY5" fmla="*/ 23710 h 2021234"/>
                  <a:gd name="connsiteX6" fmla="*/ 1153181 w 2233301"/>
                  <a:gd name="connsiteY6" fmla="*/ 1005700 h 2021234"/>
                  <a:gd name="connsiteX7" fmla="*/ 2233301 w 2233301"/>
                  <a:gd name="connsiteY7" fmla="*/ 1005700 h 2021234"/>
                  <a:gd name="connsiteX0" fmla="*/ 2233301 w 2233301"/>
                  <a:gd name="connsiteY0" fmla="*/ 1005700 h 2021234"/>
                  <a:gd name="connsiteX1" fmla="*/ 1153181 w 2233301"/>
                  <a:gd name="connsiteY1" fmla="*/ 1987690 h 2021234"/>
                  <a:gd name="connsiteX2" fmla="*/ 265307 w 2233301"/>
                  <a:gd name="connsiteY2" fmla="*/ 1719689 h 2021234"/>
                  <a:gd name="connsiteX3" fmla="*/ 73061 w 2233301"/>
                  <a:gd name="connsiteY3" fmla="*/ 1005700 h 2021234"/>
                  <a:gd name="connsiteX4" fmla="*/ 250792 w 2233301"/>
                  <a:gd name="connsiteY4" fmla="*/ 369861 h 2021234"/>
                  <a:gd name="connsiteX5" fmla="*/ 1153181 w 2233301"/>
                  <a:gd name="connsiteY5" fmla="*/ 23710 h 2021234"/>
                  <a:gd name="connsiteX6" fmla="*/ 1153181 w 2233301"/>
                  <a:gd name="connsiteY6" fmla="*/ 1005700 h 2021234"/>
                  <a:gd name="connsiteX7" fmla="*/ 2233301 w 2233301"/>
                  <a:gd name="connsiteY7" fmla="*/ 1005700 h 2021234"/>
                  <a:gd name="connsiteX0" fmla="*/ 2233300 w 2233300"/>
                  <a:gd name="connsiteY0" fmla="*/ 1005700 h 2021234"/>
                  <a:gd name="connsiteX1" fmla="*/ 1153180 w 2233300"/>
                  <a:gd name="connsiteY1" fmla="*/ 1987690 h 2021234"/>
                  <a:gd name="connsiteX2" fmla="*/ 265306 w 2233300"/>
                  <a:gd name="connsiteY2" fmla="*/ 1719689 h 2021234"/>
                  <a:gd name="connsiteX3" fmla="*/ 73060 w 2233300"/>
                  <a:gd name="connsiteY3" fmla="*/ 1005700 h 2021234"/>
                  <a:gd name="connsiteX4" fmla="*/ 250794 w 2233300"/>
                  <a:gd name="connsiteY4" fmla="*/ 369861 h 2021234"/>
                  <a:gd name="connsiteX5" fmla="*/ 1153180 w 2233300"/>
                  <a:gd name="connsiteY5" fmla="*/ 23710 h 2021234"/>
                  <a:gd name="connsiteX6" fmla="*/ 1153180 w 2233300"/>
                  <a:gd name="connsiteY6" fmla="*/ 1005700 h 2021234"/>
                  <a:gd name="connsiteX7" fmla="*/ 2233300 w 2233300"/>
                  <a:gd name="connsiteY7" fmla="*/ 1005700 h 2021234"/>
                  <a:gd name="connsiteX0" fmla="*/ 2171673 w 2171673"/>
                  <a:gd name="connsiteY0" fmla="*/ 1005700 h 2021234"/>
                  <a:gd name="connsiteX1" fmla="*/ 1091553 w 2171673"/>
                  <a:gd name="connsiteY1" fmla="*/ 1987690 h 2021234"/>
                  <a:gd name="connsiteX2" fmla="*/ 203679 w 2171673"/>
                  <a:gd name="connsiteY2" fmla="*/ 1719689 h 2021234"/>
                  <a:gd name="connsiteX3" fmla="*/ 11433 w 2171673"/>
                  <a:gd name="connsiteY3" fmla="*/ 1005700 h 2021234"/>
                  <a:gd name="connsiteX4" fmla="*/ 189167 w 2171673"/>
                  <a:gd name="connsiteY4" fmla="*/ 369861 h 2021234"/>
                  <a:gd name="connsiteX5" fmla="*/ 1091553 w 2171673"/>
                  <a:gd name="connsiteY5" fmla="*/ 23710 h 2021234"/>
                  <a:gd name="connsiteX6" fmla="*/ 1091553 w 2171673"/>
                  <a:gd name="connsiteY6" fmla="*/ 1005700 h 2021234"/>
                  <a:gd name="connsiteX7" fmla="*/ 2171673 w 2171673"/>
                  <a:gd name="connsiteY7" fmla="*/ 1005700 h 2021234"/>
                  <a:gd name="connsiteX0" fmla="*/ 2160265 w 2160265"/>
                  <a:gd name="connsiteY0" fmla="*/ 1009032 h 2024566"/>
                  <a:gd name="connsiteX1" fmla="*/ 1080145 w 2160265"/>
                  <a:gd name="connsiteY1" fmla="*/ 1991022 h 2024566"/>
                  <a:gd name="connsiteX2" fmla="*/ 192271 w 2160265"/>
                  <a:gd name="connsiteY2" fmla="*/ 1723021 h 2024566"/>
                  <a:gd name="connsiteX3" fmla="*/ 25 w 2160265"/>
                  <a:gd name="connsiteY3" fmla="*/ 1009032 h 2024566"/>
                  <a:gd name="connsiteX4" fmla="*/ 177759 w 2160265"/>
                  <a:gd name="connsiteY4" fmla="*/ 373193 h 2024566"/>
                  <a:gd name="connsiteX5" fmla="*/ 1080145 w 2160265"/>
                  <a:gd name="connsiteY5" fmla="*/ 27042 h 2024566"/>
                  <a:gd name="connsiteX6" fmla="*/ 1080145 w 2160265"/>
                  <a:gd name="connsiteY6" fmla="*/ 1009032 h 2024566"/>
                  <a:gd name="connsiteX7" fmla="*/ 2160265 w 2160265"/>
                  <a:gd name="connsiteY7" fmla="*/ 1009032 h 2024566"/>
                  <a:gd name="connsiteX0" fmla="*/ 2160265 w 2160265"/>
                  <a:gd name="connsiteY0" fmla="*/ 1009032 h 2024566"/>
                  <a:gd name="connsiteX1" fmla="*/ 1080145 w 2160265"/>
                  <a:gd name="connsiteY1" fmla="*/ 1991022 h 2024566"/>
                  <a:gd name="connsiteX2" fmla="*/ 192271 w 2160265"/>
                  <a:gd name="connsiteY2" fmla="*/ 1723021 h 2024566"/>
                  <a:gd name="connsiteX3" fmla="*/ 25 w 2160265"/>
                  <a:gd name="connsiteY3" fmla="*/ 1009032 h 2024566"/>
                  <a:gd name="connsiteX4" fmla="*/ 177759 w 2160265"/>
                  <a:gd name="connsiteY4" fmla="*/ 373193 h 2024566"/>
                  <a:gd name="connsiteX5" fmla="*/ 1080145 w 2160265"/>
                  <a:gd name="connsiteY5" fmla="*/ 27042 h 2024566"/>
                  <a:gd name="connsiteX6" fmla="*/ 1080145 w 2160265"/>
                  <a:gd name="connsiteY6" fmla="*/ 1009032 h 2024566"/>
                  <a:gd name="connsiteX7" fmla="*/ 2160265 w 2160265"/>
                  <a:gd name="connsiteY7" fmla="*/ 1009032 h 2024566"/>
                  <a:gd name="connsiteX0" fmla="*/ 2160265 w 2160265"/>
                  <a:gd name="connsiteY0" fmla="*/ 1009032 h 2074667"/>
                  <a:gd name="connsiteX1" fmla="*/ 1080145 w 2160265"/>
                  <a:gd name="connsiteY1" fmla="*/ 1991022 h 2074667"/>
                  <a:gd name="connsiteX2" fmla="*/ 192271 w 2160265"/>
                  <a:gd name="connsiteY2" fmla="*/ 1723021 h 2074667"/>
                  <a:gd name="connsiteX3" fmla="*/ 25 w 2160265"/>
                  <a:gd name="connsiteY3" fmla="*/ 1009032 h 2074667"/>
                  <a:gd name="connsiteX4" fmla="*/ 177759 w 2160265"/>
                  <a:gd name="connsiteY4" fmla="*/ 373193 h 2074667"/>
                  <a:gd name="connsiteX5" fmla="*/ 1080145 w 2160265"/>
                  <a:gd name="connsiteY5" fmla="*/ 27042 h 2074667"/>
                  <a:gd name="connsiteX6" fmla="*/ 1080145 w 2160265"/>
                  <a:gd name="connsiteY6" fmla="*/ 1009032 h 2074667"/>
                  <a:gd name="connsiteX7" fmla="*/ 2160265 w 2160265"/>
                  <a:gd name="connsiteY7" fmla="*/ 1009032 h 2074667"/>
                  <a:gd name="connsiteX0" fmla="*/ 2160265 w 2170608"/>
                  <a:gd name="connsiteY0" fmla="*/ 1009032 h 2024957"/>
                  <a:gd name="connsiteX1" fmla="*/ 1585639 w 2170608"/>
                  <a:gd name="connsiteY1" fmla="*/ 1708506 h 2024957"/>
                  <a:gd name="connsiteX2" fmla="*/ 1080145 w 2170608"/>
                  <a:gd name="connsiteY2" fmla="*/ 1991022 h 2024957"/>
                  <a:gd name="connsiteX3" fmla="*/ 192271 w 2170608"/>
                  <a:gd name="connsiteY3" fmla="*/ 1723021 h 2024957"/>
                  <a:gd name="connsiteX4" fmla="*/ 25 w 2170608"/>
                  <a:gd name="connsiteY4" fmla="*/ 1009032 h 2024957"/>
                  <a:gd name="connsiteX5" fmla="*/ 177759 w 2170608"/>
                  <a:gd name="connsiteY5" fmla="*/ 373193 h 2024957"/>
                  <a:gd name="connsiteX6" fmla="*/ 1080145 w 2170608"/>
                  <a:gd name="connsiteY6" fmla="*/ 27042 h 2024957"/>
                  <a:gd name="connsiteX7" fmla="*/ 1080145 w 2170608"/>
                  <a:gd name="connsiteY7" fmla="*/ 1009032 h 2024957"/>
                  <a:gd name="connsiteX8" fmla="*/ 2160265 w 2170608"/>
                  <a:gd name="connsiteY8" fmla="*/ 1009032 h 2024957"/>
                  <a:gd name="connsiteX0" fmla="*/ 2160265 w 2170114"/>
                  <a:gd name="connsiteY0" fmla="*/ 1009032 h 2024957"/>
                  <a:gd name="connsiteX1" fmla="*/ 1585639 w 2170114"/>
                  <a:gd name="connsiteY1" fmla="*/ 1708506 h 2024957"/>
                  <a:gd name="connsiteX2" fmla="*/ 1080145 w 2170114"/>
                  <a:gd name="connsiteY2" fmla="*/ 1991022 h 2024957"/>
                  <a:gd name="connsiteX3" fmla="*/ 192271 w 2170114"/>
                  <a:gd name="connsiteY3" fmla="*/ 1723021 h 2024957"/>
                  <a:gd name="connsiteX4" fmla="*/ 25 w 2170114"/>
                  <a:gd name="connsiteY4" fmla="*/ 1009032 h 2024957"/>
                  <a:gd name="connsiteX5" fmla="*/ 177759 w 2170114"/>
                  <a:gd name="connsiteY5" fmla="*/ 373193 h 2024957"/>
                  <a:gd name="connsiteX6" fmla="*/ 1080145 w 2170114"/>
                  <a:gd name="connsiteY6" fmla="*/ 27042 h 2024957"/>
                  <a:gd name="connsiteX7" fmla="*/ 1080145 w 2170114"/>
                  <a:gd name="connsiteY7" fmla="*/ 1009032 h 2024957"/>
                  <a:gd name="connsiteX8" fmla="*/ 2160265 w 2170114"/>
                  <a:gd name="connsiteY8" fmla="*/ 1009032 h 2024957"/>
                  <a:gd name="connsiteX0" fmla="*/ 2160265 w 2170649"/>
                  <a:gd name="connsiteY0" fmla="*/ 1009032 h 2024957"/>
                  <a:gd name="connsiteX1" fmla="*/ 1585639 w 2170649"/>
                  <a:gd name="connsiteY1" fmla="*/ 1708506 h 2024957"/>
                  <a:gd name="connsiteX2" fmla="*/ 1080145 w 2170649"/>
                  <a:gd name="connsiteY2" fmla="*/ 1991022 h 2024957"/>
                  <a:gd name="connsiteX3" fmla="*/ 192271 w 2170649"/>
                  <a:gd name="connsiteY3" fmla="*/ 1723021 h 2024957"/>
                  <a:gd name="connsiteX4" fmla="*/ 25 w 2170649"/>
                  <a:gd name="connsiteY4" fmla="*/ 1009032 h 2024957"/>
                  <a:gd name="connsiteX5" fmla="*/ 177759 w 2170649"/>
                  <a:gd name="connsiteY5" fmla="*/ 373193 h 2024957"/>
                  <a:gd name="connsiteX6" fmla="*/ 1080145 w 2170649"/>
                  <a:gd name="connsiteY6" fmla="*/ 27042 h 2024957"/>
                  <a:gd name="connsiteX7" fmla="*/ 1080145 w 2170649"/>
                  <a:gd name="connsiteY7" fmla="*/ 1009032 h 2024957"/>
                  <a:gd name="connsiteX8" fmla="*/ 2160265 w 2170649"/>
                  <a:gd name="connsiteY8" fmla="*/ 1009032 h 2024957"/>
                  <a:gd name="connsiteX0" fmla="*/ 2160265 w 2177993"/>
                  <a:gd name="connsiteY0" fmla="*/ 1009032 h 2022950"/>
                  <a:gd name="connsiteX1" fmla="*/ 1803353 w 2177993"/>
                  <a:gd name="connsiteY1" fmla="*/ 1737535 h 2022950"/>
                  <a:gd name="connsiteX2" fmla="*/ 1080145 w 2177993"/>
                  <a:gd name="connsiteY2" fmla="*/ 1991022 h 2022950"/>
                  <a:gd name="connsiteX3" fmla="*/ 192271 w 2177993"/>
                  <a:gd name="connsiteY3" fmla="*/ 1723021 h 2022950"/>
                  <a:gd name="connsiteX4" fmla="*/ 25 w 2177993"/>
                  <a:gd name="connsiteY4" fmla="*/ 1009032 h 2022950"/>
                  <a:gd name="connsiteX5" fmla="*/ 177759 w 2177993"/>
                  <a:gd name="connsiteY5" fmla="*/ 373193 h 2022950"/>
                  <a:gd name="connsiteX6" fmla="*/ 1080145 w 2177993"/>
                  <a:gd name="connsiteY6" fmla="*/ 27042 h 2022950"/>
                  <a:gd name="connsiteX7" fmla="*/ 1080145 w 2177993"/>
                  <a:gd name="connsiteY7" fmla="*/ 1009032 h 2022950"/>
                  <a:gd name="connsiteX8" fmla="*/ 2160265 w 2177993"/>
                  <a:gd name="connsiteY8" fmla="*/ 1009032 h 2022950"/>
                  <a:gd name="connsiteX0" fmla="*/ 2160265 w 2172870"/>
                  <a:gd name="connsiteY0" fmla="*/ 1009032 h 2026203"/>
                  <a:gd name="connsiteX1" fmla="*/ 1803353 w 2172870"/>
                  <a:gd name="connsiteY1" fmla="*/ 1737535 h 2026203"/>
                  <a:gd name="connsiteX2" fmla="*/ 1080145 w 2172870"/>
                  <a:gd name="connsiteY2" fmla="*/ 1991022 h 2026203"/>
                  <a:gd name="connsiteX3" fmla="*/ 192271 w 2172870"/>
                  <a:gd name="connsiteY3" fmla="*/ 1723021 h 2026203"/>
                  <a:gd name="connsiteX4" fmla="*/ 25 w 2172870"/>
                  <a:gd name="connsiteY4" fmla="*/ 1009032 h 2026203"/>
                  <a:gd name="connsiteX5" fmla="*/ 177759 w 2172870"/>
                  <a:gd name="connsiteY5" fmla="*/ 373193 h 2026203"/>
                  <a:gd name="connsiteX6" fmla="*/ 1080145 w 2172870"/>
                  <a:gd name="connsiteY6" fmla="*/ 27042 h 2026203"/>
                  <a:gd name="connsiteX7" fmla="*/ 1080145 w 2172870"/>
                  <a:gd name="connsiteY7" fmla="*/ 1009032 h 2026203"/>
                  <a:gd name="connsiteX8" fmla="*/ 2160265 w 2172870"/>
                  <a:gd name="connsiteY8" fmla="*/ 1009032 h 2026203"/>
                  <a:gd name="connsiteX0" fmla="*/ 2160265 w 2216680"/>
                  <a:gd name="connsiteY0" fmla="*/ 1009032 h 2022950"/>
                  <a:gd name="connsiteX1" fmla="*/ 2050098 w 2216680"/>
                  <a:gd name="connsiteY1" fmla="*/ 1360164 h 2022950"/>
                  <a:gd name="connsiteX2" fmla="*/ 1803353 w 2216680"/>
                  <a:gd name="connsiteY2" fmla="*/ 1737535 h 2022950"/>
                  <a:gd name="connsiteX3" fmla="*/ 1080145 w 2216680"/>
                  <a:gd name="connsiteY3" fmla="*/ 1991022 h 2022950"/>
                  <a:gd name="connsiteX4" fmla="*/ 192271 w 2216680"/>
                  <a:gd name="connsiteY4" fmla="*/ 1723021 h 2022950"/>
                  <a:gd name="connsiteX5" fmla="*/ 25 w 2216680"/>
                  <a:gd name="connsiteY5" fmla="*/ 1009032 h 2022950"/>
                  <a:gd name="connsiteX6" fmla="*/ 177759 w 2216680"/>
                  <a:gd name="connsiteY6" fmla="*/ 373193 h 2022950"/>
                  <a:gd name="connsiteX7" fmla="*/ 1080145 w 2216680"/>
                  <a:gd name="connsiteY7" fmla="*/ 27042 h 2022950"/>
                  <a:gd name="connsiteX8" fmla="*/ 1080145 w 2216680"/>
                  <a:gd name="connsiteY8" fmla="*/ 1009032 h 2022950"/>
                  <a:gd name="connsiteX9" fmla="*/ 2160265 w 2216680"/>
                  <a:gd name="connsiteY9" fmla="*/ 1009032 h 2022950"/>
                  <a:gd name="connsiteX0" fmla="*/ 2160265 w 2219796"/>
                  <a:gd name="connsiteY0" fmla="*/ 1009032 h 2022950"/>
                  <a:gd name="connsiteX1" fmla="*/ 2050098 w 2219796"/>
                  <a:gd name="connsiteY1" fmla="*/ 1360164 h 2022950"/>
                  <a:gd name="connsiteX2" fmla="*/ 1803353 w 2219796"/>
                  <a:gd name="connsiteY2" fmla="*/ 1737535 h 2022950"/>
                  <a:gd name="connsiteX3" fmla="*/ 1080145 w 2219796"/>
                  <a:gd name="connsiteY3" fmla="*/ 1991022 h 2022950"/>
                  <a:gd name="connsiteX4" fmla="*/ 192271 w 2219796"/>
                  <a:gd name="connsiteY4" fmla="*/ 1723021 h 2022950"/>
                  <a:gd name="connsiteX5" fmla="*/ 25 w 2219796"/>
                  <a:gd name="connsiteY5" fmla="*/ 1009032 h 2022950"/>
                  <a:gd name="connsiteX6" fmla="*/ 177759 w 2219796"/>
                  <a:gd name="connsiteY6" fmla="*/ 373193 h 2022950"/>
                  <a:gd name="connsiteX7" fmla="*/ 1080145 w 2219796"/>
                  <a:gd name="connsiteY7" fmla="*/ 27042 h 2022950"/>
                  <a:gd name="connsiteX8" fmla="*/ 1080145 w 2219796"/>
                  <a:gd name="connsiteY8" fmla="*/ 1009032 h 2022950"/>
                  <a:gd name="connsiteX9" fmla="*/ 2160265 w 2219796"/>
                  <a:gd name="connsiteY9" fmla="*/ 1009032 h 2022950"/>
                  <a:gd name="connsiteX0" fmla="*/ 2160265 w 2213599"/>
                  <a:gd name="connsiteY0" fmla="*/ 1009032 h 2022950"/>
                  <a:gd name="connsiteX1" fmla="*/ 2050098 w 2213599"/>
                  <a:gd name="connsiteY1" fmla="*/ 1360164 h 2022950"/>
                  <a:gd name="connsiteX2" fmla="*/ 1803353 w 2213599"/>
                  <a:gd name="connsiteY2" fmla="*/ 1737535 h 2022950"/>
                  <a:gd name="connsiteX3" fmla="*/ 1080145 w 2213599"/>
                  <a:gd name="connsiteY3" fmla="*/ 1991022 h 2022950"/>
                  <a:gd name="connsiteX4" fmla="*/ 192271 w 2213599"/>
                  <a:gd name="connsiteY4" fmla="*/ 1723021 h 2022950"/>
                  <a:gd name="connsiteX5" fmla="*/ 25 w 2213599"/>
                  <a:gd name="connsiteY5" fmla="*/ 1009032 h 2022950"/>
                  <a:gd name="connsiteX6" fmla="*/ 177759 w 2213599"/>
                  <a:gd name="connsiteY6" fmla="*/ 373193 h 2022950"/>
                  <a:gd name="connsiteX7" fmla="*/ 1080145 w 2213599"/>
                  <a:gd name="connsiteY7" fmla="*/ 27042 h 2022950"/>
                  <a:gd name="connsiteX8" fmla="*/ 1080145 w 2213599"/>
                  <a:gd name="connsiteY8" fmla="*/ 1009032 h 2022950"/>
                  <a:gd name="connsiteX9" fmla="*/ 2160265 w 2213599"/>
                  <a:gd name="connsiteY9" fmla="*/ 1009032 h 2022950"/>
                  <a:gd name="connsiteX0" fmla="*/ 2160265 w 2222936"/>
                  <a:gd name="connsiteY0" fmla="*/ 1009032 h 2017962"/>
                  <a:gd name="connsiteX1" fmla="*/ 2050098 w 2222936"/>
                  <a:gd name="connsiteY1" fmla="*/ 1360164 h 2017962"/>
                  <a:gd name="connsiteX2" fmla="*/ 1687241 w 2222936"/>
                  <a:gd name="connsiteY2" fmla="*/ 1810106 h 2017962"/>
                  <a:gd name="connsiteX3" fmla="*/ 1080145 w 2222936"/>
                  <a:gd name="connsiteY3" fmla="*/ 1991022 h 2017962"/>
                  <a:gd name="connsiteX4" fmla="*/ 192271 w 2222936"/>
                  <a:gd name="connsiteY4" fmla="*/ 1723021 h 2017962"/>
                  <a:gd name="connsiteX5" fmla="*/ 25 w 2222936"/>
                  <a:gd name="connsiteY5" fmla="*/ 1009032 h 2017962"/>
                  <a:gd name="connsiteX6" fmla="*/ 177759 w 2222936"/>
                  <a:gd name="connsiteY6" fmla="*/ 373193 h 2017962"/>
                  <a:gd name="connsiteX7" fmla="*/ 1080145 w 2222936"/>
                  <a:gd name="connsiteY7" fmla="*/ 27042 h 2017962"/>
                  <a:gd name="connsiteX8" fmla="*/ 1080145 w 2222936"/>
                  <a:gd name="connsiteY8" fmla="*/ 1009032 h 2017962"/>
                  <a:gd name="connsiteX9" fmla="*/ 2160265 w 2222936"/>
                  <a:gd name="connsiteY9" fmla="*/ 1009032 h 2017962"/>
                  <a:gd name="connsiteX0" fmla="*/ 2160265 w 2240287"/>
                  <a:gd name="connsiteY0" fmla="*/ 1009032 h 2017962"/>
                  <a:gd name="connsiteX1" fmla="*/ 2122670 w 2240287"/>
                  <a:gd name="connsiteY1" fmla="*/ 1548850 h 2017962"/>
                  <a:gd name="connsiteX2" fmla="*/ 1687241 w 2240287"/>
                  <a:gd name="connsiteY2" fmla="*/ 1810106 h 2017962"/>
                  <a:gd name="connsiteX3" fmla="*/ 1080145 w 2240287"/>
                  <a:gd name="connsiteY3" fmla="*/ 1991022 h 2017962"/>
                  <a:gd name="connsiteX4" fmla="*/ 192271 w 2240287"/>
                  <a:gd name="connsiteY4" fmla="*/ 1723021 h 2017962"/>
                  <a:gd name="connsiteX5" fmla="*/ 25 w 2240287"/>
                  <a:gd name="connsiteY5" fmla="*/ 1009032 h 2017962"/>
                  <a:gd name="connsiteX6" fmla="*/ 177759 w 2240287"/>
                  <a:gd name="connsiteY6" fmla="*/ 373193 h 2017962"/>
                  <a:gd name="connsiteX7" fmla="*/ 1080145 w 2240287"/>
                  <a:gd name="connsiteY7" fmla="*/ 27042 h 2017962"/>
                  <a:gd name="connsiteX8" fmla="*/ 1080145 w 2240287"/>
                  <a:gd name="connsiteY8" fmla="*/ 1009032 h 2017962"/>
                  <a:gd name="connsiteX9" fmla="*/ 2160265 w 2240287"/>
                  <a:gd name="connsiteY9" fmla="*/ 1009032 h 2017962"/>
                  <a:gd name="connsiteX0" fmla="*/ 2160265 w 2245973"/>
                  <a:gd name="connsiteY0" fmla="*/ 1009032 h 2023530"/>
                  <a:gd name="connsiteX1" fmla="*/ 2122670 w 2245973"/>
                  <a:gd name="connsiteY1" fmla="*/ 1548850 h 2023530"/>
                  <a:gd name="connsiteX2" fmla="*/ 1556615 w 2245973"/>
                  <a:gd name="connsiteY2" fmla="*/ 1969763 h 2023530"/>
                  <a:gd name="connsiteX3" fmla="*/ 1080145 w 2245973"/>
                  <a:gd name="connsiteY3" fmla="*/ 1991022 h 2023530"/>
                  <a:gd name="connsiteX4" fmla="*/ 192271 w 2245973"/>
                  <a:gd name="connsiteY4" fmla="*/ 1723021 h 2023530"/>
                  <a:gd name="connsiteX5" fmla="*/ 25 w 2245973"/>
                  <a:gd name="connsiteY5" fmla="*/ 1009032 h 2023530"/>
                  <a:gd name="connsiteX6" fmla="*/ 177759 w 2245973"/>
                  <a:gd name="connsiteY6" fmla="*/ 373193 h 2023530"/>
                  <a:gd name="connsiteX7" fmla="*/ 1080145 w 2245973"/>
                  <a:gd name="connsiteY7" fmla="*/ 27042 h 2023530"/>
                  <a:gd name="connsiteX8" fmla="*/ 1080145 w 2245973"/>
                  <a:gd name="connsiteY8" fmla="*/ 1009032 h 2023530"/>
                  <a:gd name="connsiteX9" fmla="*/ 2160265 w 2245973"/>
                  <a:gd name="connsiteY9" fmla="*/ 1009032 h 202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45973" h="2023530">
                    <a:moveTo>
                      <a:pt x="2160265" y="1009032"/>
                    </a:moveTo>
                    <a:cubicBezTo>
                      <a:pt x="2321924" y="1067554"/>
                      <a:pt x="2223278" y="1388728"/>
                      <a:pt x="2122670" y="1548850"/>
                    </a:cubicBezTo>
                    <a:cubicBezTo>
                      <a:pt x="2022062" y="1708972"/>
                      <a:pt x="1730369" y="1896068"/>
                      <a:pt x="1556615" y="1969763"/>
                    </a:cubicBezTo>
                    <a:cubicBezTo>
                      <a:pt x="1382861" y="2043458"/>
                      <a:pt x="1307536" y="2032146"/>
                      <a:pt x="1080145" y="1991022"/>
                    </a:cubicBezTo>
                    <a:cubicBezTo>
                      <a:pt x="852754" y="1949898"/>
                      <a:pt x="314237" y="2162458"/>
                      <a:pt x="192271" y="1723021"/>
                    </a:cubicBezTo>
                    <a:cubicBezTo>
                      <a:pt x="70305" y="1283584"/>
                      <a:pt x="2444" y="1234003"/>
                      <a:pt x="25" y="1009032"/>
                    </a:cubicBezTo>
                    <a:cubicBezTo>
                      <a:pt x="-2394" y="784061"/>
                      <a:pt x="171904" y="725543"/>
                      <a:pt x="177759" y="373193"/>
                    </a:cubicBezTo>
                    <a:cubicBezTo>
                      <a:pt x="183614" y="20843"/>
                      <a:pt x="944261" y="-47484"/>
                      <a:pt x="1080145" y="27042"/>
                    </a:cubicBezTo>
                    <a:lnTo>
                      <a:pt x="1080145" y="1009032"/>
                    </a:lnTo>
                    <a:lnTo>
                      <a:pt x="2160265" y="1009032"/>
                    </a:lnTo>
                    <a:close/>
                  </a:path>
                </a:pathLst>
              </a:custGeom>
              <a:solidFill>
                <a:srgbClr val="A7E8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" name="Группа 9">
                <a:extLst>
                  <a:ext uri="{FF2B5EF4-FFF2-40B4-BE49-F238E27FC236}">
                    <a16:creationId xmlns:a16="http://schemas.microsoft.com/office/drawing/2014/main" id="{E2490E9B-64D9-869E-44A2-B06B08BF1EDF}"/>
                  </a:ext>
                </a:extLst>
              </p:cNvPr>
              <p:cNvGrpSpPr/>
              <p:nvPr/>
            </p:nvGrpSpPr>
            <p:grpSpPr>
              <a:xfrm>
                <a:off x="5328084" y="3392996"/>
                <a:ext cx="2412268" cy="2412268"/>
                <a:chOff x="5750514" y="3392996"/>
                <a:chExt cx="2412268" cy="2412268"/>
              </a:xfrm>
            </p:grpSpPr>
            <p:cxnSp>
              <p:nvCxnSpPr>
                <p:cNvPr id="11" name="Прямая со стрелкой 10">
                  <a:extLst>
                    <a:ext uri="{FF2B5EF4-FFF2-40B4-BE49-F238E27FC236}">
                      <a16:creationId xmlns:a16="http://schemas.microsoft.com/office/drawing/2014/main" id="{A3E15122-CCC1-CFC2-C9FF-5109930C1940}"/>
                    </a:ext>
                  </a:extLst>
                </p:cNvPr>
                <p:cNvCxnSpPr/>
                <p:nvPr/>
              </p:nvCxnSpPr>
              <p:spPr>
                <a:xfrm flipV="1">
                  <a:off x="6956648" y="3392996"/>
                  <a:ext cx="0" cy="2412268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Прямая со стрелкой 11">
                  <a:extLst>
                    <a:ext uri="{FF2B5EF4-FFF2-40B4-BE49-F238E27FC236}">
                      <a16:creationId xmlns:a16="http://schemas.microsoft.com/office/drawing/2014/main" id="{2F63DE8D-2AE1-F1D8-D9C3-89F3B189AE29}"/>
                    </a:ext>
                  </a:extLst>
                </p:cNvPr>
                <p:cNvCxnSpPr/>
                <p:nvPr/>
              </p:nvCxnSpPr>
              <p:spPr>
                <a:xfrm rot="5400000" flipV="1">
                  <a:off x="6956648" y="3392996"/>
                  <a:ext cx="0" cy="2412268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Прямоугольник 6">
                  <a:extLst>
                    <a:ext uri="{FF2B5EF4-FFF2-40B4-BE49-F238E27FC236}">
                      <a16:creationId xmlns:a16="http://schemas.microsoft.com/office/drawing/2014/main" id="{A2639F07-35CD-D571-87AA-C9287DA1C208}"/>
                    </a:ext>
                  </a:extLst>
                </p:cNvPr>
                <p:cNvSpPr/>
                <p:nvPr/>
              </p:nvSpPr>
              <p:spPr>
                <a:xfrm>
                  <a:off x="7489564" y="4248874"/>
                  <a:ext cx="447128" cy="44926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ru-RU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Прямоугольник 11">
                  <a:extLst>
                    <a:ext uri="{FF2B5EF4-FFF2-40B4-BE49-F238E27FC236}">
                      <a16:creationId xmlns:a16="http://schemas.microsoft.com/office/drawing/2014/main" id="{BD4F104F-53B7-3B55-2F23-A07B1A345D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9564" y="4248874"/>
                  <a:ext cx="447128" cy="44926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Прямоугольник 7">
                  <a:extLst>
                    <a:ext uri="{FF2B5EF4-FFF2-40B4-BE49-F238E27FC236}">
                      <a16:creationId xmlns:a16="http://schemas.microsoft.com/office/drawing/2014/main" id="{2C0086A0-0054-79B6-7281-80794A878178}"/>
                    </a:ext>
                  </a:extLst>
                </p:cNvPr>
                <p:cNvSpPr/>
                <p:nvPr/>
              </p:nvSpPr>
              <p:spPr>
                <a:xfrm>
                  <a:off x="6072216" y="3248553"/>
                  <a:ext cx="449936" cy="44926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ru-RU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Прямоугольник 12">
                  <a:extLst>
                    <a:ext uri="{FF2B5EF4-FFF2-40B4-BE49-F238E27FC236}">
                      <a16:creationId xmlns:a16="http://schemas.microsoft.com/office/drawing/2014/main" id="{973C584C-33D4-E4EB-CAE9-54D7F32E8F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2216" y="3248553"/>
                  <a:ext cx="449936" cy="449268"/>
                </a:xfrm>
                <a:prstGeom prst="rect">
                  <a:avLst/>
                </a:prstGeom>
                <a:blipFill>
                  <a:blip r:embed="rId6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13506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347FF-70F7-B752-14D6-DEEDCED3498E}"/>
              </a:ext>
            </a:extLst>
          </p:cNvPr>
          <p:cNvSpPr txBox="1">
            <a:spLocks/>
          </p:cNvSpPr>
          <p:nvPr/>
        </p:nvSpPr>
        <p:spPr>
          <a:xfrm>
            <a:off x="1310615" y="131626"/>
            <a:ext cx="9787703" cy="589809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/>
            <a:r>
              <a:rPr lang="ru-RU" sz="2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</a:p>
        </p:txBody>
      </p:sp>
      <p:sp>
        <p:nvSpPr>
          <p:cNvPr id="3" name="Объект 5">
            <a:extLst>
              <a:ext uri="{FF2B5EF4-FFF2-40B4-BE49-F238E27FC236}">
                <a16:creationId xmlns:a16="http://schemas.microsoft.com/office/drawing/2014/main" id="{CBAABDFA-08C1-C1DB-C271-15E8A19F5C80}"/>
              </a:ext>
            </a:extLst>
          </p:cNvPr>
          <p:cNvSpPr txBox="1">
            <a:spLocks/>
          </p:cNvSpPr>
          <p:nvPr/>
        </p:nvSpPr>
        <p:spPr>
          <a:xfrm>
            <a:off x="509590" y="815202"/>
            <a:ext cx="11267882" cy="1780514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ru-RU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Найдём все целые числа </a:t>
            </a:r>
            <a:r>
              <a:rPr lang="en" sz="2000" i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превращающие предикат </a:t>
            </a:r>
          </a:p>
          <a:p>
            <a:r>
              <a:rPr lang="en" sz="2000" i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sz="2000" i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en" sz="2000" i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5) &amp; (</a:t>
            </a:r>
            <a:r>
              <a:rPr lang="en" sz="2000" i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2 &lt; 15) </a:t>
            </a:r>
          </a:p>
          <a:p>
            <a:r>
              <a:rPr lang="ru-RU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истинное высказывание. Другими словами, требуется найти множество истинности предиката </a:t>
            </a:r>
            <a:r>
              <a:rPr lang="en" sz="2000" i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sz="2000" i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заданного на множестве целых чисел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ru-RU" sz="12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F388F3F0-18FB-FF97-9F52-B536BCA04323}"/>
              </a:ext>
            </a:extLst>
          </p:cNvPr>
          <p:cNvSpPr txBox="1">
            <a:spLocks/>
          </p:cNvSpPr>
          <p:nvPr/>
        </p:nvSpPr>
        <p:spPr>
          <a:xfrm>
            <a:off x="414528" y="2288011"/>
            <a:ext cx="11116412" cy="743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358775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Предикат 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состоит из двух предикатов, соединённых операцией конъюнкции: 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&amp; 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indent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B798F3D5-96AA-BF43-6657-FE564FC2B6D3}"/>
              </a:ext>
            </a:extLst>
          </p:cNvPr>
          <p:cNvSpPr txBox="1">
            <a:spLocks/>
          </p:cNvSpPr>
          <p:nvPr/>
        </p:nvSpPr>
        <p:spPr>
          <a:xfrm>
            <a:off x="661060" y="2977538"/>
            <a:ext cx="11116412" cy="743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358775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Множеством истинности предиката 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5)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являются целые числа 6, 7, 8 и т. д. Множеством истинности предиката 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2 &lt; 15)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являются все целые числа, меньшие 17. </a:t>
            </a:r>
          </a:p>
          <a:p>
            <a:pPr indent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C8529BCF-9243-50C6-281D-B70297BBDABF}"/>
              </a:ext>
            </a:extLst>
          </p:cNvPr>
          <p:cNvCxnSpPr/>
          <p:nvPr/>
        </p:nvCxnSpPr>
        <p:spPr>
          <a:xfrm>
            <a:off x="2776904" y="4888457"/>
            <a:ext cx="75470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Соединительная линия уступом 11">
            <a:extLst>
              <a:ext uri="{FF2B5EF4-FFF2-40B4-BE49-F238E27FC236}">
                <a16:creationId xmlns:a16="http://schemas.microsoft.com/office/drawing/2014/main" id="{BA6DB017-FB19-45EB-CEDA-EEB37D5DD6C7}"/>
              </a:ext>
            </a:extLst>
          </p:cNvPr>
          <p:cNvCxnSpPr>
            <a:cxnSpLocks/>
          </p:cNvCxnSpPr>
          <p:nvPr/>
        </p:nvCxnSpPr>
        <p:spPr>
          <a:xfrm>
            <a:off x="2569862" y="4549471"/>
            <a:ext cx="5010912" cy="338986"/>
          </a:xfrm>
          <a:prstGeom prst="bentConnector3">
            <a:avLst>
              <a:gd name="adj1" fmla="val 99878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Соединительная линия уступом 15">
            <a:extLst>
              <a:ext uri="{FF2B5EF4-FFF2-40B4-BE49-F238E27FC236}">
                <a16:creationId xmlns:a16="http://schemas.microsoft.com/office/drawing/2014/main" id="{EBD085B8-1E83-8FF4-CFC0-89766DD7C183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76359" y="4634217"/>
            <a:ext cx="3918321" cy="254238"/>
          </a:xfrm>
          <a:prstGeom prst="bentConnector3">
            <a:avLst>
              <a:gd name="adj1" fmla="val 100024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A0435F0-4121-5348-C90B-1FF7E3F981CB}"/>
              </a:ext>
            </a:extLst>
          </p:cNvPr>
          <p:cNvSpPr txBox="1"/>
          <p:nvPr/>
        </p:nvSpPr>
        <p:spPr>
          <a:xfrm>
            <a:off x="7364042" y="4888456"/>
            <a:ext cx="371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D7406C-6550-4F66-B12B-F5EA89C0B100}"/>
              </a:ext>
            </a:extLst>
          </p:cNvPr>
          <p:cNvSpPr txBox="1"/>
          <p:nvPr/>
        </p:nvSpPr>
        <p:spPr>
          <a:xfrm>
            <a:off x="5567610" y="4888455"/>
            <a:ext cx="371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C9098-4ACA-B53B-5AF1-3CF335A09B39}"/>
              </a:ext>
            </a:extLst>
          </p:cNvPr>
          <p:cNvSpPr txBox="1"/>
          <p:nvPr/>
        </p:nvSpPr>
        <p:spPr>
          <a:xfrm>
            <a:off x="10081405" y="4857281"/>
            <a:ext cx="371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77F095-9B9C-A580-8C1E-04D0B7018A4A}"/>
                  </a:ext>
                </a:extLst>
              </p:cNvPr>
              <p:cNvSpPr txBox="1"/>
              <p:nvPr/>
            </p:nvSpPr>
            <p:spPr>
              <a:xfrm>
                <a:off x="734104" y="5113742"/>
                <a:ext cx="1104336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Множество истинности исходного предиката — пересечение (общие элементы) множеств истинности образующих его предикатов: </a:t>
                </a:r>
                <a:endParaRPr lang="ru-RU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" sz="18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" sz="18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" sz="18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∩</m:t>
                    </m:r>
                  </m:oMath>
                </a14:m>
                <a:r>
                  <a:rPr lang="en" sz="18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:r>
                  <a:rPr lang="en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={6, 7, 8, 9, 10, 11, 12, 13, 14, 15, 16}. </a:t>
                </a:r>
                <a:endParaRPr lang="e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77F095-9B9C-A580-8C1E-04D0B7018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04" y="5113742"/>
                <a:ext cx="11043368" cy="923330"/>
              </a:xfrm>
              <a:prstGeom prst="rect">
                <a:avLst/>
              </a:prstGeom>
              <a:blipFill>
                <a:blip r:embed="rId3"/>
                <a:stretch>
                  <a:fillRect l="-442" t="-3974" b="-99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C3F0F0E-3AF5-EAFD-CF24-E5E32942ABA6}"/>
              </a:ext>
            </a:extLst>
          </p:cNvPr>
          <p:cNvSpPr txBox="1"/>
          <p:nvPr/>
        </p:nvSpPr>
        <p:spPr>
          <a:xfrm>
            <a:off x="734104" y="5949910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Его мощность |</a:t>
            </a:r>
            <a:r>
              <a:rPr lang="en" sz="1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| = 11. </a:t>
            </a:r>
            <a:endParaRPr lang="e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1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0" grpId="0"/>
      <p:bldP spid="11" grpId="0"/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D6532AB-F0C9-D791-FF15-CCC8A1F18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826" y="937862"/>
            <a:ext cx="7772400" cy="448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3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C36224-5817-466B-8B5D-61EB648298FD}"/>
              </a:ext>
            </a:extLst>
          </p:cNvPr>
          <p:cNvSpPr txBox="1"/>
          <p:nvPr/>
        </p:nvSpPr>
        <p:spPr>
          <a:xfrm>
            <a:off x="1012721" y="467350"/>
            <a:ext cx="1045169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2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Практика: построение таблиц истинности</a:t>
            </a:r>
            <a:endParaRPr lang="ru-RU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каждого выражения</a:t>
            </a:r>
            <a:endParaRPr lang="ru-RU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Определите переменные и число строк 2ⁿ.</a:t>
            </a:r>
            <a:endParaRPr lang="ru-RU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Выпишите все наборы: от 00…0 до 11…1.</a:t>
            </a:r>
            <a:endParaRPr lang="ru-RU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Укажите порядок действий и промежуточные столбцы.</a:t>
            </a:r>
            <a:endParaRPr lang="ru-RU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Вычислите итоговый столбец F.</a:t>
            </a:r>
            <a:endParaRPr lang="ru-RU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Назовите наборы, для которых F = 1.</a:t>
            </a:r>
            <a:endParaRPr lang="ru-RU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переменные: 4 строки      3 переменные: 8 строк</a:t>
            </a:r>
            <a:endParaRPr lang="ru-RU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188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78B6E5-B147-4530-BF8C-8041E309FA60}"/>
              </a:ext>
            </a:extLst>
          </p:cNvPr>
          <p:cNvSpPr txBox="1"/>
          <p:nvPr/>
        </p:nvSpPr>
        <p:spPr>
          <a:xfrm>
            <a:off x="1091381" y="249307"/>
            <a:ext cx="4021393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2000" b="1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 F = (¬A ∧ B) ∨ A</a:t>
            </a:r>
            <a:endParaRPr lang="ru-RU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 F = ¬(A ∨ B) ⊕ B</a:t>
            </a:r>
            <a:endParaRPr lang="ru-RU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ru-RU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422B75-419E-4126-9DB2-653C6EAACCFF}"/>
              </a:ext>
            </a:extLst>
          </p:cNvPr>
          <p:cNvSpPr txBox="1"/>
          <p:nvPr/>
        </p:nvSpPr>
        <p:spPr>
          <a:xfrm>
            <a:off x="1091381" y="1345774"/>
            <a:ext cx="45702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 F = (A → B) ∧ ¬B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 F = (A ↔ B) → (A ⊕ B)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2C4F9-B18A-413F-BC04-8ABE458A0FC0}"/>
              </a:ext>
            </a:extLst>
          </p:cNvPr>
          <p:cNvSpPr txBox="1"/>
          <p:nvPr/>
        </p:nvSpPr>
        <p:spPr>
          <a:xfrm>
            <a:off x="1091381" y="2442241"/>
            <a:ext cx="45702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  F = (A ∨ B) ∧ ¬C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  F = (A ∧ ¬B) → C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757E26-A3A8-4A50-A4C0-E9EFA19C3CF9}"/>
              </a:ext>
            </a:extLst>
          </p:cNvPr>
          <p:cNvSpPr txBox="1"/>
          <p:nvPr/>
        </p:nvSpPr>
        <p:spPr>
          <a:xfrm>
            <a:off x="1091381" y="342900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  F = (A ⊕ B) ↔ ¬C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  F = (A → B) ⊕ (C ∧ ¬A)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0116BE-F8D5-4ED1-B339-351DD21B905B}"/>
              </a:ext>
            </a:extLst>
          </p:cNvPr>
          <p:cNvSpPr txBox="1"/>
          <p:nvPr/>
        </p:nvSpPr>
        <p:spPr>
          <a:xfrm>
            <a:off x="1091381" y="448994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9.  F = ((A ∨ B) → C) ↔ ((A → C) ∧ (B → C))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  F = ((A ⊕ B) ∧ (B ↔ C)) → ¬(A ∨ C)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айдите все наборы, при которых F = 0.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102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90DE54-AD3F-1494-F894-76FE4DB55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938" y="530088"/>
            <a:ext cx="7999207" cy="524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65043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4787</Words>
  <Application>Microsoft Office PowerPoint</Application>
  <PresentationFormat>Широкоэкранный</PresentationFormat>
  <Paragraphs>403</Paragraphs>
  <Slides>21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0" baseType="lpstr">
      <vt:lpstr>Aptos</vt:lpstr>
      <vt:lpstr>Arial</vt:lpstr>
      <vt:lpstr>Calibri</vt:lpstr>
      <vt:lpstr>Cambria Math</vt:lpstr>
      <vt:lpstr>DejaVu Serif</vt:lpstr>
      <vt:lpstr>KyivType Sans Heavy</vt:lpstr>
      <vt:lpstr>Times New Roman</vt:lpstr>
      <vt:lpstr>Системный шрифт, обычный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Наиля Мавлюдова</dc:creator>
  <cp:lastModifiedBy>Наиля Мавлюдова</cp:lastModifiedBy>
  <cp:revision>10</cp:revision>
  <dcterms:created xsi:type="dcterms:W3CDTF">2026-10-12T09:22:27Z</dcterms:created>
  <dcterms:modified xsi:type="dcterms:W3CDTF">2026-10-13T07:09:34Z</dcterms:modified>
</cp:coreProperties>
</file>