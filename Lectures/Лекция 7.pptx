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0"/>
  </p:notesMasterIdLst>
  <p:sldIdLst>
    <p:sldId id="29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57" autoAdjust="0"/>
  </p:normalViewPr>
  <p:slideViewPr>
    <p:cSldViewPr snapToGrid="0" snapToObjects="1">
      <p:cViewPr varScale="1">
        <p:scale>
          <a:sx n="99" d="100"/>
          <a:sy n="99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совокупность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определённых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рассматриваемых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Каждый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отдельный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входящий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совокупность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называется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чисел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2, 4 и 6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элементами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являются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элементами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являются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Слово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определённых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рассматриваемого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однозначно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установить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конкретной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учебной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определённый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состав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Описание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интересные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учебные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предметы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дополнительного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критерия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неоднозначно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разные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люди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оценивают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интерес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по-разному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предметы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поставил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оценку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интереса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ниже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четырёх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пяти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состав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станет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определённым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обозначает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совокупность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целиком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обозначает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входящий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разница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сохраняется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независимо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природы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является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числового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файл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файлов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выбранной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папки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Теория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способы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описания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совокупностей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отношения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между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ними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позволяют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новые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Объединение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собирает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нескольких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пересечение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оставляет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случаях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точным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правилом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информатике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помогают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формулировать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обработки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сдавших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зачёт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сдавших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экзамен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пересечение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содержит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кто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выполнил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между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сдавших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зачёт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содержит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у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зачёт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пока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сдан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программировании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хранения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уникальных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проверки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наличия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исходных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фамилия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идентификатор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встречаются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несколько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позволяет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учитывать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различное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конкретные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структуры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команды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языках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программирования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могут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дополнительные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особенности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Математическая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описывает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прежде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состав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поиске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фильтрации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каждый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критерий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выделяет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товары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заданной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категории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товары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ниже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установленной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суммы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Пересечение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и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содержит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товары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удовлетворяющие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одновременно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обоим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условиям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таким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способом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описывать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Пусть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изучающие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Python, а B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изучающие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C#.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Объединение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и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кто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хотя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языков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включая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кто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Пересечение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изучающих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языка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и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изучающих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Python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изучающих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C#.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Python»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относится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этим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двум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языкам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Java.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Соответствие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логикой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возникает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потому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утверждение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бывает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истинным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ложным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объединения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достаточно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истинности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хотя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пересечения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истинность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заглавными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латинскими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буквами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F.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фигурных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разделяют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запятыми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«4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истинна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четвёрка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среди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Перечёркнутый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∈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;  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∉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влияет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2, 3 и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3, 2, 1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совокупность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имеющегося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записанное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{3, 2, 2, 1},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отличает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упорядоченного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списка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позиция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могут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список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оценок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пятёрки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оценок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F = {jpg,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png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gif, bmp}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расширений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графических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файлов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png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F, а mp3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F.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расширение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рассматривается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png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png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содержащее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Фигурные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смысл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заглавными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латинскими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буквами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F.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фигурных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разделяют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запятыми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= {2, 4, 6, 8,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«4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истинна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четвёрка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среди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Перечёркнутый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4 ∈ A;   7 ∉ A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влияет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2, 3 и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3, 2, 1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совокупность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имеющегося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записанное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{3, 2, 2, 1},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{1, 2, 3} = {3, 2, 2, 1}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отличает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упорядоченного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списка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позиция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могут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список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оценок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пятёрки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оценок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F = {jpg,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png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gif, bmp}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расширений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графических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файлов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png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F, а mp3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F.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расширение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рассматривается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png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png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содержащее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Фигурные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смысл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присутствовать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влияют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слайде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3, 4}, а B = {4, 2, 3, 1, 2}.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двойка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записана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создаёт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2, 3 и 4,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 = {2, 4, 6, 8} и D = {2, 4, 6, 10}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одинаковое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Следовательно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Одинаковое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позволяет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сравнить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размеры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выразить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взаимное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⇔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⊆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∧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⊆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ещё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установлено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3, 5, 7, 9}, B = {9, 7, 5, 3, 1, 3}, C = {1, 3, 5, 7, 11}.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Третье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отличается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вместо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одиннадцать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доказательства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неравенства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достаточно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присутствующий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сравниваемых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присутствовать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влияют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слайде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3, 4}, а B = {4, 2, 3, 1, 2}.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двойка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записана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создаёт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2, 3 и 4,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 = {2, 4, 6, 8} и D = {2, 4, 6, 10}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одинаковое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Следовательно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Одинаковое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позволяет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сравнить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размеры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выразить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взаимное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= B ⇔ (A ⊆ B) ∧ (B ⊆ A)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ещё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установлено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3, 5, 7, 9}, B = {9, 7, 5, 3, 1, 3}, C = {1, 3, 5, 7, 11}.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Третье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отличается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вместо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одиннадцать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доказательства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неравенства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достаточно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присутствующий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сравниваемых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сделать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указанием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свойства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точным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словесным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описанием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способы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могут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удобно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небольшого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6, 8}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непосредственно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очень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становится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громоздким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бесконечное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невозможно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правило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отбора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слайде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сначала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x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вертикальной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x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десяти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x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∈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ℕ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|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&lt;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чётное}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Вертикальная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лекции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начинаются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единицы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1, 2, 3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далее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десяти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4, 6 и 8.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некоторых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учебниках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ноль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действует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соглашение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приведённое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презентации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Словесное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десяти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Главное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требование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однозначность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границы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x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∈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ℕ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|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≤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&lt;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9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из-за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нестрогого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неравенства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из-за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строгого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промежуточные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удовлетворяют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ограничениям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границ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полезно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программировании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диапазонов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сделать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указанием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свойства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точным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словесным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описанием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способы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могут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удобно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небольшого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6, 8}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непосредственно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очень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становится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громоздким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бесконечное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невозможно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правило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отбора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слайде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сначала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x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вертикальной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x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десяти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x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= {x ∈ ℕ | x &lt; 10, x чётное}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Вертикальная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лекции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начинаются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единицы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1, 2, 3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далее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десяти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4, 6 и 8.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некоторых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учебниках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ноль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действует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соглашение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приведённое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презентации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Словесное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десяти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Главное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требование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однозначность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границы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x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B = {x ∈ ℕ | 3 ≤ x &lt; 9} = {3, 4, 5, 6, 7, 8}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из-за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нестрогого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неравенства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из-за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строгого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промежуточные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удовлетворяют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ограничениям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границ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полезно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программировании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диапазонов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4, 6, 8}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Бесконечное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исчерпывается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никаким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существует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следующее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специальным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фигурными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∅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{};   |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∅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большие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удовлетворяет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нулю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Одноэлементное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{7}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{0}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{0}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{∅}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единственный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Наличие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фигурных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вокруг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включён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рассматриваемые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конкретной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речь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идёт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о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зависит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совокупность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вообще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возможных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= {1, 2, 3, 4, 5, 6}, A = {2, 4, 6}, B = {}, C = {5}.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рамках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C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одноэлементно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образом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названия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видов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обладать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несколькими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указанными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свойствами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4, 6, 8}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Бесконечное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исчерпывается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никаким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существует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следующее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специальным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фигурными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∅ = {};   |∅| = 0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большие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меньшие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удовлетворяет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нулю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Одноэлементное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{7}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{0}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{0}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{∅}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единственный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Наличие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фигурных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вокруг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включён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рассматриваемые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конкретной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речь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идёт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о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зависит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совокупность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вообще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возможных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= {1, 2, 3, 4, 5, 6}, A = {2, 4, 6}, B = {}, C = {5}.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рамках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C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одноэлементно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образом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названия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видов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обладать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несколькими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указанными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свойствами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⊆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6}, а B = {1, 2, 3, 4, 5, 6},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Обратное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отличается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собственным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использовать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строгого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⊊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себя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нестрогого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допускает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оказалось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неверным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потребовался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отсутствующий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у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нарушение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невозможно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изображается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размещением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точка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«2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связывает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сравнивает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2 ∈ A, и {2} ⊆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A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участники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кружка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программирования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участвует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кружке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строгим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⊆ B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6}, а B = {1, 2, 3, 4, 5, 6},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Обратное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отличается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собственным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использовать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строгого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⊊ B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себя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нестрогого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допускает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оказалось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неверным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потребовался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отсутствующий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у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нарушение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невозможно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изображается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размещением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точка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«2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связывает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сравнивает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2 ∈ A, и {2} ⊆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A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участники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кружка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программирования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участвует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кружке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строгим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могут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особенности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изображается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целиком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большем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строгое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Пересекающимися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непустой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существование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у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наличие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себе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Непересекающиеся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располагаются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нечётным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6, 8} и B = {4, 8, 12, 16}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8.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 и 6,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B, а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12 и 16,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Следовательно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 ≠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∅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слайда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расположение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нарисованного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себе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подсчёта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нужны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могут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особенности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изображается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целиком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большем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строгое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Пересекающимися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непустой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существование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у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наличие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себе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Непересекающиеся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располагаются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натуральное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нечётным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6, 8} и B = {4, 8, 12, 16}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8.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 и 6,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B, а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12 и 16,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Следовательно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∩ B = {4, 8} ≠ ∅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слайда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расположение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нарисованного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себе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подсчёта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нужны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B».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|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∈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∨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∈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Логическое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ИЛИ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нестрогое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фраза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3, 4, 5}, B = {4, 5, 6, 7, 8}.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добавляются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6, 7 и 8.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записываются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занимает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целиком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Иванов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Смирнов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}, а B = {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Сидоров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Кузнецов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Иванова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Смирнова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Сидорова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Кузнецова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учитывается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сравнению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Смысл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собрать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подходящие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B».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∪ B = {x | x ∈ A ∨ x ∈ B}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Логическое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ИЛИ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нестрогое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фраза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3, 4, 5}, B = {4, 5, 6, 7, 8}.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добавляются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6, 7 и 8.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записываются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∪ B = {1, 2, 3, 4, 5, 6, 7, 8}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занимает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целиком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Иванов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Смирнов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}, а B = {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Сидоров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Кузнецов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Иванова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Смирнова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Сидорова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Кузнецова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учитывается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сравнению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Смысл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собрать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подходящие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логическая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связка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|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∈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∧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∈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3, 4, 5} и B = {4, 5, 6, 7, 8}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2 и 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6, 7 и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занимает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наложения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Иванов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Смирнов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Сидоров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а B = {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Смирнов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Кузнецов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Орлов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Смирнов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образуют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поиске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нескольким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обязательным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принцип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будет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удовлетворяет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знаком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логическая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связка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∩ B = {x | x ∈ A ∧ x ∈ B}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3, 4, 5} и B = {4, 5, 6, 7, 8}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2 и 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6, 7 и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∩ B = {4, 5}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занимает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наложения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Иванов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Смирнов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Сидоров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а B = {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Смирнов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Кузнецов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Орлов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Петров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Смирнов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образуют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поиске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нескольким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обязательным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принцип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объект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будет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удовлетворяет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B».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|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∈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∧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∉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совокупностью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встречающиеся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влияют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3, 4, 5} и B = {4, 5, 6, 7, 8}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5.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2 и 3.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поменять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местами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станет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5,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останутся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6, 7 и 8.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};  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образом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существенен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обладает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переместительным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свойством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пределами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обратной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выделяется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соответствующая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6, 8, 10}, B = {4, 8, 12, 16}.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6, 10}.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обратной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{12, 16}.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B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сдавшие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работу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ещё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сдал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называется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B».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∖ B = {x | x ∈ A ∧ x ∉ B}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совокупностью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встречающиеся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влияют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3, 4, 5} и B = {4, 5, 6, 7, 8}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5.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2 и 3.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поменять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местами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станет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5,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останутся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6, 7 и 8.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∖ B = {1, 2, 3};   B ∖ A = {6, 7, 8}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образом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существенен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обладает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переместительным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свойством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пределами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обратной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выделяется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соответствующая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6, 8, 10}, B = {4, 8, 12, 16}.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6, 10}.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обратной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{12, 16}.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B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сдавшие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работу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ещё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сдал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треугольником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исключающему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ИЛИ,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XOR.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способ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вычисления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затем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△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∪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3, 4, 5} и B = {4, 5, 6, 7, 8}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{6, 7, 8}.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следующий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△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способ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собрать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△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∖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способа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совокупность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выделяются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центральная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остаётся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невыделенной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6, 8, 10}, B = {4, 8, 12, 16}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8.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6, 10, 12, 16}.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 и C#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отражает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равноправие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смена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треугольником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исключающему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ИЛИ,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XOR.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способ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вычисления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затем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△ B = (A ∖ B) ∪ (B ∖ A)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3, 4, 5} и B = {4, 5, 6, 7, 8}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{6, 7, 8}.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следующий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△ B = {1, 2, 3, 6, 7, 8}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способ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собрать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△ B = (A ∪ B) ∖ (A ∩ B)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способа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совокупность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выделяются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центральная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остаётся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невыделенной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{2, 4, 6, 8, 10}, B = {4, 8, 12, 16}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и 8.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6, 10, 12, 16}.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 и C#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отражает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равноправие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смена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Предполагается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презентации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буквой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текста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равнозначное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верхним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индексом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U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∈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U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|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∉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10, а A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диапазона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2, 4, 6, 8 и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нечётные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9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прямоугольника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рисунке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ещё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B,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расположенная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пределами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Важен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единственный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критерий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зависит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выбранного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6, а A = {2, 4, 6},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будет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3, 5}.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расширить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прежнем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станет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3, 5, 7, 8}.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изменялся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= {1, 2, 3, 4, 5, 6, 7, 8, 9}, A = {1, 2, 3, 4, 5}, B = {4, 5, 6, 7}.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{6, 7, 8, 9}.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{6, 7}.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пределами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логическому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НЕ.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истинно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утверждений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Предполагается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презентации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буквой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текста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равнозначное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верхним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индексом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 = U ∖ A = {x ∈ U | x ∉ A}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10, а A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диапазона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2, 4, 6, 8 и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нечётные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 = {1, 3, 5, 7, 9}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прямоугольника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рисунке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ещё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B,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расположенная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пределами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Важен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единственный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критерий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зависит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выбранного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6, а A = {2, 4, 6},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будет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3, 5}.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расширить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прежнем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станет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3, 5, 7, 8}.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изменялся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= {1, 2, 3, 4, 5, 6, 7, 8, 9}, A = {1, 2, 3, 4, 5}, B = {4, 5, 6, 7}.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{6, 7, 8, 9}.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{6, 7}.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пределами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логическому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НЕ.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истинно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утверждений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представляют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областей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Прямоугольник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обозначает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универсальное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замкнутые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рассматриваемые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Расположение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показывает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каким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двух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четыре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сочетания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находится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A,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одновременно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A и B,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либо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сочетание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соответствует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отдельной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четыре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попарно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пересекаются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вместе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покрывают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конкретной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некоторые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могут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оказаться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пустыми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слайда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находятся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1, 3, 5 и 7.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общей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расположены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2, 4 и 6.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находятся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8 и 10.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9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находится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прямоугольника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кругов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рисунку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восстанавливается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состав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исходных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входят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собственная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левая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пересечение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= {1, 2, 3, 4, 5, 6, 7}. В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входят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пересечение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 = {2, 4, 6, 8, 10}.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Универсальное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содержит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10.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записан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общей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уже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обоим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Дублировать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боковых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областях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требуется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Положение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задаёт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порядок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нельзя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определять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площади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рисунка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количество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устанавливается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перечисленным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числам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Эйлера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показывают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отношения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между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множествами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расположение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областей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Венна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организуют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сочетания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учебных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задачах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способы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изображения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совместно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общим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названием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Эйлера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Венна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179705">
              <a:lnSpc>
                <a:spcPct val="122000"/>
              </a:lnSpc>
              <a:spcAft>
                <a:spcPts val="650"/>
              </a:spcAft>
            </a:pPr>
            <a:endParaRPr lang="ru-RU" sz="18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Выделенная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рисунка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достаточно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установить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каким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условиям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удовлетворяет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находящийся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объединении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выделены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круга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целиком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Любая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точка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хотя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круга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входит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точка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общей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пересечении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выделена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точка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должна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одновременно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находиться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вычислении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выделена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исключена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поскольку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принадлежат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вычислении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боковая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Различие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двух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рисунков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показывает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почему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перестановка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меняет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симметрической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выделены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боковые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пересечение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исключено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ровно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кругу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отличает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рисунок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объединения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тоже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выделена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входят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кругов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кругов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потому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Наличие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рисунке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меняет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Таким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входить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нескольких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Левая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боковая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входит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объединение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симметрическую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Центральная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входит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объединение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пересечение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кругов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входит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входит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объединение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и B.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сопоставление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позволяет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проверять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формулы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смыслу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внешнему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виду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знаков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7, а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4, 6, 8 и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4, 6},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— {1, 3, 5, 7},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— {8, 10},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{9}.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собирает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кроме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центральную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};  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△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прямоугольника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левого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добавляется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расположенное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9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почему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нельзя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автоматически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заменять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количественная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семь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шесть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4, 3, 2 и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десять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7, а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4, 6, 8 и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4, 6},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— {1, 3, 5, 7},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— {8, 10},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{9}.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собирает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кроме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∪ B = {1, 2, 3, 4, 5, 6, 7, 8,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центральную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∩ B = {2, 4, 6}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∖ B = {1, 3, 5, 7};   B ∖ A = {8,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△ B = {1, 3, 5, 7, 8,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прямоугольника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левого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добавляется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расположенное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 = {8, 9,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почему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нельзя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автоматически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заменять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количественная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семь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шесть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4, 3, 2 и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десять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теории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соблюдении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используемых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позволяют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преобразовывать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более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коротким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способом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Коммутативные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Переместительные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коммутативные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позволяют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местами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;  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собираем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выбор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зависит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2} и B = {2, 3}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порядке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правила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{1}, а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{3}.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Ассоциативные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Сочетательные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ассоциативные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разрешают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расстановку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последовательных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последовательных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итог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2}, B = {2, 3}, C = {2, 4}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независимо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пару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обработали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произвольно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переносить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смешанными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идемпотентности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;  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возникает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одинаковые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Удвоения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происходит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поглощения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целиком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добавление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приносит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остаётся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2}, B = {2, 3},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2} с {2}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отбрасывает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возможные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отражают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расширяет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мешает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последующем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теории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соблюдении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используемых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позволяют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преобразовывать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более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коротким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способом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Коммутативные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Переместительные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коммутативные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позволяют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местами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∪ B = B ∪ A;   A ∩ B = B ∩ A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собираем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выбор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зависит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2} и B = {2, 3}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порядке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правила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{1}, а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{3}.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Ассоциативные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Сочетательные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ассоциативные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разрешают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расстановку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скобок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последовательных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последовательных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(A ∪ B) ∪ C = A ∪ (B ∪ C)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(A ∩ B) ∩ C = A ∩ (B ∩ C)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итог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2}, B = {2, 3}, C = {2, 4}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независимо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пару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обработали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произвольно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переносить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смешанными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идемпотентности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∪ A = A;   A ∩ A = A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возникает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одинаковые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Удвоения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происходит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поглощения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∪ (A ∩ B) = A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целиком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добавление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приносит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остаётся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2}, B = {2, 3},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2} с {2}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∩ (A ∪ B) = A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отбрасывает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возможные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отражают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расширяет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мешает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последующем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Дистрибутивные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Распределительные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дистрибутивные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связывают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следующий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вид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=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∪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либо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C.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случаев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образует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3}, B = {2, 4}, C = {3, 4}.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и C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3, 4},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левая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3}.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Справа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C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{3},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3}.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распределительный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распределение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=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∩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автоматически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справа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попадания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необходимо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находился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и C.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варианта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левая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предыдущем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и C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{4},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Справа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с B и A с C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4},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Моргана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вычисляются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∪ 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в A, и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= {1, 2, 3, 4, 5, 6}, A = {1, 2, 3}, B = {3, 4}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{5, 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{4, 5, 6} и {1, 2, 5, 6};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{5, 6}.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∩ 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отсутствовать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нашем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{3},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{1, 2, 4, 5, 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раскрытии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Моргана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заменяется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прежней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привело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Связь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логикой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непосредственная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ИЛИ,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НЕ.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Моргана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между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Моргана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логических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высказываний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Дистрибутивные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Распределительные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дистрибутивные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связывают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следующий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вид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∩ (B ∪ C) = (A ∩ B) ∪ (A ∩ C)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либо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C.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случаев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образует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= {1, 2, 3}, B = {2, 4}, C = {3, 4}.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и C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3, 4},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левая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3}.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Справа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C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{3},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3}.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распределительный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распределение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∪ (B ∩ C) = (A ∪ B) ∩ (A ∪ C)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автоматически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справа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попадания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необходимо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находился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одновременно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и C.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варианта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левая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предыдущем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и C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{4},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Справа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с B и A с C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4},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Моргана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вычисляются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〖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(A ∪ B)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〗^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 = A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 ∩ B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в A, и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= {1, 2, 3, 4, 5, 6}, A = {1, 2, 3}, B = {3, 4}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{5, 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{4, 5, 6} и {1, 2, 5, 6};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{5, 6}.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〖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(A ∩ B)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〗^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 = A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 ∪ B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отсутствовать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нашем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{3},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{1, 2, 4, 5, 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раскрытии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Моргана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заменяется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прежней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привело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другому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Связь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логикой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непосредственная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ИЛИ,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НЕ.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Моргана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между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Моргана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логических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высказываний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Вычислить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известен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Однако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иногда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удаётся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позволяют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упростить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слайде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рассматривается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∪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делят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признаку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обеих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распределительному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применённому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обратном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направлении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выносится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∪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либо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либо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теряется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U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подстановки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остаётся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с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U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числовой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= {1, 2, 3, 4, 5, 6}, A = {1, 2, 3, 4}, B = {2, 4, 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3, 5}.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4},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3}.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Полученный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Геометрически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вместе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заполняют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объясняет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почему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итог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зависит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конкретного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Вычислить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известен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Однако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иногда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удаётся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позволяют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упростить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саму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слайде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рассматривается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(A ∩ B) ∪ (A ∩ B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c)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делят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признаку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обеих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распределительному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применённому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обратном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направлении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выносится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(A ∩ B) ∪ (A ∩ B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c) = A ∩ (B ∪ B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c)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либо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либо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теряется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B ∪ B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 = U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подстановки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остаётся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с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∩ (B ∪ B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c) = A ∩ U = A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числовой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= {1, 2, 3, 4, 5, 6}, A = {1, 2, 3, 4}, B = {2, 4, 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3, 5}.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4},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3}.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4},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Полученный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Геометрически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вместе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заполняют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объясняет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почему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итог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зависит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конкретного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двумя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вертикальными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сторонам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A».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}|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;   |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∅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могут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различаться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2, 3}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двойка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встречается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лекции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подсчёта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бесконечных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понятие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существует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рассмотрения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действует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+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сложении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учитывается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учитываться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слайда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выделена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устраняется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подсчёт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посчитана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копии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возвращает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удаляемой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нужно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убрать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△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+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·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|A| = 12, |B| = 9 и |A ∩ B| = 4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12 − 4 = 8.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9 − 4 = 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+ 5 = 13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12 + 9 − 2 · 4 = 13.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обозначается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двумя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вертикальными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сторонам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A».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|{2, 4, 6, 8, 10}| = 5;   |∅| = 0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могут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различаться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перечислении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2, 3}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двойка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встречается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лекции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подсчёта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применяются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бесконечных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понятие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существует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рассмотрения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действует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|A ∪ B| = |A| + |B| − |A ∩ B|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сложении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учитывается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учитываться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слайда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выделена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устраняется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подсчёт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посчитана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копии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возвращает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|A ∖ B| = |A| − |A ∩ B|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случае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когда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удаляемой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боковые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нужно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убрать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|A △ B| = |A| + |B| − 2 · |A ∩ B|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|A| = 12, |B| = 9 и |A ∩ B| = 4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12 − 4 = 8.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9 − 4 = 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+ 5 = 13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12 + 9 − 2 · 4 = 13.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колледже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15 — C#, а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Искомое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сложить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20 и 15,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35.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восемь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будет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учтён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учитываться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восьми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устраняет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лишние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27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Итак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27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превращает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человека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непересекающиеся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20 − 8 = 12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15 − 8 = 7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складываются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непосредственно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27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12 + 8 = 20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 и 8 + 7 = 15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согласуются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нельзя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указано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вопроса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потребовалась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известна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подсчёт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колледже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15 — C#, а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состоит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Искомое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сложить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20 и 15,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35.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восемь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будет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учтён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учитываться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восьми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устраняет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лишние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|A ∪ B| = 20 + 15 − 8 = 27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Итак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27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превращает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человека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через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непересекающиеся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диаграммы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20 − 8 = 12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15 − 8 = 7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складываются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непосредственно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12 + 8 + 7 = 27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12 + 8 = 20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 и 8 + 7 = 15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согласуются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нельзя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указано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вопроса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потребовалась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известна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подсчёт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Практические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U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9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};  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семь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единицы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десяти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целиком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вычисляется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указанного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представляет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записываются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фигурных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Возрастание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удобно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обязательным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правильного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Изменение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образуют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промежуточные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сначала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затем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помогает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точный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смысл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3, 5 и 7.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сразу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могут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появиться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рассматриваемых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оставаться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отсутствующее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появиться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остальных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Практические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U = {1, 2, 3, 4, 5, 6, 7, 8, 9,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= {1, 2, 3, 4, 5, 6, 7};   B = {2, 4, 6, 8,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семь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единицы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десяти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целиком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вычисляется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указанного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представляет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собой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записываются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фигурных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повторений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Возрастание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удобно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обязательным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правильного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Изменение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составных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выражениях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скобки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образуют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промежуточные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сначала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затем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помогает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сохранить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точный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смысл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выражения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3, 5 и 7.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сразу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могут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появиться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каждом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Любой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рассматриваемых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должен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оставаться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отсутствующее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появиться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остальных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U.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179705">
                  <a:lnSpc>
                    <a:spcPct val="122000"/>
                  </a:lnSpc>
                  <a:spcAft>
                    <a:spcPts val="650"/>
                  </a:spcAft>
                </a:pPr>
                <a:endParaRPr lang="ru-RU" sz="1800" dirty="0">
                  <a:solidFill>
                    <a:srgbClr val="14181F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добавляет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записываются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в A, и в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больше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рассматриваются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кандидаты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и A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Теперь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4, 6, 8 и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Сравнение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третьего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четвёртого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влияние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5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берутся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3, 5 и 7,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— 8 и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△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шесть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разница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между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тремя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9 − 3 = 6.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добавляет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записываются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в A, и в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∪ B = {1, 2, 3, 4, 5, 6, 7, 8,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находящиеся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больше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семи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∩ B = {2, 4, 6}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трём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нечётных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присутствующие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∖ B = {1, 3, 5, 7}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рассматриваются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кандидаты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и A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Теперь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служит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чисел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4, 6, 8 и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которые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B ∖ A = {8,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Сравнение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третьего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четвёртого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показывает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влияние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порядка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5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берутся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1, 3, 5 и 7,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— 8 и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2, 4 и 6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входят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 △ B = {1, 3, 5, 7, 8,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шесть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разница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между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тремя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9 − 3 = 6.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6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10, а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занимает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пределами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8, 9 и 10.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U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9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и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4, 5, 6, 7, 8, 10},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{2, 4, 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∖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Полученная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совокупность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частей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3, 5, 7},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4, 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Вместе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восстанавливают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∪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7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пределами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появиться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промежуточных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теряется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обязательно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вариантов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4, 5, 6, 7, 8, 10},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{8, 9, 10}.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∩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{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Остаётся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расположенная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Преобразование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распределительному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подтверждает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∩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∪ (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∖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6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U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10, а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занимает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пределами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8, 9 и 10.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 = U ∖ A = {8, 9,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Девятка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и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присутствие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7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4, 5, 6, 7, 8, 10},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{2, 4, 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(A ∪ B) ∖ (A ∩ B) = {1, 3, 5, 7, 8, 10}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Полученная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совокупность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совпадает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частей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3, 5, 7},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и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{2, 4, 6}.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Вместе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восстанавливают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всё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(A ∖ B) ∪ (A ∩ B) = {1, 2, 3, 4, 5, 6, 7} = A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Новых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пределами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появиться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может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промежуточных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включены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теряется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обязательно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выполняется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двух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вариантов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{1, 2, 3, 4, 5, 6, 7, 8, 10},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{8, 9, 10}.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и 10.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(A ∪ B) ∩ A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 = {8, 10} = B ∖ A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9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подходит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отсутствует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поскольку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принадлежат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Остаётся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расположенная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Преобразование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распределительному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закону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подтверждает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результат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(A ∪ B) ∩ A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 = (A ∩ A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c) ∪ (B ∩ A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c) = B ∖ A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Задача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15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C#, а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восемь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+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27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27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восьми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устраняет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подсчёт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12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7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27.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Задача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16 — C#, а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30.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Сначала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16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24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Следовательно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24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между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∪ 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</m:t>
                          </m:r>
                        </m:sup>
                      </m:sSup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U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30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6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6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четырём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18 − 10 =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 — 16 − 10 = 6,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10,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6.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+ 6 + 10 + 6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30.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18 и 16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будут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вычтены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равнозначная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вид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30 − 18 − 16 + 10 = 6: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возвращается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Задача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15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C#, а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указывают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восемь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|A ∪ B| = |A| + |B| − |A ∩ B|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|A ∪ B| = 20 + 15 − 8 = 27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27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восьми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устраняет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повторный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подсчёт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12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7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27.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Задача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16 — C#, а 10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универсальное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—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30.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Сначала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внутри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круга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|A ∪ B| = 18 + 16 − 10 = 24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Следовательно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24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Остальные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между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 и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〖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(A ∪ B)</a:t>
                </a:r>
                <a:r>
                  <a:rPr lang="ru-RU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〗^</a:t>
                </a: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c | = |U| − |A ∪ B| = 30 − 24 = 6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6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четырём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даёт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Python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изучают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18 − 10 =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C# — 16 − 10 = 6,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языка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10,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6.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+ 6 + 10 + 6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30.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числа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группы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именно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18 и 16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отдельно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студенты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будут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вычтены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дважды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равнозначная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запись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решения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имеет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вид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30 − 18 − 16 + 10 = 6: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возвращается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Задача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Известно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|A| = 25, |B| = 18, а |A ∪ B| = 35.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неизвестным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переноса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слагаемых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следующее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+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∪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18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35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43, а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Разница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восемь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возникает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из-за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учёта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25 − 8 = 17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— 18 − 8 =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Вместе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восьмью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17 + 8 + 10 = 35.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превышает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25,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18,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согласуется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смыслом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Задача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симметрической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|A| = 12, |B| = 9, |A ∩ B| = 4.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△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+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· 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∩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△ 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9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2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·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= 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13</m:t>
                      </m:r>
                    </m:oMath>
                  </m:oMathPara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13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12 − 4 =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— 9 − 4 = 5.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+ 5 = 13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17.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останутся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учтёнными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отсутствовать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рассмотренных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выбор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формулировки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связывают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ситуации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точной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математической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операцией</a:t>
                </a:r>
                <a:r>
                  <a:rPr lang="en-US" sz="1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Задача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Известно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|A| = 25, |B| = 18, а |A ∪ B| = 35.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найти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неизвестным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После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переноса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слагаемых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следующее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равенство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|A ∩ B| = |A| + |B| − |A ∪ B|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|A ∩ B| = 25 + 18 − 35 = 8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равна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43, а в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35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различных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Разница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восемь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возникает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из-за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повторного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учёта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Проверка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областям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25 − 8 = 17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— 18 − 8 = 10.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Вместе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восьмью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получаем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17 + 8 + 10 = 35.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превышает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25,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18,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также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согласуется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смыслом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2000"/>
                  </a:lnSpc>
                  <a:spcBef>
                    <a:spcPts val="1100"/>
                  </a:spcBef>
                  <a:spcAft>
                    <a:spcPts val="600"/>
                  </a:spcAft>
                </a:pP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Задача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4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симметрической</a:t>
                </a:r>
                <a:r>
                  <a:rPr 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endParaRPr lang="ru-RU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|A| = 12, |B| = 9, |A ∩ B| = 4.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включает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множества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общая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исключена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обоих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количеств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|A △ B| = |A| + |B| − 2 · |A ∩ B|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lnSpc>
                    <a:spcPct val="112000"/>
                  </a:lnSpc>
                  <a:spcBef>
                    <a:spcPts val="200"/>
                  </a:spcBef>
                  <a:spcAft>
                    <a:spcPts val="800"/>
                  </a:spcAft>
                </a:pPr>
                <a:r>
                  <a:rPr lang="en-US" sz="1800" i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|A △ B| = 12 + 9 − 2 · 4 = 13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Ответ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13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находятся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12 − 4 = 8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B — 9 − 4 = 5.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пересекаются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содержит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8 + 5 = 13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элементов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вычесть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четыре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получится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17.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мощность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элементы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останутся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учтёнными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должны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отсутствовать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полностью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поэтому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требуется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вычитание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общей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части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2000"/>
                  </a:lnSpc>
                  <a:spcAft>
                    <a:spcPts val="700"/>
                  </a:spcAft>
                </a:pP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всех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рассмотренных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задачах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выбор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определяется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словами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Хотя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бы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оба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пересечение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только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без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B,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ровно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один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симметрическую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разность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«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означает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дополнение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объединения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относительно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заданного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U.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Эти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формулировки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связывают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обычное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описание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ситуации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точной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математической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операцией</a:t>
                </a:r>
                <a:r>
                  <a:rPr lang="en-US" sz="1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8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8791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5754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0125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5815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99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1510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9992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1059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646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5982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193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159035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847108" y="2254026"/>
            <a:ext cx="753406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Теория множеств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Информатика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Теория множеств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Математика совокупностей, отношений и операций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773936"/>
            <a:ext cx="6309360" cy="43525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048256"/>
            <a:ext cx="5577840" cy="4480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500" b="1" i="0" dirty="0" err="1">
                <a:solidFill>
                  <a:srgbClr val="172E48"/>
                </a:solidFill>
                <a:latin typeface="Times New Roman"/>
              </a:rPr>
              <a:t>Что</a:t>
            </a:r>
            <a:r>
              <a:rPr sz="2500" b="1" i="0" dirty="0">
                <a:solidFill>
                  <a:srgbClr val="172E48"/>
                </a:solidFill>
                <a:latin typeface="Times New Roman"/>
              </a:rPr>
              <a:t> </a:t>
            </a:r>
            <a:r>
              <a:rPr sz="2500" b="1" i="0" dirty="0" err="1">
                <a:solidFill>
                  <a:srgbClr val="172E48"/>
                </a:solidFill>
                <a:latin typeface="Times New Roman"/>
              </a:rPr>
              <a:t>изучает</a:t>
            </a:r>
            <a:r>
              <a:rPr sz="2500" b="1" i="0" dirty="0">
                <a:solidFill>
                  <a:srgbClr val="172E48"/>
                </a:solidFill>
                <a:latin typeface="Times New Roman"/>
              </a:rPr>
              <a:t> </a:t>
            </a:r>
            <a:r>
              <a:rPr sz="2500" b="1" i="0" dirty="0" err="1">
                <a:solidFill>
                  <a:srgbClr val="172E48"/>
                </a:solidFill>
                <a:latin typeface="Times New Roman"/>
              </a:rPr>
              <a:t>теория</a:t>
            </a:r>
            <a:r>
              <a:rPr sz="2500" b="1" i="0" dirty="0">
                <a:solidFill>
                  <a:srgbClr val="172E48"/>
                </a:solidFill>
                <a:latin typeface="Times New Roman"/>
              </a:rPr>
              <a:t> </a:t>
            </a:r>
            <a:r>
              <a:rPr sz="2500" b="1" i="0" dirty="0" err="1">
                <a:solidFill>
                  <a:srgbClr val="172E48"/>
                </a:solidFill>
                <a:latin typeface="Times New Roman"/>
              </a:rPr>
              <a:t>множеств</a:t>
            </a:r>
            <a:r>
              <a:rPr sz="2500" b="1" i="0" dirty="0">
                <a:solidFill>
                  <a:srgbClr val="172E48"/>
                </a:solidFill>
                <a:latin typeface="Times New Roman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770632"/>
            <a:ext cx="5486400" cy="19019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2000" b="1" dirty="0" err="1">
                <a:solidFill>
                  <a:srgbClr val="2366C0"/>
                </a:solidFill>
                <a:latin typeface="Times New Roman"/>
              </a:rPr>
              <a:t>Множество</a:t>
            </a:r>
            <a:r>
              <a:rPr sz="2000" b="1" dirty="0">
                <a:solidFill>
                  <a:srgbClr val="2366C0"/>
                </a:solidFill>
                <a:latin typeface="Times New Roman"/>
              </a:rPr>
              <a:t> —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совокупность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определённых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объектов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рассматриваемых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как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единое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целое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.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2000" b="1" dirty="0" err="1">
                <a:solidFill>
                  <a:srgbClr val="2366C0"/>
                </a:solidFill>
                <a:latin typeface="Times New Roman"/>
              </a:rPr>
              <a:t>Элемент</a:t>
            </a:r>
            <a:r>
              <a:rPr sz="2000" b="1" dirty="0">
                <a:solidFill>
                  <a:srgbClr val="2366C0"/>
                </a:solidFill>
                <a:latin typeface="Times New Roman"/>
              </a:rPr>
              <a:t> —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отдельный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объект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входящий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 в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множество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.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2000" b="1" dirty="0" err="1">
                <a:solidFill>
                  <a:srgbClr val="2366C0"/>
                </a:solidFill>
                <a:latin typeface="Times New Roman"/>
              </a:rPr>
              <a:t>Теория</a:t>
            </a:r>
            <a:r>
              <a:rPr sz="2000" b="1" dirty="0">
                <a:solidFill>
                  <a:srgbClr val="2366C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2366C0"/>
                </a:solidFill>
                <a:latin typeface="Times New Roman"/>
              </a:rPr>
              <a:t>множеств</a:t>
            </a:r>
            <a:r>
              <a:rPr sz="2000" b="1" dirty="0">
                <a:solidFill>
                  <a:srgbClr val="2366C0"/>
                </a:solidFill>
                <a:latin typeface="Times New Roman"/>
              </a:rPr>
              <a:t> —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правила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описания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сравнения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 и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преобразования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таких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203A53"/>
                </a:solidFill>
                <a:latin typeface="Times New Roman"/>
              </a:rPr>
              <a:t>совокупностей</a:t>
            </a:r>
            <a:r>
              <a:rPr sz="2000" dirty="0">
                <a:solidFill>
                  <a:srgbClr val="203A53"/>
                </a:solidFill>
                <a:latin typeface="Times New Roman"/>
              </a:rPr>
              <a:t>.</a:t>
            </a:r>
          </a:p>
        </p:txBody>
      </p:sp>
      <p:pic>
        <p:nvPicPr>
          <p:cNvPr id="15" name="Picture 14" descr="venn_inter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2286000"/>
            <a:ext cx="4343400" cy="2587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0" y="5129784"/>
            <a:ext cx="38404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3500" b="1" i="0">
                <a:solidFill>
                  <a:srgbClr val="2366C0"/>
                </a:solidFill>
                <a:latin typeface="Times New Roman"/>
              </a:rPr>
              <a:t>∪      ∩      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Где применяются множества?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664208"/>
            <a:ext cx="3694176" cy="1344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37944"/>
            <a:ext cx="3374136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366C0"/>
                </a:solidFill>
                <a:latin typeface="Times New Roman"/>
              </a:rPr>
              <a:t>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67128"/>
            <a:ext cx="3328416" cy="6675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Сравнение записей, общие элементы и исключения.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664208"/>
            <a:ext cx="3694176" cy="1344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837944"/>
            <a:ext cx="3374136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366C0"/>
                </a:solidFill>
                <a:latin typeface="Times New Roman"/>
              </a:rPr>
              <a:t>Программирование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67128"/>
            <a:ext cx="3328416" cy="6675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Уникальные значения, проверка принадлежности.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64208"/>
            <a:ext cx="3694176" cy="1344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1837944"/>
            <a:ext cx="3374136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366C0"/>
                </a:solidFill>
                <a:latin typeface="Times New Roman"/>
              </a:rPr>
              <a:t>Поиск и фильтрация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167128"/>
            <a:ext cx="3328416" cy="6675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Объекты, соответствующие сразу нескольким условиям.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3154680"/>
            <a:ext cx="3694176" cy="1344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328416"/>
            <a:ext cx="3374136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366C0"/>
                </a:solidFill>
                <a:latin typeface="Times New Roman"/>
              </a:rPr>
              <a:t>Алгоритмы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657600"/>
            <a:ext cx="3328416" cy="6675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Классификация и сопоставление данных.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3154680"/>
            <a:ext cx="3694176" cy="1344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3328416"/>
            <a:ext cx="3374136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366C0"/>
                </a:solidFill>
                <a:latin typeface="Times New Roman"/>
              </a:rPr>
              <a:t>Алгебра логики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657600"/>
            <a:ext cx="3328416" cy="6675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Объединение ↔ ИЛИ; пересечение ↔ 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154680"/>
            <a:ext cx="3694176" cy="1344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3328416"/>
            <a:ext cx="3374136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366C0"/>
                </a:solidFill>
                <a:latin typeface="Times New Roman"/>
              </a:rPr>
              <a:t>Информационные системы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3657600"/>
            <a:ext cx="3328416" cy="6675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Группы пользователей, студентов и файлов.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4837176"/>
            <a:ext cx="11000232" cy="1133856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" y="5020056"/>
            <a:ext cx="10332720" cy="3017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172E48"/>
                </a:solidFill>
                <a:latin typeface="Times New Roman"/>
              </a:rPr>
              <a:t>Пример:  A — изучают Python;  B — изучают C#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" y="5431536"/>
            <a:ext cx="10378440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203A53"/>
                </a:solidFill>
                <a:latin typeface="Times New Roman"/>
              </a:rPr>
              <a:t>A ∪ B — хотя бы один язык     ·     A ∩ B — оба языка     ·     A \ B — только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Множество и его элементы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Запись элементов, знаки принадлежности и основные правила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588271"/>
            <a:ext cx="6739128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3544" y="1862591"/>
            <a:ext cx="6099048" cy="6858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890022"/>
            <a:ext cx="6007608" cy="6126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700" b="1" i="0">
                <a:solidFill>
                  <a:srgbClr val="2366C0"/>
                </a:solidFill>
                <a:latin typeface="Times New Roman"/>
              </a:rPr>
              <a:t>A = {2, 4, 6, 8, 10}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58703"/>
            <a:ext cx="6044184" cy="19842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2200" b="1" dirty="0">
                <a:solidFill>
                  <a:srgbClr val="2366C0"/>
                </a:solidFill>
                <a:latin typeface="Times New Roman"/>
              </a:rPr>
              <a:t>4 ∈ A  —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число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 4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принадлежит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множеству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 A.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2200" b="1" dirty="0">
                <a:solidFill>
                  <a:srgbClr val="2366C0"/>
                </a:solidFill>
                <a:latin typeface="Times New Roman"/>
              </a:rPr>
              <a:t>7 ∉ A  —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число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 7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не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принадлежит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множеству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 A.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2200" b="1" dirty="0">
                <a:solidFill>
                  <a:srgbClr val="2366C0"/>
                </a:solidFill>
                <a:latin typeface="Times New Roman"/>
              </a:rPr>
              <a:t>{ }  —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фигурные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скобки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для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перечисления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 </a:t>
            </a:r>
            <a:r>
              <a:rPr sz="2200" dirty="0" err="1">
                <a:solidFill>
                  <a:srgbClr val="203A53"/>
                </a:solidFill>
                <a:latin typeface="Times New Roman"/>
              </a:rPr>
              <a:t>элементов</a:t>
            </a:r>
            <a:r>
              <a:rPr sz="2200" dirty="0">
                <a:solidFill>
                  <a:srgbClr val="203A53"/>
                </a:solidFill>
                <a:latin typeface="Times New Roman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561761"/>
            <a:ext cx="4005072" cy="438912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08975" y="1826937"/>
            <a:ext cx="3401568" cy="3291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172E48"/>
                </a:solidFill>
                <a:latin typeface="Times New Roman"/>
              </a:rPr>
              <a:t>Правила записи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2412153"/>
            <a:ext cx="3337560" cy="202082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108000"/>
              </a:lnSpc>
              <a:spcAft>
                <a:spcPts val="1900"/>
              </a:spcAft>
            </a:pPr>
            <a:r>
              <a:rPr sz="1900">
                <a:solidFill>
                  <a:srgbClr val="203A53"/>
                </a:solidFill>
                <a:latin typeface="Times New Roman"/>
              </a:rPr>
              <a:t>• Порядок не имеет значения.</a:t>
            </a:r>
          </a:p>
          <a:p>
            <a:pPr>
              <a:lnSpc>
                <a:spcPct val="108000"/>
              </a:lnSpc>
              <a:spcAft>
                <a:spcPts val="1900"/>
              </a:spcAft>
            </a:pPr>
            <a:r>
              <a:rPr sz="1900">
                <a:solidFill>
                  <a:srgbClr val="203A53"/>
                </a:solidFill>
                <a:latin typeface="Times New Roman"/>
              </a:rPr>
              <a:t>• Повторения не добавляют новых элементов.</a:t>
            </a:r>
          </a:p>
          <a:p>
            <a:pPr>
              <a:lnSpc>
                <a:spcPct val="108000"/>
              </a:lnSpc>
              <a:spcAft>
                <a:spcPts val="1900"/>
              </a:spcAft>
            </a:pPr>
            <a:r>
              <a:rPr sz="1900">
                <a:solidFill>
                  <a:srgbClr val="203A53"/>
                </a:solidFill>
                <a:latin typeface="Times New Roman"/>
              </a:rPr>
              <a:t>• Принадлежность должна быть однозначной.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4112" y="4871889"/>
            <a:ext cx="3511296" cy="630936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99832" y="4899321"/>
            <a:ext cx="3419856" cy="5577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900" b="1" i="0">
                <a:solidFill>
                  <a:srgbClr val="2366C0"/>
                </a:solidFill>
                <a:latin typeface="Times New Roman"/>
              </a:rPr>
              <a:t>{1, 2, 3} = {3, 2, 2, 1}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135171-359D-419E-8005-C9A5CC6917CA}"/>
              </a:ext>
            </a:extLst>
          </p:cNvPr>
          <p:cNvSpPr txBox="1"/>
          <p:nvPr/>
        </p:nvSpPr>
        <p:spPr>
          <a:xfrm>
            <a:off x="643128" y="5985112"/>
            <a:ext cx="10972800" cy="65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Пусть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 = {jpg,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png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gif, bmp} -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множество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расширений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графических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файлов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Тогда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png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∈ F, а mp3 ∉ F.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рассматриваем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png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следует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путать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её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множеством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{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png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содержащим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одну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Равенство множеств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Одинаковая мощность ещё не означает одинаковый состав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1755648"/>
            <a:ext cx="9582912" cy="676656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9491472" cy="60350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600" b="1" i="0">
                <a:solidFill>
                  <a:srgbClr val="2366C0"/>
                </a:solidFill>
                <a:latin typeface="Times New Roman"/>
              </a:rPr>
              <a:t>A = B  ⇔  (A ⊆ B) и (B ⊆ 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715768"/>
            <a:ext cx="5486400" cy="2331720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" y="2898648"/>
            <a:ext cx="1188720" cy="347472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2948025"/>
            <a:ext cx="100584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1" i="0">
                <a:solidFill>
                  <a:srgbClr val="26765C"/>
                </a:solidFill>
                <a:latin typeface="Times New Roman"/>
              </a:rPr>
              <a:t>РАВНЫ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438144"/>
            <a:ext cx="4855464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172E48"/>
                </a:solidFill>
                <a:latin typeface="Times New Roman"/>
              </a:rPr>
              <a:t>A = {1, 2, 3, 4}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886200"/>
            <a:ext cx="4855464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172E48"/>
                </a:solidFill>
                <a:latin typeface="Times New Roman"/>
              </a:rPr>
              <a:t>B = {4, 2, 3, 1, 2}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2715768"/>
            <a:ext cx="5285232" cy="2331720"/>
          </a:xfrm>
          <a:prstGeom prst="roundRect">
            <a:avLst>
              <a:gd name="adj" fmla="val 12000"/>
            </a:avLst>
          </a:prstGeom>
          <a:solidFill>
            <a:srgbClr val="FFF2E1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28816" y="2898648"/>
            <a:ext cx="1618488" cy="347472"/>
          </a:xfrm>
          <a:prstGeom prst="roundRect">
            <a:avLst>
              <a:gd name="adj" fmla="val 12000"/>
            </a:avLst>
          </a:prstGeom>
          <a:solidFill>
            <a:srgbClr val="FCE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0255" y="2948025"/>
            <a:ext cx="1435608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1" i="0">
                <a:solidFill>
                  <a:srgbClr val="B97E36"/>
                </a:solidFill>
                <a:latin typeface="Times New Roman"/>
              </a:rPr>
              <a:t>НЕ РАВНЫ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438144"/>
            <a:ext cx="4681728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172E48"/>
                </a:solidFill>
                <a:latin typeface="Times New Roman"/>
              </a:rPr>
              <a:t>C = {2, 4, 6, 8}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886200"/>
            <a:ext cx="4681728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172E48"/>
                </a:solidFill>
                <a:latin typeface="Times New Roman"/>
              </a:rPr>
              <a:t>D = {2, 4, 6, 10}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5285232"/>
            <a:ext cx="10954512" cy="658368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5280660"/>
            <a:ext cx="10424160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1" i="0" dirty="0" err="1">
                <a:solidFill>
                  <a:srgbClr val="2366C0"/>
                </a:solidFill>
                <a:latin typeface="Times New Roman"/>
              </a:rPr>
              <a:t>Равенство</a:t>
            </a:r>
            <a:r>
              <a:rPr sz="1900" b="1" i="0" dirty="0">
                <a:solidFill>
                  <a:srgbClr val="2366C0"/>
                </a:solidFill>
                <a:latin typeface="Times New Roman"/>
              </a:rPr>
              <a:t> </a:t>
            </a:r>
            <a:r>
              <a:rPr sz="1900" b="1" i="0" dirty="0" err="1">
                <a:solidFill>
                  <a:srgbClr val="2366C0"/>
                </a:solidFill>
                <a:latin typeface="Times New Roman"/>
              </a:rPr>
              <a:t>определяется</a:t>
            </a:r>
            <a:r>
              <a:rPr sz="1900" b="1" i="0" dirty="0">
                <a:solidFill>
                  <a:srgbClr val="2366C0"/>
                </a:solidFill>
                <a:latin typeface="Times New Roman"/>
              </a:rPr>
              <a:t> </a:t>
            </a:r>
            <a:r>
              <a:rPr sz="1900" b="1" i="0" dirty="0" err="1">
                <a:solidFill>
                  <a:srgbClr val="2366C0"/>
                </a:solidFill>
                <a:latin typeface="Times New Roman"/>
              </a:rPr>
              <a:t>составом</a:t>
            </a:r>
            <a:r>
              <a:rPr sz="1900" b="1" i="0" dirty="0">
                <a:solidFill>
                  <a:srgbClr val="2366C0"/>
                </a:solidFill>
                <a:latin typeface="Times New Roman"/>
              </a:rPr>
              <a:t> </a:t>
            </a:r>
            <a:r>
              <a:rPr sz="1900" b="1" i="0" dirty="0" err="1">
                <a:solidFill>
                  <a:srgbClr val="2366C0"/>
                </a:solidFill>
                <a:latin typeface="Times New Roman"/>
              </a:rPr>
              <a:t>уникальных</a:t>
            </a:r>
            <a:r>
              <a:rPr sz="1900" b="1" i="0" dirty="0">
                <a:solidFill>
                  <a:srgbClr val="2366C0"/>
                </a:solidFill>
                <a:latin typeface="Times New Roman"/>
              </a:rPr>
              <a:t> </a:t>
            </a:r>
            <a:r>
              <a:rPr sz="1900" b="1" i="0" dirty="0" err="1">
                <a:solidFill>
                  <a:srgbClr val="2366C0"/>
                </a:solidFill>
                <a:latin typeface="Times New Roman"/>
              </a:rPr>
              <a:t>элементов</a:t>
            </a:r>
            <a:r>
              <a:rPr sz="1900" b="1" i="0" dirty="0">
                <a:solidFill>
                  <a:srgbClr val="2366C0"/>
                </a:solidFill>
                <a:latin typeface="Times New Roman"/>
              </a:rPr>
              <a:t>, а </a:t>
            </a:r>
            <a:r>
              <a:rPr sz="1900" b="1" i="0" dirty="0" err="1">
                <a:solidFill>
                  <a:srgbClr val="2366C0"/>
                </a:solidFill>
                <a:latin typeface="Times New Roman"/>
              </a:rPr>
              <a:t>не</a:t>
            </a:r>
            <a:r>
              <a:rPr sz="1900" b="1" i="0" dirty="0">
                <a:solidFill>
                  <a:srgbClr val="2366C0"/>
                </a:solidFill>
                <a:latin typeface="Times New Roman"/>
              </a:rPr>
              <a:t> </a:t>
            </a:r>
            <a:r>
              <a:rPr sz="1900" b="1" i="0" dirty="0" err="1">
                <a:solidFill>
                  <a:srgbClr val="2366C0"/>
                </a:solidFill>
                <a:latin typeface="Times New Roman"/>
              </a:rPr>
              <a:t>их</a:t>
            </a:r>
            <a:r>
              <a:rPr sz="1900" b="1" i="0" dirty="0">
                <a:solidFill>
                  <a:srgbClr val="2366C0"/>
                </a:solidFill>
                <a:latin typeface="Times New Roman"/>
              </a:rPr>
              <a:t> </a:t>
            </a:r>
            <a:r>
              <a:rPr sz="1900" b="1" i="0" dirty="0" err="1">
                <a:solidFill>
                  <a:srgbClr val="2366C0"/>
                </a:solidFill>
                <a:latin typeface="Times New Roman"/>
              </a:rPr>
              <a:t>порядком</a:t>
            </a:r>
            <a:r>
              <a:rPr sz="1900" b="1" i="0" dirty="0">
                <a:solidFill>
                  <a:srgbClr val="2366C0"/>
                </a:solidFill>
                <a:latin typeface="Times New Roman"/>
              </a:rPr>
              <a:t> </a:t>
            </a:r>
            <a:r>
              <a:rPr sz="1900" b="1" i="0" dirty="0" err="1">
                <a:solidFill>
                  <a:srgbClr val="2366C0"/>
                </a:solidFill>
                <a:latin typeface="Times New Roman"/>
              </a:rPr>
              <a:t>или</a:t>
            </a:r>
            <a:r>
              <a:rPr sz="1900" b="1" i="0" dirty="0">
                <a:solidFill>
                  <a:srgbClr val="2366C0"/>
                </a:solidFill>
                <a:latin typeface="Times New Roman"/>
              </a:rPr>
              <a:t> </a:t>
            </a:r>
            <a:r>
              <a:rPr sz="1900" b="1" i="0" dirty="0" err="1">
                <a:solidFill>
                  <a:srgbClr val="2366C0"/>
                </a:solidFill>
                <a:latin typeface="Times New Roman"/>
              </a:rPr>
              <a:t>числом</a:t>
            </a:r>
            <a:r>
              <a:rPr sz="1900" b="1" i="0" dirty="0">
                <a:solidFill>
                  <a:srgbClr val="2366C0"/>
                </a:solidFill>
                <a:latin typeface="Times New Roman"/>
              </a:rPr>
              <a:t> </a:t>
            </a:r>
            <a:r>
              <a:rPr sz="1900" b="1" i="0" dirty="0" err="1">
                <a:solidFill>
                  <a:srgbClr val="2366C0"/>
                </a:solidFill>
                <a:latin typeface="Times New Roman"/>
              </a:rPr>
              <a:t>повторений</a:t>
            </a:r>
            <a:r>
              <a:rPr sz="1900" b="1" i="0" dirty="0">
                <a:solidFill>
                  <a:srgbClr val="2366C0"/>
                </a:solidFill>
                <a:latin typeface="Times New Roman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ACD066-E49A-4044-8760-D7FD188CA893}"/>
              </a:ext>
            </a:extLst>
          </p:cNvPr>
          <p:cNvSpPr txBox="1"/>
          <p:nvPr/>
        </p:nvSpPr>
        <p:spPr>
          <a:xfrm>
            <a:off x="1055914" y="6012771"/>
            <a:ext cx="10246070" cy="65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= {1, 3, 5, 7, 9}; B = {9, 7, 5, 3, 1, 3}; C = {1, 3, 5, 7, 11}.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Ответ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A = B,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 ≠ C и B ≠ C,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поскольку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C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9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присутствует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11.</a:t>
            </a:r>
            <a:endParaRPr lang="ru-RU" sz="16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Способы задания множеств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10512"/>
            <a:ext cx="3675887" cy="2871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938528"/>
            <a:ext cx="3310127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1. Перечислением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2532888"/>
            <a:ext cx="3328416" cy="75895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3236976" cy="6858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2366C0"/>
                </a:solidFill>
                <a:latin typeface="Times New Roman"/>
              </a:rPr>
              <a:t>A = {2, 4, 6, 8}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593592"/>
            <a:ext cx="3319272" cy="7863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203A53"/>
                </a:solidFill>
                <a:latin typeface="Times New Roman"/>
              </a:rPr>
              <a:t>Удобно, когда элементов немного.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10512"/>
            <a:ext cx="3675887" cy="2871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72584" y="1938528"/>
            <a:ext cx="3310127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2. По условию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532888"/>
            <a:ext cx="3328416" cy="8046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2560320"/>
            <a:ext cx="3236976" cy="7315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600" b="1" i="0">
                <a:solidFill>
                  <a:srgbClr val="2366C0"/>
                </a:solidFill>
                <a:latin typeface="Times New Roman"/>
              </a:rPr>
              <a:t>A = {x ∈ ℕ | x &lt; 10, x чётное}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3593592"/>
            <a:ext cx="3319272" cy="7863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203A53"/>
                </a:solidFill>
                <a:latin typeface="Times New Roman"/>
              </a:rPr>
              <a:t>Подходит и для больших или бесконечных множеств.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7616" y="1810512"/>
            <a:ext cx="3675887" cy="2871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0496" y="1938528"/>
            <a:ext cx="3310127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3. Словесно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31352" y="2532888"/>
            <a:ext cx="3328416" cy="75895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77072" y="2560320"/>
            <a:ext cx="3236976" cy="6858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2366C0"/>
                </a:solidFill>
                <a:latin typeface="Times New Roman"/>
              </a:rPr>
              <a:t>Все чётные натуральные числа меньше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3593592"/>
            <a:ext cx="3319272" cy="7863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203A53"/>
                </a:solidFill>
                <a:latin typeface="Times New Roman"/>
              </a:rPr>
              <a:t>Точное описание общего свойства.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5010912"/>
            <a:ext cx="10945368" cy="923544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5202936"/>
            <a:ext cx="2066543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1" i="0">
                <a:solidFill>
                  <a:srgbClr val="172E48"/>
                </a:solidFill>
                <a:latin typeface="Times New Roman"/>
              </a:rPr>
              <a:t>Один результат: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193792"/>
            <a:ext cx="4700016" cy="35661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400" b="1" i="0">
                <a:solidFill>
                  <a:srgbClr val="2366C0"/>
                </a:solidFill>
                <a:latin typeface="Times New Roman"/>
              </a:rPr>
              <a:t>A = {2, 4, 6, 8}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239512"/>
            <a:ext cx="2752344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ℕ = {1, 2, 3, …}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A51DCF-6C39-4A19-A9C7-FFDB0132E0DB}"/>
              </a:ext>
            </a:extLst>
          </p:cNvPr>
          <p:cNvSpPr txBox="1"/>
          <p:nvPr/>
        </p:nvSpPr>
        <p:spPr>
          <a:xfrm>
            <a:off x="731519" y="6044184"/>
            <a:ext cx="11192256" cy="65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 = {x ∈ N | 3 ≤ x &lt; 9}.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Шаг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берём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натуральные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числа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начиная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3.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Шаг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исключаем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9 и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числа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больше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него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Шаг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3: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перечисляем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B = {3, 4, 5, 6, 7, 8}.</a:t>
            </a:r>
            <a:endParaRPr lang="ru-RU" sz="16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Виды множеств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18488"/>
            <a:ext cx="3666744" cy="1764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746504"/>
            <a:ext cx="3300984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Конечное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21992"/>
            <a:ext cx="3273552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400" b="1" i="0">
                <a:solidFill>
                  <a:srgbClr val="2366C0"/>
                </a:solidFill>
                <a:latin typeface="Times New Roman"/>
              </a:rPr>
              <a:t>{2, 4, 6, 8}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743200"/>
            <a:ext cx="3319272" cy="4663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Конечное число элементов.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18488"/>
            <a:ext cx="3666744" cy="1764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746504"/>
            <a:ext cx="3300984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Бесконечное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221992"/>
            <a:ext cx="3273552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400" b="1" i="0">
                <a:solidFill>
                  <a:srgbClr val="2366C0"/>
                </a:solidFill>
                <a:latin typeface="Times New Roman"/>
              </a:rPr>
              <a:t>ℕ = {1, 2, 3, …}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3319272" cy="4663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Не имеет конечной мощности.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6" y="1618488"/>
            <a:ext cx="3666744" cy="1764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0496" y="1746504"/>
            <a:ext cx="3300984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Пустое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2221992"/>
            <a:ext cx="3273552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400" b="1" i="0">
                <a:solidFill>
                  <a:srgbClr val="2366C0"/>
                </a:solidFill>
                <a:latin typeface="Times New Roman"/>
              </a:rPr>
              <a:t>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743200"/>
            <a:ext cx="3319272" cy="4663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Не содержит элементов.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575304"/>
            <a:ext cx="3666744" cy="1764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" y="3703320"/>
            <a:ext cx="3300984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Универсальное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178808"/>
            <a:ext cx="3273552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400" b="1" i="0">
                <a:solidFill>
                  <a:srgbClr val="2366C0"/>
                </a:solidFill>
                <a:latin typeface="Times New Roman"/>
              </a:rPr>
              <a:t>U = {1, …, 10}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319272" cy="4663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Все объекты текущей задачи.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575304"/>
            <a:ext cx="3666744" cy="1764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3703320"/>
            <a:ext cx="3300984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Одноэлементное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178808"/>
            <a:ext cx="3273552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400" b="1" i="0">
                <a:solidFill>
                  <a:srgbClr val="2366C0"/>
                </a:solidFill>
                <a:latin typeface="Times New Roman"/>
              </a:rPr>
              <a:t>{7}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700016"/>
            <a:ext cx="3319272" cy="4663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Ровно один элемент.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48472" y="3575304"/>
            <a:ext cx="3246120" cy="1755648"/>
          </a:xfrm>
          <a:prstGeom prst="roundRect">
            <a:avLst>
              <a:gd name="adj" fmla="val 12000"/>
            </a:avLst>
          </a:prstGeom>
          <a:solidFill>
            <a:srgbClr val="FFF2E1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31352" y="3703320"/>
            <a:ext cx="2880360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Не путать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04504" y="4261104"/>
            <a:ext cx="2706624" cy="54864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50224" y="4288536"/>
            <a:ext cx="2615184" cy="4754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500" b="1" i="0">
                <a:solidFill>
                  <a:srgbClr val="2366C0"/>
                </a:solidFill>
                <a:latin typeface="Times New Roman"/>
              </a:rPr>
              <a:t>∅ ≠ {0}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4956048"/>
            <a:ext cx="297180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400" b="0" i="0">
                <a:solidFill>
                  <a:srgbClr val="5C7087"/>
                </a:solidFill>
                <a:latin typeface="Times New Roman"/>
              </a:rPr>
              <a:t>∅ — нет элементов; {0} — один.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223F93-19D1-4DCC-8FAE-997521768154}"/>
              </a:ext>
            </a:extLst>
          </p:cNvPr>
          <p:cNvSpPr txBox="1"/>
          <p:nvPr/>
        </p:nvSpPr>
        <p:spPr>
          <a:xfrm>
            <a:off x="1154973" y="5742432"/>
            <a:ext cx="10024655" cy="65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Пусть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U = {1, 2, 3, 4, 5, 6}, A = {2, 4, 6}, B = {}, C = {5}.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U —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универсальное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множество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 —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конечное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B —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пустое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C —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одноэлементное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они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одновременно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конечные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Подмножество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Включение — отношение между двумя множествами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37360"/>
            <a:ext cx="6419088" cy="4453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2029968"/>
            <a:ext cx="5916168" cy="658368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5824728" cy="58521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3000" b="1" i="0">
                <a:solidFill>
                  <a:srgbClr val="2366C0"/>
                </a:solidFill>
                <a:latin typeface="Times New Roman"/>
              </a:rPr>
              <a:t>A ⊆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5586984" cy="4114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 dirty="0" err="1">
                <a:solidFill>
                  <a:srgbClr val="172E48"/>
                </a:solidFill>
                <a:latin typeface="Times New Roman"/>
              </a:rPr>
              <a:t>Каждый</a:t>
            </a:r>
            <a:r>
              <a:rPr sz="2300" b="1" i="0" dirty="0">
                <a:solidFill>
                  <a:srgbClr val="172E48"/>
                </a:solidFill>
                <a:latin typeface="Times New Roman"/>
              </a:rPr>
              <a:t> </a:t>
            </a:r>
            <a:r>
              <a:rPr sz="2300" b="1" i="0" dirty="0" err="1">
                <a:solidFill>
                  <a:srgbClr val="172E48"/>
                </a:solidFill>
                <a:latin typeface="Times New Roman"/>
              </a:rPr>
              <a:t>элемент</a:t>
            </a:r>
            <a:r>
              <a:rPr sz="2300" b="1" i="0" dirty="0">
                <a:solidFill>
                  <a:srgbClr val="172E48"/>
                </a:solidFill>
                <a:latin typeface="Times New Roman"/>
              </a:rPr>
              <a:t> A </a:t>
            </a:r>
            <a:r>
              <a:rPr sz="2300" b="1" i="0" dirty="0" err="1">
                <a:solidFill>
                  <a:srgbClr val="172E48"/>
                </a:solidFill>
                <a:latin typeface="Times New Roman"/>
              </a:rPr>
              <a:t>принадлежит</a:t>
            </a:r>
            <a:r>
              <a:rPr sz="2300" b="1" i="0" dirty="0">
                <a:solidFill>
                  <a:srgbClr val="172E48"/>
                </a:solidFill>
                <a:latin typeface="Times New Roman"/>
              </a:rPr>
              <a:t>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29584"/>
            <a:ext cx="556869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0" i="0">
                <a:solidFill>
                  <a:srgbClr val="203A53"/>
                </a:solidFill>
                <a:latin typeface="Times New Roman"/>
              </a:rPr>
              <a:t>A = {2, 4, 6}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5532120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0" i="0" dirty="0">
                <a:solidFill>
                  <a:srgbClr val="203A53"/>
                </a:solidFill>
                <a:latin typeface="Times New Roman"/>
              </a:rPr>
              <a:t>B = {1, 2, 3, 4, 5, 6}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581144"/>
            <a:ext cx="5678424" cy="12618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>
                <a:solidFill>
                  <a:srgbClr val="203A53"/>
                </a:solidFill>
                <a:latin typeface="Times New Roman"/>
              </a:rPr>
              <a:t>• Если A ⊆ B и A ≠ B, то A — собственное подмножество B.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>
                <a:solidFill>
                  <a:srgbClr val="203A53"/>
                </a:solidFill>
                <a:latin typeface="Times New Roman"/>
              </a:rPr>
              <a:t>• Каждое множество — подмножество самого себя: A ⊆ 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>
                <a:solidFill>
                  <a:srgbClr val="203A53"/>
                </a:solidFill>
                <a:latin typeface="Times New Roman"/>
              </a:rPr>
              <a:t>• Пустое множество включено в любое: ∅ ⊆ 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1192" y="1737360"/>
            <a:ext cx="4325112" cy="4453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venn_sub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231136"/>
            <a:ext cx="3858768" cy="23408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16368" y="4791456"/>
            <a:ext cx="3840480" cy="3657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2 ∈ A — число внутри множества.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5230368"/>
            <a:ext cx="3803904" cy="5486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A ⊆ B — множество внутри множества.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D3D6C3-D82A-409F-9A8C-899B8BA8AEA9}"/>
              </a:ext>
            </a:extLst>
          </p:cNvPr>
          <p:cNvSpPr txBox="1"/>
          <p:nvPr/>
        </p:nvSpPr>
        <p:spPr>
          <a:xfrm>
            <a:off x="793786" y="6177908"/>
            <a:ext cx="10721122" cy="65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 —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группы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A —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посещающие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программирование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Тогда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 ⊆ U.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хотя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посещает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кружок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 ⊊ U.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удобная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модель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систем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категориями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группами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пользователей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Отношения между множествами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700784"/>
            <a:ext cx="5449824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enn_eq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83664"/>
            <a:ext cx="2715768" cy="14996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38728" y="2148840"/>
            <a:ext cx="2331720" cy="4023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172E48"/>
                </a:solidFill>
                <a:latin typeface="Times New Roman"/>
              </a:rPr>
              <a:t>Равные множества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734056"/>
            <a:ext cx="2295144" cy="3657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A =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00784"/>
            <a:ext cx="5449824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venn_sub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883664"/>
            <a:ext cx="2715768" cy="14996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80576" y="2148840"/>
            <a:ext cx="2331720" cy="4023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172E48"/>
                </a:solidFill>
                <a:latin typeface="Times New Roman"/>
              </a:rPr>
              <a:t>Включение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2734056"/>
            <a:ext cx="2295144" cy="3657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A ⊆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849624"/>
            <a:ext cx="5449824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venn_inters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032504"/>
            <a:ext cx="2715768" cy="14996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38728" y="4297680"/>
            <a:ext cx="2331720" cy="4023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172E48"/>
                </a:solidFill>
                <a:latin typeface="Times New Roman"/>
              </a:rPr>
              <a:t>Пересекающиеся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4882896"/>
            <a:ext cx="2295144" cy="3657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A ∩ B ≠ 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3849624"/>
            <a:ext cx="5449824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venn_disjo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4032504"/>
            <a:ext cx="2715768" cy="14996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80576" y="4297680"/>
            <a:ext cx="2331720" cy="4023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172E48"/>
                </a:solidFill>
                <a:latin typeface="Times New Roman"/>
              </a:rPr>
              <a:t>Непересекающиеся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4882896"/>
            <a:ext cx="2295144" cy="3657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A ∩ B = 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025FF6-F335-4C32-93EE-C58DCC00FFB7}"/>
              </a:ext>
            </a:extLst>
          </p:cNvPr>
          <p:cNvSpPr txBox="1"/>
          <p:nvPr/>
        </p:nvSpPr>
        <p:spPr>
          <a:xfrm>
            <a:off x="612648" y="5797453"/>
            <a:ext cx="11146970" cy="952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= {2, 4, 6, 8}, B = {4, 8, 12, 16}.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Множества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равны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ни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включено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другое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они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пересекаются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поскольку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имеют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общие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4 и 8. В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отличие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них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множества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нечётных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чётных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натуральных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чисел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пересекаются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Объединение множеств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Все элементы хотя бы одного множества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01368"/>
            <a:ext cx="6492240" cy="4370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2048256"/>
            <a:ext cx="5998464" cy="658368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75688"/>
            <a:ext cx="5907024" cy="58521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A ∪ B = {x | x ∈ A ∨ x ∈ B}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843784"/>
            <a:ext cx="585216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2366C0"/>
                </a:solidFill>
                <a:latin typeface="Times New Roman"/>
              </a:rPr>
              <a:t>ПРИМЕР С РЕШЕНИЕМ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227832"/>
            <a:ext cx="5760720" cy="6035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0" i="0">
                <a:solidFill>
                  <a:srgbClr val="203A53"/>
                </a:solidFill>
                <a:latin typeface="Times New Roman"/>
              </a:rPr>
              <a:t>A = {1, 2, 3, 4, 5};  B = {4, 5, 6, 7, 8}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986784"/>
            <a:ext cx="5806440" cy="8686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0" i="0">
                <a:solidFill>
                  <a:srgbClr val="203A53"/>
                </a:solidFill>
                <a:latin typeface="Times New Roman"/>
              </a:rPr>
              <a:t>Сначала выписываем элементы A, затем добавляем отсутствующие элементы 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5193792"/>
            <a:ext cx="5961888" cy="658368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5303520"/>
            <a:ext cx="5742432" cy="3840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6765C"/>
                </a:solidFill>
                <a:latin typeface="Times New Roman"/>
              </a:rPr>
              <a:t>A ∪ B = {1, 2, 3, 4, 5, 6, 7, 8}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1801368"/>
            <a:ext cx="4242816" cy="437083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venn_un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286000"/>
            <a:ext cx="3886200" cy="2331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53527" y="4892040"/>
            <a:ext cx="3657600" cy="9052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∨ — логическое ИЛИ; повторения не учитываются.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6D3B5B-9E5F-4AAF-8CA4-05F2F4BEF872}"/>
              </a:ext>
            </a:extLst>
          </p:cNvPr>
          <p:cNvSpPr txBox="1"/>
          <p:nvPr/>
        </p:nvSpPr>
        <p:spPr>
          <a:xfrm>
            <a:off x="909175" y="6181784"/>
            <a:ext cx="10110649" cy="65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= {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Иванов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Петров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Смирнов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}, B = {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Петров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Сидоров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Кузнецов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Тогда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 ∪ B = {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Иванов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Петров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Смирнов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Сидоров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Кузнецов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Петров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присутствующий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обоих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списках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дублируется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 dirty="0" err="1">
                <a:solidFill>
                  <a:srgbClr val="172E48"/>
                </a:solidFill>
                <a:latin typeface="Times New Roman"/>
              </a:rPr>
              <a:t>Пересечение</a:t>
            </a:r>
            <a:r>
              <a:rPr sz="3200" b="1" i="0" dirty="0">
                <a:solidFill>
                  <a:srgbClr val="172E48"/>
                </a:solidFill>
                <a:latin typeface="Times New Roman"/>
              </a:rPr>
              <a:t> </a:t>
            </a:r>
            <a:r>
              <a:rPr sz="3200" b="1" i="0" dirty="0" err="1">
                <a:solidFill>
                  <a:srgbClr val="172E48"/>
                </a:solidFill>
                <a:latin typeface="Times New Roman"/>
              </a:rPr>
              <a:t>множеств</a:t>
            </a:r>
            <a:endParaRPr sz="3200" b="1" i="0" dirty="0">
              <a:solidFill>
                <a:srgbClr val="172E48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941614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 dirty="0" err="1">
                <a:solidFill>
                  <a:srgbClr val="5C7087"/>
                </a:solidFill>
                <a:latin typeface="Times New Roman"/>
              </a:rPr>
              <a:t>Только</a:t>
            </a:r>
            <a:r>
              <a:rPr sz="1700" b="0" i="0" dirty="0">
                <a:solidFill>
                  <a:srgbClr val="5C708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5C7087"/>
                </a:solidFill>
                <a:latin typeface="Times New Roman"/>
              </a:rPr>
              <a:t>общие</a:t>
            </a:r>
            <a:r>
              <a:rPr sz="1700" b="0" i="0" dirty="0">
                <a:solidFill>
                  <a:srgbClr val="5C708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5C7087"/>
                </a:solidFill>
                <a:latin typeface="Times New Roman"/>
              </a:rPr>
              <a:t>элементы</a:t>
            </a:r>
            <a:r>
              <a:rPr sz="1700" b="0" i="0" dirty="0">
                <a:solidFill>
                  <a:srgbClr val="5C708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5C7087"/>
                </a:solidFill>
                <a:latin typeface="Times New Roman"/>
              </a:rPr>
              <a:t>двух</a:t>
            </a:r>
            <a:r>
              <a:rPr sz="1700" b="0" i="0" dirty="0">
                <a:solidFill>
                  <a:srgbClr val="5C708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5C7087"/>
                </a:solidFill>
                <a:latin typeface="Times New Roman"/>
              </a:rPr>
              <a:t>множеств</a:t>
            </a:r>
            <a:endParaRPr sz="1700" b="0" i="0" dirty="0">
              <a:solidFill>
                <a:srgbClr val="5C7087"/>
              </a:solidFill>
              <a:latin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2648" y="1371164"/>
            <a:ext cx="6492240" cy="4370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1618052"/>
            <a:ext cx="5998464" cy="658368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645484"/>
            <a:ext cx="5907024" cy="58521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A ∩ B = {x | x ∈ A ∧ x ∈ B}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3580"/>
            <a:ext cx="585216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2366C0"/>
                </a:solidFill>
                <a:latin typeface="Times New Roman"/>
              </a:rPr>
              <a:t>ПРИМЕР С РЕШЕНИЕМ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797628"/>
            <a:ext cx="5760720" cy="6035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0" i="0">
                <a:solidFill>
                  <a:srgbClr val="203A53"/>
                </a:solidFill>
                <a:latin typeface="Times New Roman"/>
              </a:rPr>
              <a:t>A = {1, 2, 3, 4, 5};  B = {4, 5, 6, 7, 8}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56580"/>
            <a:ext cx="5806440" cy="8686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0" i="0">
                <a:solidFill>
                  <a:srgbClr val="203A53"/>
                </a:solidFill>
                <a:latin typeface="Times New Roman"/>
              </a:rPr>
              <a:t>Сравниваем состав двух множеств: общими являются только 4 и 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4763588"/>
            <a:ext cx="5961888" cy="658368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4873316"/>
            <a:ext cx="5742432" cy="3840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6765C"/>
                </a:solidFill>
                <a:latin typeface="Times New Roman"/>
              </a:rPr>
              <a:t>A ∩ B = {4, 5}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334806"/>
            <a:ext cx="4242816" cy="437083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venn_inter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5" y="1819438"/>
            <a:ext cx="3886200" cy="2331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44383" y="4425478"/>
            <a:ext cx="3657600" cy="9052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∧ — логическое И; при отсутствии общих элементов результат ∅.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EB49C5-5ABB-44A8-89C4-70C9EA6BAEDD}"/>
              </a:ext>
            </a:extLst>
          </p:cNvPr>
          <p:cNvSpPr txBox="1"/>
          <p:nvPr/>
        </p:nvSpPr>
        <p:spPr>
          <a:xfrm>
            <a:off x="709314" y="5946856"/>
            <a:ext cx="11018520" cy="65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= {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Иванов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Петров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Смирнов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Сидоров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 —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Python; B = {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Петров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Смирнов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Кузнецов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Орлов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 —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C#.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Тогда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 ∩ B = {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Петров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Смирнов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потому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эти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изучают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языка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Разность множеств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Есть в A, но отсутствует в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01368"/>
            <a:ext cx="6492240" cy="4370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2048256"/>
            <a:ext cx="5998464" cy="658368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75688"/>
            <a:ext cx="5907024" cy="58521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A \ B = {x | x ∈ A ∧ x ∉ B}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843784"/>
            <a:ext cx="585216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2366C0"/>
                </a:solidFill>
                <a:latin typeface="Times New Roman"/>
              </a:rPr>
              <a:t>ПРИМЕР С РЕШЕНИЕМ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227832"/>
            <a:ext cx="5760720" cy="6035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0" i="0">
                <a:solidFill>
                  <a:srgbClr val="203A53"/>
                </a:solidFill>
                <a:latin typeface="Times New Roman"/>
              </a:rPr>
              <a:t>A = {1, 2, 3, 4, 5};  B = {4, 5, 6, 7, 8}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986784"/>
            <a:ext cx="5806440" cy="8686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0" i="0">
                <a:solidFill>
                  <a:srgbClr val="203A53"/>
                </a:solidFill>
                <a:latin typeface="Times New Roman"/>
              </a:rPr>
              <a:t>Исключаем из множества A его общие с B элементы 4 и 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5193792"/>
            <a:ext cx="5961888" cy="658368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5303520"/>
            <a:ext cx="5742432" cy="3840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6765C"/>
                </a:solidFill>
                <a:latin typeface="Times New Roman"/>
              </a:rPr>
              <a:t>A \ B = {1, 2, 3}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1801368"/>
            <a:ext cx="4242816" cy="437083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venn_dif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286000"/>
            <a:ext cx="3886200" cy="2331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53527" y="4892040"/>
            <a:ext cx="3657600" cy="9052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Порядок важен: B \ A = {6, 7, 8}.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CC8FD2-0F3B-CC9D-74DA-2A920D6E4444}"/>
              </a:ext>
            </a:extLst>
          </p:cNvPr>
          <p:cNvSpPr txBox="1"/>
          <p:nvPr/>
        </p:nvSpPr>
        <p:spPr>
          <a:xfrm>
            <a:off x="993956" y="6327648"/>
            <a:ext cx="10203781" cy="3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8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8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8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= {2, 4, 6, 8, 10}, B = {4, 8, 12, 16}. </a:t>
            </a:r>
            <a:r>
              <a:rPr lang="en-US" sz="18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Получаем</a:t>
            </a:r>
            <a:r>
              <a:rPr lang="en-US" sz="18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 \ B = {2, 6, 10}, а B \ A = {12, 16}. </a:t>
            </a:r>
            <a:endParaRPr lang="ru-RU" sz="18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Симметрическая разность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Принадлежит ровно одному из множеств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01368"/>
            <a:ext cx="6492240" cy="4370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2048256"/>
            <a:ext cx="5998464" cy="658368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75688"/>
            <a:ext cx="5907024" cy="58521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A △ B = (A \ B) ∪ (B \ 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843784"/>
            <a:ext cx="585216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2366C0"/>
                </a:solidFill>
                <a:latin typeface="Times New Roman"/>
              </a:rPr>
              <a:t>ПРИМЕР С РЕШЕНИЕМ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227832"/>
            <a:ext cx="5760720" cy="6035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0" i="0">
                <a:solidFill>
                  <a:srgbClr val="203A53"/>
                </a:solidFill>
                <a:latin typeface="Times New Roman"/>
              </a:rPr>
              <a:t>A = {1, 2, 3, 4, 5};  B = {4, 5, 6, 7, 8}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986784"/>
            <a:ext cx="5806440" cy="8686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0" i="0">
                <a:solidFill>
                  <a:srgbClr val="203A53"/>
                </a:solidFill>
                <a:latin typeface="Times New Roman"/>
              </a:rPr>
              <a:t>Находим A \ B = {1, 2, 3} и B \ A = {6, 7, 8}; объединяем.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5193792"/>
            <a:ext cx="5961888" cy="658368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5303520"/>
            <a:ext cx="5742432" cy="3840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6765C"/>
                </a:solidFill>
                <a:latin typeface="Times New Roman"/>
              </a:rPr>
              <a:t>A △ B = {1, 2, 3, 6, 7, 8}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1801368"/>
            <a:ext cx="4242816" cy="437083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venn_symmet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286000"/>
            <a:ext cx="3886200" cy="2331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53527" y="4892040"/>
            <a:ext cx="3657600" cy="9052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Соответствует XOR; ещё одна форма: (A ∪ B) \ (A ∩ B).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3F792C-C0F3-4431-844C-229163BDB331}"/>
              </a:ext>
            </a:extLst>
          </p:cNvPr>
          <p:cNvSpPr txBox="1"/>
          <p:nvPr/>
        </p:nvSpPr>
        <p:spPr>
          <a:xfrm>
            <a:off x="665335" y="6335349"/>
            <a:ext cx="11329415" cy="35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= {2, 4, 6, 8, 10}, B = {4, 8, 12, 16}.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Общие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4 и 8.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Следовательно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 △ B = {2, 6, 10, 12, 16}.</a:t>
            </a:r>
            <a:endParaRPr lang="ru-RU" sz="16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Дополнение множества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Все элементы U за пределами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01368"/>
            <a:ext cx="6492240" cy="4370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2048256"/>
            <a:ext cx="5998464" cy="658368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75688"/>
            <a:ext cx="5907024" cy="58521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Ā = U \ A = {x ∈ U | x ∉ A}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843784"/>
            <a:ext cx="585216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2366C0"/>
                </a:solidFill>
                <a:latin typeface="Times New Roman"/>
              </a:rPr>
              <a:t>ПРИМЕР С РЕШЕНИЕМ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227832"/>
            <a:ext cx="5760720" cy="6035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0" i="0">
                <a:solidFill>
                  <a:srgbClr val="203A53"/>
                </a:solidFill>
                <a:latin typeface="Times New Roman"/>
              </a:rPr>
              <a:t>U = {1, 2, …, 10};  A = {2, 4, 6, 8, 10}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986784"/>
            <a:ext cx="5806440" cy="8686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900" b="0" i="0">
                <a:solidFill>
                  <a:srgbClr val="203A53"/>
                </a:solidFill>
                <a:latin typeface="Times New Roman"/>
              </a:rPr>
              <a:t>Из универсального множества исключаем элементы A — остаются нечётные числа.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5193792"/>
            <a:ext cx="5961888" cy="658368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5303520"/>
            <a:ext cx="5742432" cy="3840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6765C"/>
                </a:solidFill>
                <a:latin typeface="Times New Roman"/>
              </a:rPr>
              <a:t>Ā = {1, 3, 5, 7, 9}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1801368"/>
            <a:ext cx="4242816" cy="437083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venn_compl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286000"/>
            <a:ext cx="3886200" cy="2331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53527" y="4892040"/>
            <a:ext cx="3657600" cy="9052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Дополнение зависит от U; соответствует логическому НЕ.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810DED-12F1-4870-AD94-4EAEDE29EFBA}"/>
              </a:ext>
            </a:extLst>
          </p:cNvPr>
          <p:cNvSpPr txBox="1"/>
          <p:nvPr/>
        </p:nvSpPr>
        <p:spPr>
          <a:xfrm>
            <a:off x="859535" y="6248195"/>
            <a:ext cx="105247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 = {1, 2, 3, 4, 5, 6, 7, 8, 9}; A = {1, 2, 3, 4, 5}; B = {4, 5, 6, 7}.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Находим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Ā = {6, 7, 8, 9}.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Ā ∩ B = {6, 7}: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эти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находятся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B,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отсутствуют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A.</a:t>
            </a:r>
            <a:endParaRPr lang="ru-RU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Диаграммы Эйлера — Венна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Четыре непересекающиеся области для двух множеств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64792"/>
            <a:ext cx="6583680" cy="4462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venn_none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176272"/>
            <a:ext cx="6099048" cy="35844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34072" y="1764792"/>
            <a:ext cx="4133087" cy="44622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16952" y="1892807"/>
            <a:ext cx="3767327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Как читать диаграмму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4383" y="2377440"/>
            <a:ext cx="3749039" cy="330098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366C0"/>
                </a:solidFill>
                <a:latin typeface="Times New Roman"/>
              </a:rPr>
              <a:t>Прямоугольник U — </a:t>
            </a:r>
            <a:r>
              <a:rPr sz="1800">
                <a:solidFill>
                  <a:srgbClr val="203A53"/>
                </a:solidFill>
                <a:latin typeface="Times New Roman"/>
              </a:rPr>
              <a:t>все рассматриваемые элементы.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366C0"/>
                </a:solidFill>
                <a:latin typeface="Times New Roman"/>
              </a:rPr>
              <a:t>Круг A и круг B — </a:t>
            </a:r>
            <a:r>
              <a:rPr sz="1800">
                <a:solidFill>
                  <a:srgbClr val="203A53"/>
                </a:solidFill>
                <a:latin typeface="Times New Roman"/>
              </a:rPr>
              <a:t>два множества.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366C0"/>
                </a:solidFill>
                <a:latin typeface="Times New Roman"/>
              </a:rPr>
              <a:t>Пересечение — </a:t>
            </a:r>
            <a:r>
              <a:rPr sz="1800">
                <a:solidFill>
                  <a:srgbClr val="203A53"/>
                </a:solidFill>
                <a:latin typeface="Times New Roman"/>
              </a:rPr>
              <a:t>элементы 2, 4, 6.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366C0"/>
                </a:solidFill>
                <a:latin typeface="Times New Roman"/>
              </a:rPr>
              <a:t>Вне кругов — </a:t>
            </a:r>
            <a:r>
              <a:rPr sz="1800">
                <a:solidFill>
                  <a:srgbClr val="203A53"/>
                </a:solidFill>
                <a:latin typeface="Times New Roman"/>
              </a:rPr>
              <a:t>элемент 9.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9E9AA-870C-4368-8E76-95218B51F87E}"/>
              </a:ext>
            </a:extLst>
          </p:cNvPr>
          <p:cNvSpPr txBox="1"/>
          <p:nvPr/>
        </p:nvSpPr>
        <p:spPr>
          <a:xfrm>
            <a:off x="877824" y="6200512"/>
            <a:ext cx="10752473" cy="65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указанного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U, A и B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имеем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 = {1, 3, 5, 7};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общая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часть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{2, 4, 6};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B = {8, 10};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обоих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{9}.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Убедимся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перечисленные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части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образуют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всё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U и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нигде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Операции на диаграммах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Сравните выделенные области и формулы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55064"/>
            <a:ext cx="368503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venn_un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801368"/>
            <a:ext cx="3273552" cy="1490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" y="3246120"/>
            <a:ext cx="2606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1" i="0">
                <a:solidFill>
                  <a:srgbClr val="172E48"/>
                </a:solidFill>
                <a:latin typeface="Times New Roman"/>
              </a:rPr>
              <a:t>Объединение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3246120"/>
            <a:ext cx="923544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1600" b="1" i="0">
                <a:solidFill>
                  <a:srgbClr val="2366C0"/>
                </a:solidFill>
                <a:latin typeface="Times New Roman"/>
              </a:rPr>
              <a:t>A ∪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655064"/>
            <a:ext cx="368503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venn_inters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801368"/>
            <a:ext cx="3273552" cy="1490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08576" y="3246120"/>
            <a:ext cx="2606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1" i="0">
                <a:solidFill>
                  <a:srgbClr val="172E48"/>
                </a:solidFill>
                <a:latin typeface="Times New Roman"/>
              </a:rPr>
              <a:t>Пересечение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3246120"/>
            <a:ext cx="923544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1600" b="1" i="0">
                <a:solidFill>
                  <a:srgbClr val="2366C0"/>
                </a:solidFill>
                <a:latin typeface="Times New Roman"/>
              </a:rPr>
              <a:t>A ∩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0184" y="1655064"/>
            <a:ext cx="368503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venn_differ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1801368"/>
            <a:ext cx="3273552" cy="1490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76488" y="3246120"/>
            <a:ext cx="2606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1" i="0">
                <a:solidFill>
                  <a:srgbClr val="172E48"/>
                </a:solidFill>
                <a:latin typeface="Times New Roman"/>
              </a:rPr>
              <a:t>Разность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0504" y="3246120"/>
            <a:ext cx="923544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1600" b="1" i="0">
                <a:solidFill>
                  <a:srgbClr val="2366C0"/>
                </a:solidFill>
                <a:latin typeface="Times New Roman"/>
              </a:rPr>
              <a:t>A \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95344"/>
            <a:ext cx="368503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venn_rever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041648"/>
            <a:ext cx="3273552" cy="14904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0664" y="5486400"/>
            <a:ext cx="2606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1" i="0">
                <a:solidFill>
                  <a:srgbClr val="172E48"/>
                </a:solidFill>
                <a:latin typeface="Times New Roman"/>
              </a:rPr>
              <a:t>Обратная разность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79" y="5486400"/>
            <a:ext cx="923544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1600" b="1" i="0">
                <a:solidFill>
                  <a:srgbClr val="2366C0"/>
                </a:solidFill>
                <a:latin typeface="Times New Roman"/>
              </a:rPr>
              <a:t>B \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2272" y="3895344"/>
            <a:ext cx="368503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venn_symmetr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041648"/>
            <a:ext cx="3273552" cy="1490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08576" y="5486400"/>
            <a:ext cx="2606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1" i="0">
                <a:solidFill>
                  <a:srgbClr val="172E48"/>
                </a:solidFill>
                <a:latin typeface="Times New Roman"/>
              </a:rPr>
              <a:t>Симметрическая разность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5486400"/>
            <a:ext cx="923544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1600" b="1" i="0">
                <a:solidFill>
                  <a:srgbClr val="2366C0"/>
                </a:solidFill>
                <a:latin typeface="Times New Roman"/>
              </a:rPr>
              <a:t>A △ 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0184" y="3895344"/>
            <a:ext cx="368503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venn_complem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1352" y="4041648"/>
            <a:ext cx="3273552" cy="1490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76488" y="5486400"/>
            <a:ext cx="2606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1" i="0">
                <a:solidFill>
                  <a:srgbClr val="172E48"/>
                </a:solidFill>
                <a:latin typeface="Times New Roman"/>
              </a:rPr>
              <a:t>Дополнение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90504" y="5486400"/>
            <a:ext cx="923544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1600" b="1" i="0">
                <a:solidFill>
                  <a:srgbClr val="2366C0"/>
                </a:solidFill>
                <a:latin typeface="Times New Roman"/>
              </a:rPr>
              <a:t>Ā = U \ 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Вычисление по диаграмме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A = {1, 2, 3, 4, 5, 6, 7};   B = {2, 4, 6, 8, 10}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92224"/>
            <a:ext cx="5760720" cy="44256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venn_none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95144"/>
            <a:ext cx="5349240" cy="32735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28816" y="1792224"/>
            <a:ext cx="5038344" cy="44256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11696" y="1920240"/>
            <a:ext cx="4672583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Результаты операций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2468880"/>
            <a:ext cx="1097280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2366C0"/>
                </a:solidFill>
                <a:latin typeface="Times New Roman"/>
              </a:rPr>
              <a:t>A ∪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2468880"/>
            <a:ext cx="3438144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{1, 2, 3, 4, 5, 6, 7, 8, 10}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2980944"/>
            <a:ext cx="1097280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2366C0"/>
                </a:solidFill>
                <a:latin typeface="Times New Roman"/>
              </a:rPr>
              <a:t>A ∩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6136" y="2980944"/>
            <a:ext cx="3438144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{2, 4, 6}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3493008"/>
            <a:ext cx="1097280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2366C0"/>
                </a:solidFill>
                <a:latin typeface="Times New Roman"/>
              </a:rPr>
              <a:t>A \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3493008"/>
            <a:ext cx="3438144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{1, 3, 5, 7}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4005072"/>
            <a:ext cx="1097280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2366C0"/>
                </a:solidFill>
                <a:latin typeface="Times New Roman"/>
              </a:rPr>
              <a:t>B \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6136" y="4005072"/>
            <a:ext cx="3438144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{8, 10}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4517136"/>
            <a:ext cx="1097280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2366C0"/>
                </a:solidFill>
                <a:latin typeface="Times New Roman"/>
              </a:rPr>
              <a:t>A △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6136" y="4517136"/>
            <a:ext cx="3438144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{1, 3, 5, 7, 8, 10}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5029200"/>
            <a:ext cx="1097280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2366C0"/>
                </a:solidFill>
                <a:latin typeface="Times New Roman"/>
              </a:rPr>
              <a:t>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136" y="5029200"/>
            <a:ext cx="3438144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203A53"/>
                </a:solidFill>
                <a:latin typeface="Times New Roman"/>
              </a:rPr>
              <a:t>{8, 9, 10}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Законы теории множеств · часть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Переместительный, сочетательный, идемпотентности, поглощения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700784"/>
            <a:ext cx="5431536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5" y="1828800"/>
            <a:ext cx="506577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Коммутативный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13432"/>
            <a:ext cx="5010912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366C0"/>
                </a:solidFill>
                <a:latin typeface="Times New Roman"/>
              </a:rPr>
              <a:t>A ∪ B = B ∪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80360"/>
            <a:ext cx="5010912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0" i="0">
                <a:solidFill>
                  <a:srgbClr val="203A53"/>
                </a:solidFill>
                <a:latin typeface="Times New Roman"/>
              </a:rPr>
              <a:t>A ∩ B = B ∩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00784"/>
            <a:ext cx="5431536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506577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Ассоциативный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2313432"/>
            <a:ext cx="5010912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366C0"/>
                </a:solidFill>
                <a:latin typeface="Times New Roman"/>
              </a:rPr>
              <a:t>(A ∪ B) ∪ C = A ∪ (B ∪ 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2880360"/>
            <a:ext cx="5010912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0" i="0">
                <a:solidFill>
                  <a:srgbClr val="203A53"/>
                </a:solidFill>
                <a:latin typeface="Times New Roman"/>
              </a:rPr>
              <a:t>(A ∩ B) ∩ C = A ∩ (B ∩ 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" y="3849624"/>
            <a:ext cx="5431536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5" y="3977639"/>
            <a:ext cx="506577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Идемпотентности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462272"/>
            <a:ext cx="5010912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366C0"/>
                </a:solidFill>
                <a:latin typeface="Times New Roman"/>
              </a:rPr>
              <a:t>A ∪ A =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029200"/>
            <a:ext cx="5010912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0" i="0">
                <a:solidFill>
                  <a:srgbClr val="203A53"/>
                </a:solidFill>
                <a:latin typeface="Times New Roman"/>
              </a:rPr>
              <a:t>A ∩ A =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49624"/>
            <a:ext cx="5431536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977639"/>
            <a:ext cx="506577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Поглощения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4462272"/>
            <a:ext cx="5010912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366C0"/>
                </a:solidFill>
                <a:latin typeface="Times New Roman"/>
              </a:rPr>
              <a:t>A ∪ (A ∩ B) =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7" y="5029200"/>
            <a:ext cx="5010912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0" i="0">
                <a:solidFill>
                  <a:srgbClr val="203A53"/>
                </a:solidFill>
                <a:latin typeface="Times New Roman"/>
              </a:rPr>
              <a:t>A ∩ (A ∪ B) = 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Законы теории множеств · часть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Распределительные законы и законы де Моргана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10512"/>
            <a:ext cx="5513832" cy="3081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38528"/>
            <a:ext cx="514807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Дистрибутивные законы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" y="2496312"/>
            <a:ext cx="5001768" cy="71323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2523744"/>
            <a:ext cx="4910328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2366C0"/>
                </a:solidFill>
                <a:latin typeface="Times New Roman"/>
              </a:rPr>
              <a:t>A ∩ (B ∪ C) = (A ∩ B) ∪ (A ∩ 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3447288"/>
            <a:ext cx="5001768" cy="71323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" y="3474720"/>
            <a:ext cx="4910328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2366C0"/>
                </a:solidFill>
                <a:latin typeface="Times New Roman"/>
              </a:rPr>
              <a:t>A ∪ (B ∩ C) = (A ∪ B) ∩ (A ∪ 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1810512"/>
            <a:ext cx="5248656" cy="3081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938528"/>
            <a:ext cx="488289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Законы де Моргана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2496312"/>
            <a:ext cx="4764024" cy="71323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6611112" y="2652161"/>
                <a:ext cx="4672584" cy="383246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6000"/>
                  </a:lnSpc>
                  <a:spcAft>
                    <a:spcPts val="200"/>
                  </a:spcAft>
                </a:pPr>
                <a:r>
                  <a:rPr sz="2200" b="1" i="0" dirty="0">
                    <a:solidFill>
                      <a:srgbClr val="2366C0"/>
                    </a:solidFill>
                    <a:latin typeface="Times New Roman"/>
                  </a:rPr>
                  <a:t>¯(A ∪ B) = Ā ∩</a:t>
                </a:r>
                <a:r>
                  <a:rPr lang="ar-AE" sz="2200" b="1" dirty="0">
                    <a:solidFill>
                      <a:srgbClr val="2366C0"/>
                    </a:solidFill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ar-AE" sz="2200" b="1" dirty="0" smtClean="0">
                            <a:solidFill>
                              <a:srgbClr val="2366C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200" b="1" i="0" dirty="0" smtClean="0">
                            <a:solidFill>
                              <a:srgbClr val="2366C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bar>
                  </m:oMath>
                </a14:m>
                <a:endParaRPr sz="2200" b="1" dirty="0">
                  <a:solidFill>
                    <a:srgbClr val="2366C0"/>
                  </a:solidFill>
                  <a:latin typeface="Times New Roman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112" y="2652161"/>
                <a:ext cx="4672584" cy="383246"/>
              </a:xfrm>
              <a:prstGeom prst="rect">
                <a:avLst/>
              </a:prstGeom>
              <a:blipFill>
                <a:blip r:embed="rId3"/>
                <a:stretch>
                  <a:fillRect t="-12698" b="-42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/>
          <p:cNvSpPr/>
          <p:nvPr/>
        </p:nvSpPr>
        <p:spPr>
          <a:xfrm>
            <a:off x="6565392" y="3447288"/>
            <a:ext cx="4764024" cy="71323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6611112" y="3603137"/>
                <a:ext cx="4672584" cy="383246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6000"/>
                  </a:lnSpc>
                  <a:spcAft>
                    <a:spcPts val="200"/>
                  </a:spcAft>
                </a:pPr>
                <a:r>
                  <a:rPr lang="en-US" sz="2200" b="1" i="0" dirty="0">
                    <a:solidFill>
                      <a:srgbClr val="2366C0"/>
                    </a:solidFill>
                    <a:latin typeface="Times New Roman"/>
                  </a:rPr>
                  <a:t>¯(A ∩ B) = Ā </a:t>
                </a:r>
                <a:r>
                  <a:rPr lang="en-US" sz="2200" b="1" dirty="0">
                    <a:solidFill>
                      <a:srgbClr val="2366C0"/>
                    </a:solidFill>
                    <a:latin typeface="Times New Roman"/>
                  </a:rPr>
                  <a:t>∪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ar-AE" sz="2200" b="1" dirty="0" smtClean="0">
                            <a:solidFill>
                              <a:srgbClr val="2366C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200" b="1" i="0" dirty="0" smtClean="0">
                            <a:solidFill>
                              <a:srgbClr val="2366C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bar>
                    <m:r>
                      <a:rPr lang="ar-AE" sz="2200" b="1" i="0" dirty="0" smtClean="0">
                        <a:solidFill>
                          <a:srgbClr val="2366C0"/>
                        </a:solidFill>
                        <a:latin typeface="Cambria Math" panose="02040503050406030204" pitchFamily="18" charset="0"/>
                      </a:rPr>
                      <m:t>̄</m:t>
                    </m:r>
                  </m:oMath>
                </a14:m>
                <a:endParaRPr sz="2200" b="1" dirty="0">
                  <a:solidFill>
                    <a:srgbClr val="2366C0"/>
                  </a:solidFill>
                  <a:latin typeface="Times New Roman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112" y="3603137"/>
                <a:ext cx="4672584" cy="383246"/>
              </a:xfrm>
              <a:prstGeom prst="rect">
                <a:avLst/>
              </a:prstGeom>
              <a:blipFill>
                <a:blip r:embed="rId4"/>
                <a:stretch>
                  <a:fillRect t="-12698" b="-42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/>
          <p:cNvSpPr/>
          <p:nvPr/>
        </p:nvSpPr>
        <p:spPr>
          <a:xfrm>
            <a:off x="612648" y="5138928"/>
            <a:ext cx="10954512" cy="98755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5367528"/>
            <a:ext cx="3035808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1" i="0">
                <a:solidFill>
                  <a:srgbClr val="2366C0"/>
                </a:solidFill>
                <a:latin typeface="Times New Roman"/>
              </a:rPr>
              <a:t>Связь с логикой: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349240"/>
            <a:ext cx="722376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03A53"/>
                </a:solidFill>
                <a:latin typeface="Times New Roman"/>
              </a:rPr>
              <a:t>∪ ↔ ИЛИ        ∩ ↔ И        Дополнение ↔ НЕ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Упрощение выражений по законам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Пример с дистрибутивностью и дополнением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810512"/>
            <a:ext cx="9052560" cy="722376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645920" y="1889242"/>
                <a:ext cx="8961120" cy="546625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6000"/>
                  </a:lnSpc>
                  <a:spcAft>
                    <a:spcPts val="200"/>
                  </a:spcAft>
                </a:pPr>
                <a:r>
                  <a:rPr sz="3000" b="1" i="0" dirty="0">
                    <a:solidFill>
                      <a:srgbClr val="2366C0"/>
                    </a:solidFill>
                    <a:latin typeface="Times New Roman"/>
                  </a:rPr>
                  <a:t>(A ∩ B) ∪ (A ∩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ar-AE" sz="3200" b="1" i="1" dirty="0" smtClean="0">
                            <a:solidFill>
                              <a:srgbClr val="2366C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1" i="0" dirty="0" smtClean="0">
                            <a:solidFill>
                              <a:srgbClr val="2366C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bar>
                  </m:oMath>
                </a14:m>
                <a:r>
                  <a:rPr sz="3000" b="1" i="0" dirty="0">
                    <a:solidFill>
                      <a:srgbClr val="2366C0"/>
                    </a:solidFill>
                    <a:latin typeface="Times New Roman"/>
                  </a:rPr>
                  <a:t>)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0" y="1889242"/>
                <a:ext cx="8961120" cy="546625"/>
              </a:xfrm>
              <a:prstGeom prst="rect">
                <a:avLst/>
              </a:prstGeom>
              <a:blipFill>
                <a:blip r:embed="rId3"/>
                <a:stretch>
                  <a:fillRect t="-8889" b="-4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621792" y="2752344"/>
            <a:ext cx="3685032" cy="2459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880360"/>
            <a:ext cx="331927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ШАГ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383280"/>
            <a:ext cx="3246120" cy="4663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203A53"/>
                </a:solidFill>
                <a:latin typeface="Times New Roman"/>
              </a:rPr>
              <a:t>Выносим A за скобки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69080"/>
            <a:ext cx="3282696" cy="603504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868680" y="4186672"/>
                <a:ext cx="3191256" cy="350032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6000"/>
                  </a:lnSpc>
                  <a:spcAft>
                    <a:spcPts val="200"/>
                  </a:spcAft>
                </a:pPr>
                <a:r>
                  <a:rPr sz="2000" b="1" i="0" dirty="0">
                    <a:solidFill>
                      <a:srgbClr val="2366C0"/>
                    </a:solidFill>
                    <a:latin typeface="Times New Roman"/>
                  </a:rPr>
                  <a:t>A ∩ (B ∪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ar-AE" sz="2000" b="1" i="1" dirty="0" smtClean="0">
                            <a:solidFill>
                              <a:srgbClr val="2366C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1" i="0" dirty="0" smtClean="0">
                            <a:solidFill>
                              <a:srgbClr val="2366C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bar>
                  </m:oMath>
                </a14:m>
                <a:r>
                  <a:rPr sz="2000" b="1" i="0" dirty="0">
                    <a:solidFill>
                      <a:srgbClr val="2366C0"/>
                    </a:solidFill>
                    <a:latin typeface="Times New Roman"/>
                  </a:rPr>
                  <a:t>)</a:t>
                </a: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4186672"/>
                <a:ext cx="3191256" cy="350032"/>
              </a:xfrm>
              <a:prstGeom prst="rect">
                <a:avLst/>
              </a:prstGeom>
              <a:blipFill>
                <a:blip r:embed="rId4"/>
                <a:stretch>
                  <a:fillRect t="-14035" b="-42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/>
          <p:cNvSpPr/>
          <p:nvPr/>
        </p:nvSpPr>
        <p:spPr>
          <a:xfrm>
            <a:off x="4498848" y="2752344"/>
            <a:ext cx="3685032" cy="2459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8" y="2880360"/>
            <a:ext cx="331927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ШАГ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383280"/>
            <a:ext cx="3246120" cy="29251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 dirty="0">
                <a:solidFill>
                  <a:srgbClr val="203A53"/>
                </a:solidFill>
                <a:latin typeface="Times New Roman"/>
              </a:rPr>
              <a:t>B ∪ </a:t>
            </a:r>
            <a:r>
              <a:rPr lang="en-US" sz="1800" b="0" i="0" dirty="0">
                <a:solidFill>
                  <a:srgbClr val="203A53"/>
                </a:solidFill>
                <a:latin typeface="Times New Roman"/>
              </a:rPr>
              <a:t>¯𝐁</a:t>
            </a:r>
            <a:r>
              <a:rPr sz="1800" b="0" i="0" dirty="0">
                <a:solidFill>
                  <a:srgbClr val="203A53"/>
                </a:solidFill>
                <a:latin typeface="Times New Roman"/>
              </a:rPr>
              <a:t>= 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0016" y="4069080"/>
            <a:ext cx="3282696" cy="603504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745736" y="4186672"/>
                <a:ext cx="3191256" cy="350032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6000"/>
                  </a:lnSpc>
                  <a:spcAft>
                    <a:spcPts val="200"/>
                  </a:spcAft>
                </a:pPr>
                <a:r>
                  <a:rPr sz="2000" b="1" i="0" dirty="0">
                    <a:solidFill>
                      <a:srgbClr val="2366C0"/>
                    </a:solidFill>
                    <a:latin typeface="Times New Roman"/>
                  </a:rPr>
                  <a:t>B ∪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ar-AE" sz="2000" b="1" i="1" dirty="0" smtClean="0">
                            <a:solidFill>
                              <a:srgbClr val="2366C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1" i="0" dirty="0" smtClean="0">
                            <a:solidFill>
                              <a:srgbClr val="2366C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bar>
                  </m:oMath>
                </a14:m>
                <a:r>
                  <a:rPr sz="2000" b="1" i="0" dirty="0">
                    <a:solidFill>
                      <a:srgbClr val="2366C0"/>
                    </a:solidFill>
                    <a:latin typeface="Times New Roman"/>
                  </a:rPr>
                  <a:t> = U</a:t>
                </a: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736" y="4186672"/>
                <a:ext cx="3191256" cy="350032"/>
              </a:xfrm>
              <a:prstGeom prst="rect">
                <a:avLst/>
              </a:prstGeom>
              <a:blipFill>
                <a:blip r:embed="rId5"/>
                <a:stretch>
                  <a:fillRect t="-14035" b="-42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/>
          <p:cNvSpPr/>
          <p:nvPr/>
        </p:nvSpPr>
        <p:spPr>
          <a:xfrm>
            <a:off x="8375904" y="2752344"/>
            <a:ext cx="3685032" cy="2459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58784" y="2880360"/>
            <a:ext cx="331927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ШАГ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3383280"/>
            <a:ext cx="3246120" cy="4663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203A53"/>
                </a:solidFill>
                <a:latin typeface="Times New Roman"/>
              </a:rPr>
              <a:t>A ∩ U =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7072" y="4069080"/>
            <a:ext cx="3282696" cy="603504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22792" y="4096512"/>
            <a:ext cx="3191256" cy="5303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2366C0"/>
                </a:solidFill>
                <a:latin typeface="Times New Roman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67128" y="5596128"/>
            <a:ext cx="7827264" cy="493776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40864" y="5669280"/>
            <a:ext cx="7452360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400" b="1" i="0">
                <a:solidFill>
                  <a:srgbClr val="26765C"/>
                </a:solidFill>
                <a:latin typeface="Times New Roman"/>
              </a:rPr>
              <a:t>Ответ: 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Мощность множества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Число различных элементов конечного множества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783080"/>
            <a:ext cx="5212080" cy="4407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2066543"/>
            <a:ext cx="4754880" cy="694944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93975"/>
            <a:ext cx="4663440" cy="6217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500" b="1" i="0">
                <a:solidFill>
                  <a:srgbClr val="2366C0"/>
                </a:solidFill>
                <a:latin typeface="Times New Roman"/>
              </a:rPr>
              <a:t>|{2, 4, 6, 8, 10}| =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35224"/>
            <a:ext cx="4754880" cy="630936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962656"/>
            <a:ext cx="4663440" cy="5577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600" b="1" i="0">
                <a:solidFill>
                  <a:srgbClr val="2366C0"/>
                </a:solidFill>
                <a:latin typeface="Times New Roman"/>
              </a:rPr>
              <a:t>|∅|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959352"/>
            <a:ext cx="4663440" cy="3840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0" i="0">
                <a:solidFill>
                  <a:srgbClr val="203A53"/>
                </a:solidFill>
                <a:latin typeface="Times New Roman"/>
              </a:rPr>
              <a:t>Повторения не меняют мощность: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562856"/>
            <a:ext cx="4736592" cy="630936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590288"/>
            <a:ext cx="4645152" cy="5577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|{1, 2, 2, 3}| =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1783080"/>
            <a:ext cx="5550408" cy="4407408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9632" y="1911095"/>
            <a:ext cx="5184648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Мощность объединения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487168"/>
            <a:ext cx="5074920" cy="676656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59" y="2514600"/>
            <a:ext cx="4983480" cy="60350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2366C0"/>
                </a:solidFill>
                <a:latin typeface="Times New Roman"/>
              </a:rPr>
              <a:t>|A ∪ B| = |A| + |B| − |A ∩ B|</a:t>
            </a:r>
          </a:p>
        </p:txBody>
      </p:sp>
      <p:pic>
        <p:nvPicPr>
          <p:cNvPr id="21" name="Picture 20" descr="venn_inter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3300984"/>
            <a:ext cx="4151376" cy="24414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D1F6C9-732A-CCCF-976B-3F8BBA8390A8}"/>
              </a:ext>
            </a:extLst>
          </p:cNvPr>
          <p:cNvSpPr txBox="1"/>
          <p:nvPr/>
        </p:nvSpPr>
        <p:spPr>
          <a:xfrm>
            <a:off x="1167223" y="6190488"/>
            <a:ext cx="10399937" cy="65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700"/>
              </a:spcAft>
            </a:pP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Разбор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600" b="1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|A| = 12, |B| = 9, |A ∩ B| = 4.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Тогда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|A \ B| = 12 − 4 = 8. А |A △ B| = 12 + 9 − 2 × 4 = 13.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Покажите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количество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общих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втором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вычислении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исключается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обоих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исходных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множеств</a:t>
            </a:r>
            <a:r>
              <a:rPr lang="en-US" sz="1600" dirty="0">
                <a:solidFill>
                  <a:srgbClr val="14181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14181F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Мощность объединения · пример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Почему общие элементы необходимо вычитать?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73936"/>
            <a:ext cx="6464808" cy="44714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48256"/>
            <a:ext cx="5907024" cy="16276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2100">
                <a:solidFill>
                  <a:srgbClr val="203A53"/>
                </a:solidFill>
                <a:latin typeface="Times New Roman"/>
              </a:rPr>
              <a:t>• 20 студентов изучают Python.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2100">
                <a:solidFill>
                  <a:srgbClr val="203A53"/>
                </a:solidFill>
                <a:latin typeface="Times New Roman"/>
              </a:rPr>
              <a:t>• 15 студентов изучают C#.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2100">
                <a:solidFill>
                  <a:srgbClr val="203A53"/>
                </a:solidFill>
                <a:latin typeface="Times New Roman"/>
              </a:rPr>
              <a:t>• 8 студентов изучают оба языка.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" y="4105656"/>
            <a:ext cx="5852160" cy="6858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4133088"/>
            <a:ext cx="5760720" cy="6126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500" b="1" i="0">
                <a:solidFill>
                  <a:srgbClr val="2366C0"/>
                </a:solidFill>
                <a:latin typeface="Times New Roman"/>
              </a:rPr>
              <a:t>|A ∪ B| = 20 + 15 − 8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5138928"/>
            <a:ext cx="5833872" cy="731520"/>
          </a:xfrm>
          <a:prstGeom prst="roundRect">
            <a:avLst>
              <a:gd name="adj" fmla="val 12000"/>
            </a:avLst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5285232"/>
            <a:ext cx="5522976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2500" b="1" i="0">
                <a:solidFill>
                  <a:srgbClr val="26765C"/>
                </a:solidFill>
                <a:latin typeface="Times New Roman"/>
              </a:rPr>
              <a:t>Ответ: 27 студентов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8624" y="1773936"/>
            <a:ext cx="4288536" cy="4471416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61504" y="1901952"/>
            <a:ext cx="392277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Проверка по областям</a:t>
            </a:r>
          </a:p>
        </p:txBody>
      </p:sp>
      <p:pic>
        <p:nvPicPr>
          <p:cNvPr id="17" name="Picture 16" descr="venn_inter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276856"/>
            <a:ext cx="3776472" cy="22677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71231" y="4764024"/>
            <a:ext cx="3657600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203A53"/>
                </a:solidFill>
                <a:latin typeface="Times New Roman"/>
              </a:rPr>
              <a:t>Только Python: 20 − 8 =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5230368"/>
            <a:ext cx="3657600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203A53"/>
                </a:solidFill>
                <a:latin typeface="Times New Roman"/>
              </a:rPr>
              <a:t>Только C#: 15 − 8 = 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Практическая работа · исходные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Выполняйте операции в тетради, затем сравните с эталоном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19072"/>
            <a:ext cx="10963656" cy="2048256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1059789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 dirty="0" err="1">
                <a:solidFill>
                  <a:srgbClr val="172E48"/>
                </a:solidFill>
                <a:latin typeface="Times New Roman"/>
              </a:rPr>
              <a:t>Даны</a:t>
            </a:r>
            <a:r>
              <a:rPr sz="2000" b="1" i="0" dirty="0">
                <a:solidFill>
                  <a:srgbClr val="172E48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172E48"/>
                </a:solidFill>
                <a:latin typeface="Times New Roman"/>
              </a:rPr>
              <a:t>множества</a:t>
            </a:r>
            <a:endParaRPr sz="2000" b="1" i="0" dirty="0">
              <a:solidFill>
                <a:srgbClr val="172E48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313432"/>
            <a:ext cx="10204704" cy="3749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 dirty="0">
                <a:solidFill>
                  <a:srgbClr val="172E48"/>
                </a:solidFill>
                <a:latin typeface="Times New Roman"/>
              </a:rPr>
              <a:t>U = {1, 2, 3, 4, 5, 6, 7, 8, 9, 10}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10168128" cy="3657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A = {1, 2, 3, 4, 5, 6, 7}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18688"/>
            <a:ext cx="10168128" cy="35661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B = {2, 4, 6, 8, 10}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50791"/>
            <a:ext cx="10963656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178807"/>
            <a:ext cx="1059789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Правила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99432"/>
            <a:ext cx="10296144" cy="12527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>
                <a:solidFill>
                  <a:srgbClr val="203A53"/>
                </a:solidFill>
                <a:latin typeface="Times New Roman"/>
              </a:rPr>
              <a:t>• Записывайте результирующее множество в фигурных скобках.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>
                <a:solidFill>
                  <a:srgbClr val="203A53"/>
                </a:solidFill>
                <a:latin typeface="Times New Roman"/>
              </a:rPr>
              <a:t>• Не повторяйте одинаковые элементы; их порядок не важен.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>
                <a:solidFill>
                  <a:srgbClr val="203A53"/>
                </a:solidFill>
                <a:latin typeface="Times New Roman"/>
              </a:rPr>
              <a:t>• Составные операции выполняйте в соответствии со скобками.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Практика · задания 1–5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Основные операции над множествами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10853928" cy="704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1865376"/>
            <a:ext cx="484632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1914753"/>
            <a:ext cx="30175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366C0"/>
                </a:solidFill>
                <a:latin typeface="Times New Roma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1819656"/>
            <a:ext cx="356616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A ∪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874520"/>
            <a:ext cx="5276088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0" i="0">
                <a:solidFill>
                  <a:srgbClr val="5C7087"/>
                </a:solidFill>
                <a:latin typeface="Times New Roman"/>
              </a:rPr>
              <a:t>Объединение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23744"/>
            <a:ext cx="10853928" cy="704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0392" y="2697480"/>
            <a:ext cx="484632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2746857"/>
            <a:ext cx="30175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366C0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651760"/>
            <a:ext cx="356616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A ∩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706624"/>
            <a:ext cx="5276088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0" i="0">
                <a:solidFill>
                  <a:srgbClr val="5C7087"/>
                </a:solidFill>
                <a:latin typeface="Times New Roman"/>
              </a:rPr>
              <a:t>Пересечение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55848"/>
            <a:ext cx="10853928" cy="704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50392" y="3529584"/>
            <a:ext cx="484632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3578961"/>
            <a:ext cx="30175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366C0"/>
                </a:solidFill>
                <a:latin typeface="Times New Roman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3483864"/>
            <a:ext cx="356616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A \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538728"/>
            <a:ext cx="5276088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0" i="0">
                <a:solidFill>
                  <a:srgbClr val="5C7087"/>
                </a:solidFill>
                <a:latin typeface="Times New Roman"/>
              </a:rPr>
              <a:t>Разность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187952"/>
            <a:ext cx="10853928" cy="704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0392" y="4361688"/>
            <a:ext cx="484632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4411065"/>
            <a:ext cx="30175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366C0"/>
                </a:solidFill>
                <a:latin typeface="Times New Roman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4315968"/>
            <a:ext cx="356616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B \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4370832"/>
            <a:ext cx="5276088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0" i="0">
                <a:solidFill>
                  <a:srgbClr val="5C7087"/>
                </a:solidFill>
                <a:latin typeface="Times New Roman"/>
              </a:rPr>
              <a:t>Обратная разность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020056"/>
            <a:ext cx="10853928" cy="704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50392" y="5193792"/>
            <a:ext cx="484632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" y="5243169"/>
            <a:ext cx="30175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366C0"/>
                </a:solidFill>
                <a:latin typeface="Times New Roman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7632" y="5148072"/>
            <a:ext cx="356616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A △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202936"/>
            <a:ext cx="5276088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0" i="0">
                <a:solidFill>
                  <a:srgbClr val="5C7087"/>
                </a:solidFill>
                <a:latin typeface="Times New Roman"/>
              </a:rPr>
              <a:t>Симметрическая разность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8DFD6C-D79B-4809-86C5-C8953F46850C}"/>
              </a:ext>
            </a:extLst>
          </p:cNvPr>
          <p:cNvSpPr txBox="1"/>
          <p:nvPr/>
        </p:nvSpPr>
        <p:spPr>
          <a:xfrm>
            <a:off x="5794408" y="333997"/>
            <a:ext cx="4407609" cy="3749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 dirty="0">
                <a:solidFill>
                  <a:srgbClr val="172E48"/>
                </a:solidFill>
                <a:latin typeface="Times New Roman"/>
              </a:rPr>
              <a:t>U = {1, 2, 3, 4, 5, 6, 7, 8, 9, 10}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59E5B4-9142-4819-B7A3-90D337104C0A}"/>
              </a:ext>
            </a:extLst>
          </p:cNvPr>
          <p:cNvSpPr txBox="1"/>
          <p:nvPr/>
        </p:nvSpPr>
        <p:spPr>
          <a:xfrm>
            <a:off x="5794408" y="791197"/>
            <a:ext cx="4391811" cy="3657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A = {1, 2, 3, 4, 5, 6, 7}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76473A-10C5-4824-B141-F4280A31656F}"/>
              </a:ext>
            </a:extLst>
          </p:cNvPr>
          <p:cNvSpPr txBox="1"/>
          <p:nvPr/>
        </p:nvSpPr>
        <p:spPr>
          <a:xfrm>
            <a:off x="5794408" y="1239253"/>
            <a:ext cx="4391811" cy="3690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B = {2, 4, 6, 8, 10}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Практика · задания 6–9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Дополнение и составные выражения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10512"/>
            <a:ext cx="10853928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2020824"/>
            <a:ext cx="484632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70201"/>
            <a:ext cx="30175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366C0"/>
                </a:solidFill>
                <a:latin typeface="Times New Roman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1993392"/>
            <a:ext cx="4910328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Ā = U \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029967"/>
            <a:ext cx="4736592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5C7087"/>
                </a:solidFill>
                <a:latin typeface="Times New Roman"/>
              </a:rPr>
              <a:t>Дополнение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34640"/>
            <a:ext cx="10853928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0392" y="3044952"/>
            <a:ext cx="484632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094329"/>
            <a:ext cx="30175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366C0"/>
                </a:solidFill>
                <a:latin typeface="Times New Roman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017520"/>
            <a:ext cx="4910328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(A ∪ B) \ (A ∩ 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54096"/>
            <a:ext cx="4736592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5C7087"/>
                </a:solidFill>
                <a:latin typeface="Times New Roman"/>
              </a:rPr>
              <a:t>Исключить общие элементы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858768"/>
            <a:ext cx="10853928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50392" y="4069080"/>
            <a:ext cx="484632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118457"/>
            <a:ext cx="30175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366C0"/>
                </a:solidFill>
                <a:latin typeface="Times New Roman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041648"/>
            <a:ext cx="4910328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(A \ B) ∪ (A ∩ 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078224"/>
            <a:ext cx="4736592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5C7087"/>
                </a:solidFill>
                <a:latin typeface="Times New Roman"/>
              </a:rPr>
              <a:t>Вернуть части множества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882896"/>
            <a:ext cx="10853928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0392" y="5093208"/>
            <a:ext cx="484632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5142585"/>
            <a:ext cx="30175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366C0"/>
                </a:solidFill>
                <a:latin typeface="Times New Roman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5065776"/>
            <a:ext cx="4910328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1" i="0">
                <a:solidFill>
                  <a:srgbClr val="2366C0"/>
                </a:solidFill>
                <a:latin typeface="Times New Roman"/>
              </a:rPr>
              <a:t>(A ∪ B) ∩ 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102352"/>
            <a:ext cx="4736592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0" i="0">
                <a:solidFill>
                  <a:srgbClr val="5C7087"/>
                </a:solidFill>
                <a:latin typeface="Times New Roman"/>
              </a:rPr>
              <a:t>Найти элементы за пределами 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67DA3B-A57A-4176-8275-3258B4C16D82}"/>
              </a:ext>
            </a:extLst>
          </p:cNvPr>
          <p:cNvSpPr txBox="1"/>
          <p:nvPr/>
        </p:nvSpPr>
        <p:spPr>
          <a:xfrm>
            <a:off x="5794408" y="333997"/>
            <a:ext cx="4407609" cy="3749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 dirty="0">
                <a:solidFill>
                  <a:srgbClr val="172E48"/>
                </a:solidFill>
                <a:latin typeface="Times New Roman"/>
              </a:rPr>
              <a:t>U = {1, 2, 3, 4, 5, 6, 7, 8, 9, 10}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83AF6D-A7B3-4901-8B62-CCCB92BBB45C}"/>
              </a:ext>
            </a:extLst>
          </p:cNvPr>
          <p:cNvSpPr txBox="1"/>
          <p:nvPr/>
        </p:nvSpPr>
        <p:spPr>
          <a:xfrm>
            <a:off x="5794408" y="791197"/>
            <a:ext cx="4391811" cy="3657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A = {1, 2, 3, 4, 5, 6, 7}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6858A1-6563-4585-A878-84EA62E0DC5B}"/>
              </a:ext>
            </a:extLst>
          </p:cNvPr>
          <p:cNvSpPr txBox="1"/>
          <p:nvPr/>
        </p:nvSpPr>
        <p:spPr>
          <a:xfrm>
            <a:off x="5794408" y="1239253"/>
            <a:ext cx="4391811" cy="3690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366C0"/>
                </a:solidFill>
                <a:latin typeface="Times New Roman"/>
              </a:rPr>
              <a:t>B = {2, 4, 6, 8, 10}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Задачи на мощность · часть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Сначала составьте формулу, затем подставьте значения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810512"/>
            <a:ext cx="5431536" cy="4306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5" y="1938528"/>
            <a:ext cx="506577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ЗАДАЧА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542032"/>
            <a:ext cx="4937760" cy="2487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0" i="0">
                <a:solidFill>
                  <a:srgbClr val="203A53"/>
                </a:solidFill>
                <a:latin typeface="Times New Roman"/>
              </a:rPr>
              <a:t>В колледже 20 студентов изучают Python, 15 — C#, а 8 изучают оба языка. Сколько студентов изучают хотя бы один язык?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266944"/>
            <a:ext cx="3730752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316321"/>
            <a:ext cx="354787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2366C0"/>
                </a:solidFill>
                <a:latin typeface="Times New Roman"/>
              </a:rPr>
              <a:t>Запишите решение в тетради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3" y="1810512"/>
            <a:ext cx="5431536" cy="4306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1938528"/>
            <a:ext cx="506577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ЗАДАЧА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3" y="2542032"/>
            <a:ext cx="4937760" cy="2487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100" b="0" i="0">
                <a:solidFill>
                  <a:srgbClr val="203A53"/>
                </a:solidFill>
                <a:latin typeface="Times New Roman"/>
              </a:rPr>
              <a:t>В группе 30 студентов: 18 изучают Python, 16 — C#, а 10 — оба языка. Сколько студентов не изучают ни один из этих языков?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0527" y="5266944"/>
            <a:ext cx="3730752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7" y="5316321"/>
            <a:ext cx="354787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2366C0"/>
                </a:solidFill>
                <a:latin typeface="Times New Roman"/>
              </a:rPr>
              <a:t>Запишите решение в тетради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236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18520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1" i="0">
                <a:solidFill>
                  <a:srgbClr val="172E48"/>
                </a:solidFill>
                <a:latin typeface="Times New Roman"/>
              </a:rPr>
              <a:t>Задачи на мощность · часть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700" b="0" i="0">
                <a:solidFill>
                  <a:srgbClr val="5C7087"/>
                </a:solidFill>
                <a:latin typeface="Times New Roman"/>
              </a:rPr>
              <a:t>Формулы обратного вычисления и симметрической разности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810512"/>
            <a:ext cx="5431536" cy="4306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5" y="1938528"/>
            <a:ext cx="506577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ЗАДАЧА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542032"/>
            <a:ext cx="4928616" cy="22860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0" i="0">
                <a:solidFill>
                  <a:srgbClr val="203A53"/>
                </a:solidFill>
                <a:latin typeface="Times New Roman"/>
              </a:rPr>
              <a:t>Известно: |A| = 25, |B| = 18, |A ∪ B| = 35. Найдите мощность пересечения.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230368"/>
            <a:ext cx="3337560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279745"/>
            <a:ext cx="3154679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2366C0"/>
                </a:solidFill>
                <a:latin typeface="Times New Roman"/>
              </a:rPr>
              <a:t>Найдите числовой ответ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3" y="1810512"/>
            <a:ext cx="5431536" cy="4306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6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1938528"/>
            <a:ext cx="5065776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000" b="1" i="0">
                <a:solidFill>
                  <a:srgbClr val="172E48"/>
                </a:solidFill>
                <a:latin typeface="Times New Roman"/>
              </a:rPr>
              <a:t>ЗАДАЧА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3" y="2542032"/>
            <a:ext cx="4928616" cy="22860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0" i="0">
                <a:solidFill>
                  <a:srgbClr val="203A53"/>
                </a:solidFill>
                <a:latin typeface="Times New Roman"/>
              </a:rPr>
              <a:t>Известно: |A| = 12, |B| = 9, |A ∩ B| = 4. Определите мощность симметрической разности.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0527" y="5230368"/>
            <a:ext cx="3337560" cy="347472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7" y="5279745"/>
            <a:ext cx="3154679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2366C0"/>
                </a:solidFill>
                <a:latin typeface="Times New Roman"/>
              </a:rPr>
              <a:t>Найдите числовой ответ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11324</Words>
  <Application>Microsoft Office PowerPoint</Application>
  <PresentationFormat>Широкоэкранный</PresentationFormat>
  <Paragraphs>572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27</vt:i4>
      </vt:variant>
    </vt:vector>
  </HeadingPairs>
  <TitlesOfParts>
    <vt:vector size="35" baseType="lpstr">
      <vt:lpstr>Aptos</vt:lpstr>
      <vt:lpstr>Arial</vt:lpstr>
      <vt:lpstr>Calibri</vt:lpstr>
      <vt:lpstr>Cambria Math</vt:lpstr>
      <vt:lpstr>KyivType Sans Heavy</vt:lpstr>
      <vt:lpstr>Times New Roman</vt:lpstr>
      <vt:lpstr>Office Theme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множеств — Информатика, 1 курс</dc:title>
  <dc:subject>Теория множеств: полный комплект слайдов по интерактивному сайту</dc:subject>
  <dc:creator>Учебные материалы</dc:creator>
  <cp:keywords>теория множеств; диаграммы Эйлера — Венна; информатика; 1 курс</cp:keywords>
  <dc:description>generated using python-pptx</dc:description>
  <cp:lastModifiedBy>Преподаватель</cp:lastModifiedBy>
  <cp:revision>11</cp:revision>
  <dcterms:created xsi:type="dcterms:W3CDTF">2013-01-27T09:14:16Z</dcterms:created>
  <dcterms:modified xsi:type="dcterms:W3CDTF">2026-10-23T07:21:03Z</dcterms:modified>
  <cp:category/>
</cp:coreProperties>
</file>