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1"/>
  </p:notesMasterIdLst>
  <p:sldIdLst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957" autoAdjust="0"/>
  </p:normalViewPr>
  <p:slideViewPr>
    <p:cSldViewPr snapToGrid="0">
      <p:cViewPr varScale="1">
        <p:scale>
          <a:sx n="99" d="100"/>
          <a:sy n="99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D6CB28-441B-424E-BA93-F4A61449EA8A}" type="datetimeFigureOut">
              <a:rPr lang="ru-RU" smtClean="0"/>
              <a:t>16.10.26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CB5D38-0C8F-4211-BFF2-A68E2F4102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58427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EB6EA5-BBE7-43BF-8BFD-25EDB7B77679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45377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2000"/>
              </a:lnSpc>
              <a:spcBef>
                <a:spcPts val="900"/>
              </a:spcBef>
              <a:spcAft>
                <a:spcPts val="400"/>
              </a:spcAft>
            </a:pPr>
            <a:r>
              <a:rPr lang="en-US" sz="1800" b="1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Задание</a:t>
            </a:r>
            <a:r>
              <a:rPr lang="en-US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 1</a:t>
            </a:r>
            <a:endParaRPr lang="ru-RU" sz="1800" b="1" dirty="0">
              <a:solidFill>
                <a:srgbClr val="000000"/>
              </a:solidFill>
              <a:effectLst/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algn="ctr">
              <a:lnSpc>
                <a:spcPct val="112000"/>
              </a:lnSpc>
              <a:spcBef>
                <a:spcPts val="300"/>
              </a:spcBef>
              <a:spcAft>
                <a:spcPts val="50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(A ∧ A) ∨ (B ∧ ¬B)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 A ∨ 0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идемпотентность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противоречие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 A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дизъюнкция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с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нулём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Ответ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A.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Bef>
                <a:spcPts val="900"/>
              </a:spcBef>
              <a:spcAft>
                <a:spcPts val="400"/>
              </a:spcAft>
            </a:pPr>
            <a:r>
              <a:rPr lang="en-US" sz="1800" b="1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Задание</a:t>
            </a:r>
            <a:r>
              <a:rPr lang="en-US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 2</a:t>
            </a:r>
            <a:endParaRPr lang="ru-RU" sz="1800" b="1" dirty="0">
              <a:solidFill>
                <a:srgbClr val="000000"/>
              </a:solidFill>
              <a:effectLst/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algn="ctr">
              <a:lnSpc>
                <a:spcPct val="112000"/>
              </a:lnSpc>
              <a:spcBef>
                <a:spcPts val="300"/>
              </a:spcBef>
              <a:spcAft>
                <a:spcPts val="50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¬(¬A)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 A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двойное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отрицание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Ответ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A.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Bef>
                <a:spcPts val="900"/>
              </a:spcBef>
              <a:spcAft>
                <a:spcPts val="400"/>
              </a:spcAft>
            </a:pPr>
            <a:r>
              <a:rPr lang="en-US" sz="1800" b="1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Задание</a:t>
            </a:r>
            <a:r>
              <a:rPr lang="en-US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 3</a:t>
            </a:r>
            <a:endParaRPr lang="ru-RU" sz="1800" b="1" dirty="0">
              <a:solidFill>
                <a:srgbClr val="000000"/>
              </a:solidFill>
              <a:effectLst/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algn="ctr">
              <a:lnSpc>
                <a:spcPct val="112000"/>
              </a:lnSpc>
              <a:spcBef>
                <a:spcPts val="300"/>
              </a:spcBef>
              <a:spcAft>
                <a:spcPts val="50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 ∨ (A ∧ B)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 A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закон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поглощения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Ответ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A.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Bef>
                <a:spcPts val="900"/>
              </a:spcBef>
              <a:spcAft>
                <a:spcPts val="400"/>
              </a:spcAft>
            </a:pPr>
            <a:r>
              <a:rPr lang="en-US" sz="1800" b="1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Задание</a:t>
            </a:r>
            <a:r>
              <a:rPr lang="en-US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 4</a:t>
            </a:r>
            <a:endParaRPr lang="ru-RU" sz="1800" b="1" dirty="0">
              <a:solidFill>
                <a:srgbClr val="000000"/>
              </a:solidFill>
              <a:effectLst/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algn="ctr">
              <a:lnSpc>
                <a:spcPct val="112000"/>
              </a:lnSpc>
              <a:spcBef>
                <a:spcPts val="300"/>
              </a:spcBef>
              <a:spcAft>
                <a:spcPts val="50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(A ∨ B) ∨ A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 (A ∨ A) ∨ B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ассоциативность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коммутативность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 A ∨ B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идемпотентность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Ответ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A ∨ B.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Bef>
                <a:spcPts val="900"/>
              </a:spcBef>
              <a:spcAft>
                <a:spcPts val="400"/>
              </a:spcAft>
            </a:pPr>
            <a:r>
              <a:rPr lang="en-US" sz="1800" b="1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Задание</a:t>
            </a:r>
            <a:r>
              <a:rPr lang="en-US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 5</a:t>
            </a:r>
            <a:endParaRPr lang="ru-RU" sz="1800" b="1" dirty="0">
              <a:solidFill>
                <a:srgbClr val="000000"/>
              </a:solidFill>
              <a:effectLst/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algn="ctr">
              <a:lnSpc>
                <a:spcPct val="112000"/>
              </a:lnSpc>
              <a:spcBef>
                <a:spcPts val="300"/>
              </a:spcBef>
              <a:spcAft>
                <a:spcPts val="50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(A ∧ ¬A) ∨ (B ∧ B)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 0 ∨ B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противоречие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идемпотентность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 B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дизъюнкция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с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нулём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Ответ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B.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Bef>
                <a:spcPts val="900"/>
              </a:spcBef>
              <a:spcAft>
                <a:spcPts val="400"/>
              </a:spcAft>
            </a:pPr>
            <a:r>
              <a:rPr lang="en-US" sz="1800" b="1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Задание</a:t>
            </a:r>
            <a:r>
              <a:rPr lang="en-US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 6</a:t>
            </a:r>
            <a:endParaRPr lang="ru-RU" sz="1800" b="1" dirty="0">
              <a:solidFill>
                <a:srgbClr val="000000"/>
              </a:solidFill>
              <a:effectLst/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algn="ctr">
              <a:lnSpc>
                <a:spcPct val="112000"/>
              </a:lnSpc>
              <a:spcBef>
                <a:spcPts val="300"/>
              </a:spcBef>
              <a:spcAft>
                <a:spcPts val="50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¬(A ∧ B)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 ¬A ∨ ¬B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закон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Моргана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Ответ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¬A ∨ ¬B.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CB5D38-0C8F-4211-BFF2-A68E2F41026F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66471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2000"/>
              </a:lnSpc>
              <a:spcBef>
                <a:spcPts val="900"/>
              </a:spcBef>
              <a:spcAft>
                <a:spcPts val="400"/>
              </a:spcAft>
            </a:pPr>
            <a:r>
              <a:rPr lang="en-US" sz="1800" b="1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Задание</a:t>
            </a:r>
            <a:r>
              <a:rPr lang="en-US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 7</a:t>
            </a:r>
            <a:endParaRPr lang="ru-RU" sz="1800" b="1" dirty="0">
              <a:solidFill>
                <a:srgbClr val="000000"/>
              </a:solidFill>
              <a:effectLst/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algn="ctr">
              <a:lnSpc>
                <a:spcPct val="112000"/>
              </a:lnSpc>
              <a:spcBef>
                <a:spcPts val="300"/>
              </a:spcBef>
              <a:spcAft>
                <a:spcPts val="50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(A ∧ B) ∨ (A ∧ ¬B)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 A ∧ (B ∨ ¬B)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дистрибутивность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 A ∧ 1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исключённое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третье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 A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конъюнкция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с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единицей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Ответ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A.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Bef>
                <a:spcPts val="900"/>
              </a:spcBef>
              <a:spcAft>
                <a:spcPts val="400"/>
              </a:spcAft>
            </a:pPr>
            <a:r>
              <a:rPr lang="en-US" sz="1800" b="1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Задание</a:t>
            </a:r>
            <a:r>
              <a:rPr lang="en-US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 8</a:t>
            </a:r>
            <a:endParaRPr lang="ru-RU" sz="1800" b="1" dirty="0">
              <a:solidFill>
                <a:srgbClr val="000000"/>
              </a:solidFill>
              <a:effectLst/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algn="ctr">
              <a:lnSpc>
                <a:spcPct val="112000"/>
              </a:lnSpc>
              <a:spcBef>
                <a:spcPts val="300"/>
              </a:spcBef>
              <a:spcAft>
                <a:spcPts val="50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(A ∨ C) ∧ (¬A ∨ C)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 (C ∨ A) ∧ (C ∨ ¬A)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коммутативность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 C ∨ (A ∧ ¬A)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дистрибутивность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 C ∨ 0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противоречие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 C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дизъюнкция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с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нулём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Ответ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C.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Bef>
                <a:spcPts val="900"/>
              </a:spcBef>
              <a:spcAft>
                <a:spcPts val="400"/>
              </a:spcAft>
            </a:pPr>
            <a:r>
              <a:rPr lang="en-US" sz="1800" b="1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Задание</a:t>
            </a:r>
            <a:r>
              <a:rPr lang="en-US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 9</a:t>
            </a:r>
            <a:endParaRPr lang="ru-RU" sz="1800" b="1" dirty="0">
              <a:solidFill>
                <a:srgbClr val="000000"/>
              </a:solidFill>
              <a:effectLst/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algn="ctr">
              <a:lnSpc>
                <a:spcPct val="112000"/>
              </a:lnSpc>
              <a:spcBef>
                <a:spcPts val="300"/>
              </a:spcBef>
              <a:spcAft>
                <a:spcPts val="50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¬(A ∨ B) ∨ (¬A ∧ B)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 (¬A ∧ ¬B) ∨ (¬A ∧ B)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закон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Моргана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 ¬A ∧ (¬B ∨ B)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дистрибутивность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 ¬A ∧ 1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исключённое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третье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 ¬A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конъюнкция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с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единицей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Ответ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¬A.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Bef>
                <a:spcPts val="900"/>
              </a:spcBef>
              <a:spcAft>
                <a:spcPts val="400"/>
              </a:spcAft>
            </a:pPr>
            <a:r>
              <a:rPr lang="en-US" sz="1800" b="1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Задание</a:t>
            </a:r>
            <a:r>
              <a:rPr lang="en-US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 10</a:t>
            </a:r>
            <a:endParaRPr lang="ru-RU" sz="1800" b="1" dirty="0">
              <a:solidFill>
                <a:srgbClr val="000000"/>
              </a:solidFill>
              <a:effectLst/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algn="ctr">
              <a:lnSpc>
                <a:spcPct val="112000"/>
              </a:lnSpc>
              <a:spcBef>
                <a:spcPts val="300"/>
              </a:spcBef>
              <a:spcAft>
                <a:spcPts val="50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(A ∨ B) ∧ A ∧ (B ∨ ¬B)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 A ∧ (B ∨ ¬B)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закон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поглощения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ассоциативность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 A ∧ 1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исключённое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третье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 A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конъюнкция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с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единицей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Ответ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A.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Bef>
                <a:spcPts val="900"/>
              </a:spcBef>
              <a:spcAft>
                <a:spcPts val="400"/>
              </a:spcAft>
            </a:pPr>
            <a:r>
              <a:rPr lang="en-US" sz="1800" b="1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Задание</a:t>
            </a:r>
            <a:r>
              <a:rPr lang="en-US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 11</a:t>
            </a:r>
            <a:endParaRPr lang="ru-RU" sz="1800" b="1" dirty="0">
              <a:solidFill>
                <a:srgbClr val="000000"/>
              </a:solidFill>
              <a:effectLst/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algn="ctr">
              <a:lnSpc>
                <a:spcPct val="112000"/>
              </a:lnSpc>
              <a:spcBef>
                <a:spcPts val="300"/>
              </a:spcBef>
              <a:spcAft>
                <a:spcPts val="50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(A ∧ B) ∨ (B ∧ C) ∨ (A ∧ B)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 (A ∧ B) ∨ (B ∧ C)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идемпотентность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перестановка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 B ∧ (A ∨ C)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дистрибутивность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Ответ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B ∧ (A ∨ C).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Bef>
                <a:spcPts val="900"/>
              </a:spcBef>
              <a:spcAft>
                <a:spcPts val="400"/>
              </a:spcAft>
            </a:pPr>
            <a:r>
              <a:rPr lang="en-US" sz="1800" b="1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Задание</a:t>
            </a:r>
            <a:r>
              <a:rPr lang="en-US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 12</a:t>
            </a:r>
            <a:endParaRPr lang="ru-RU" sz="1800" b="1" dirty="0">
              <a:solidFill>
                <a:srgbClr val="000000"/>
              </a:solidFill>
              <a:effectLst/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algn="ctr">
              <a:lnSpc>
                <a:spcPct val="112000"/>
              </a:lnSpc>
              <a:spcBef>
                <a:spcPts val="300"/>
              </a:spcBef>
              <a:spcAft>
                <a:spcPts val="50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(A ∨ B) ∧ (A ∨ C)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 A ∨ (B ∧ C)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дистрибутивность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(в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обратном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направлении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Ответ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A ∨ (B ∧ C).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Bef>
                <a:spcPts val="1200"/>
              </a:spcBef>
              <a:spcAft>
                <a:spcPts val="500"/>
              </a:spcAft>
            </a:pPr>
            <a:r>
              <a:rPr lang="en-US" sz="1800" b="1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Ответы</a:t>
            </a:r>
            <a:r>
              <a:rPr lang="en-US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: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уровень</a:t>
            </a:r>
            <a:r>
              <a:rPr lang="en-US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 3</a:t>
            </a:r>
            <a:endParaRPr lang="ru-RU" sz="1800" b="1" dirty="0">
              <a:solidFill>
                <a:srgbClr val="000000"/>
              </a:solidFill>
              <a:effectLst/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Bef>
                <a:spcPts val="900"/>
              </a:spcBef>
              <a:spcAft>
                <a:spcPts val="400"/>
              </a:spcAft>
            </a:pPr>
            <a:r>
              <a:rPr lang="en-US" sz="1800" b="1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Задание</a:t>
            </a:r>
            <a:r>
              <a:rPr lang="en-US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 13</a:t>
            </a:r>
            <a:endParaRPr lang="ru-RU" sz="1800" b="1" dirty="0">
              <a:solidFill>
                <a:srgbClr val="000000"/>
              </a:solidFill>
              <a:effectLst/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algn="ctr">
              <a:lnSpc>
                <a:spcPct val="112000"/>
              </a:lnSpc>
              <a:spcBef>
                <a:spcPts val="300"/>
              </a:spcBef>
              <a:spcAft>
                <a:spcPts val="50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¬(A ∧ ¬B) ∧ ¬(A ∧ B)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 (¬A ∨ B) ∧ (¬A ∨ ¬B)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Морган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двойное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отрицание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 ¬A ∨ (B ∧ ¬B)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дистрибутивность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 ¬A ∨ 0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противоречие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 ¬A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дизъюнкция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с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нулём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Ответ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¬A.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Bef>
                <a:spcPts val="900"/>
              </a:spcBef>
              <a:spcAft>
                <a:spcPts val="400"/>
              </a:spcAft>
            </a:pPr>
            <a:r>
              <a:rPr lang="en-US" sz="1800" b="1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Задание</a:t>
            </a:r>
            <a:r>
              <a:rPr lang="en-US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 14</a:t>
            </a:r>
            <a:endParaRPr lang="ru-RU" sz="1800" b="1" dirty="0">
              <a:solidFill>
                <a:srgbClr val="000000"/>
              </a:solidFill>
              <a:effectLst/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algn="ctr">
              <a:lnSpc>
                <a:spcPct val="112000"/>
              </a:lnSpc>
              <a:spcBef>
                <a:spcPts val="300"/>
              </a:spcBef>
              <a:spcAft>
                <a:spcPts val="50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(A ∨ B) ∧ (¬A ∨ B) ∧ (A ∨ ¬B)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 [B ∨ (A ∧ ¬A)] ∧ (A ∨ ¬B)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дистрибутивность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первых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двух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скобок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 B ∧ (A ∨ ¬B)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противоречие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ноль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 (A ∧ B) ∨ (B ∧ ¬B)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дистрибутивность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 (A ∧ B) ∨ 0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противоречие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 A ∧ B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дизъюнкция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с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нулём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Ответ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A ∧ B.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Bef>
                <a:spcPts val="900"/>
              </a:spcBef>
              <a:spcAft>
                <a:spcPts val="400"/>
              </a:spcAft>
            </a:pPr>
            <a:r>
              <a:rPr lang="en-US" sz="1800" b="1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Задание</a:t>
            </a:r>
            <a:r>
              <a:rPr lang="en-US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 15</a:t>
            </a:r>
            <a:endParaRPr lang="ru-RU" sz="1800" b="1" dirty="0">
              <a:solidFill>
                <a:srgbClr val="000000"/>
              </a:solidFill>
              <a:effectLst/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algn="ctr">
              <a:lnSpc>
                <a:spcPct val="112000"/>
              </a:lnSpc>
              <a:spcBef>
                <a:spcPts val="300"/>
              </a:spcBef>
              <a:spcAft>
                <a:spcPts val="50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¬(¬A ∨ ¬B) ∨ (A ∧ ¬B)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 (A ∧ B) ∨ (A ∧ ¬B)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Морган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двойное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отрицание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 A ∧ (B ∨ ¬B)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дистрибутивность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 A ∧ 1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исключённое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третье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 A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конъюнкция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с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единицей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Ответ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A.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Bef>
                <a:spcPts val="900"/>
              </a:spcBef>
              <a:spcAft>
                <a:spcPts val="400"/>
              </a:spcAft>
            </a:pPr>
            <a:r>
              <a:rPr lang="en-US" sz="1800" b="1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Задание</a:t>
            </a:r>
            <a:r>
              <a:rPr lang="en-US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 16</a:t>
            </a:r>
            <a:endParaRPr lang="ru-RU" sz="1800" b="1" dirty="0">
              <a:solidFill>
                <a:srgbClr val="000000"/>
              </a:solidFill>
              <a:effectLst/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algn="ctr">
              <a:lnSpc>
                <a:spcPct val="112000"/>
              </a:lnSpc>
              <a:spcBef>
                <a:spcPts val="300"/>
              </a:spcBef>
              <a:spcAft>
                <a:spcPts val="50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[A ∧ (B ∨ C)] ∨ (A ∧ ¬B ∧ ¬C)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 A ∧ [(B ∨ C) ∨ (¬B ∧ ¬C)]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дистрибутивность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 A ∧ [(B ∨ C) ∨ ¬(B ∨ C)]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обратный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закон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Моргана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 A ∧ 1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исключённое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третье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 A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конъюнкция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с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единицей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Ответ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A.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Bef>
                <a:spcPts val="900"/>
              </a:spcBef>
              <a:spcAft>
                <a:spcPts val="400"/>
              </a:spcAft>
            </a:pPr>
            <a:r>
              <a:rPr lang="en-US" sz="1800" b="1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Задание</a:t>
            </a:r>
            <a:r>
              <a:rPr lang="en-US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 17</a:t>
            </a:r>
            <a:endParaRPr lang="ru-RU" sz="1800" b="1" dirty="0">
              <a:solidFill>
                <a:srgbClr val="000000"/>
              </a:solidFill>
              <a:effectLst/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algn="ctr">
              <a:lnSpc>
                <a:spcPct val="112000"/>
              </a:lnSpc>
              <a:spcBef>
                <a:spcPts val="300"/>
              </a:spcBef>
              <a:spcAft>
                <a:spcPts val="50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¬[(A ∨ B) ∧ (A ∨ ¬B)]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 ¬[A ∨ (B ∧ ¬B)]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дистрибутивность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 ¬(A ∨ 0)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противоречие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 ¬A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дизъюнкция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с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нулём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Ответ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¬A.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Bef>
                <a:spcPts val="900"/>
              </a:spcBef>
              <a:spcAft>
                <a:spcPts val="400"/>
              </a:spcAft>
            </a:pPr>
            <a:r>
              <a:rPr lang="en-US" sz="1800" b="1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Задание</a:t>
            </a:r>
            <a:r>
              <a:rPr lang="en-US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 18</a:t>
            </a:r>
            <a:endParaRPr lang="ru-RU" sz="1800" b="1" dirty="0">
              <a:solidFill>
                <a:srgbClr val="000000"/>
              </a:solidFill>
              <a:effectLst/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algn="ctr">
              <a:lnSpc>
                <a:spcPct val="112000"/>
              </a:lnSpc>
              <a:spcBef>
                <a:spcPts val="300"/>
              </a:spcBef>
              <a:spcAft>
                <a:spcPts val="50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[(A ∨ B) ∧ (A ∨ ¬B)] ∨ (¬A ∧ C)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 A ∨ (¬A ∧ C)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дистрибутивность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противоречие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 (A ∨ ¬A) ∧ (A ∨ C)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дистрибутивность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 1 ∧ (A ∨ C)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исключённое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третье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 A ∨ C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конъюнкция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с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единицей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Ответ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A ∨ C.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CB5D38-0C8F-4211-BFF2-A68E2F41026F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43516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A2A1BA-E541-399F-3EF8-FFECCB7A1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7F2B5A7-8120-07E1-595C-E956E0F099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B7E842D-CB06-7B3F-7E4F-8605A3752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8E02E-4259-49F9-9498-C46F85F4F1F0}" type="datetimeFigureOut">
              <a:rPr lang="ru-RU" smtClean="0"/>
              <a:t>16.10.26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9724683-D4D2-C672-6C2A-F6DEC2E38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4355EC8-F098-4341-703E-D9AD3EF84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F4052-E3A0-440C-A4BC-03BBADBB36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1637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2AF43F-D56E-E63A-1B8F-785218305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B8E0087-3316-6DEE-90BF-A0868E93E5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0E0A07A-6FA3-2DD3-74CC-6272A1A12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8E02E-4259-49F9-9498-C46F85F4F1F0}" type="datetimeFigureOut">
              <a:rPr lang="ru-RU" smtClean="0"/>
              <a:t>16.10.26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84CFD28-D2FA-9225-B74F-AE692CF95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967254A-7B02-C377-5910-CDABBA03F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F4052-E3A0-440C-A4BC-03BBADBB36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1515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8C29B8-AB8F-E0BA-30F7-6DF77B71F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4FE4C00-9B2B-9EB1-A0FA-7F54450DFF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BF7603C-8219-2FFA-596C-249336140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8E02E-4259-49F9-9498-C46F85F4F1F0}" type="datetimeFigureOut">
              <a:rPr lang="ru-RU" smtClean="0"/>
              <a:t>16.10.26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E885552-AC94-3855-334D-3AF39ECEE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54C721E-F2E4-C29A-9312-F996541BC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F4052-E3A0-440C-A4BC-03BBADBB36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24365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5A294C-C816-CFB4-932C-9B92E268C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00234EA-7021-3A4D-4853-0896773C01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A0D82BA-371C-A04A-B067-AE75644F8A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BBD1530-DC46-2469-32B1-DC0CBD0CC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8E02E-4259-49F9-9498-C46F85F4F1F0}" type="datetimeFigureOut">
              <a:rPr lang="ru-RU" smtClean="0"/>
              <a:t>16.10.26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5D43D1F-EFFF-7A19-5A8F-8E9C07EF9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D58A487-C945-CA52-566F-84897EBE6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F4052-E3A0-440C-A4BC-03BBADBB36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9069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1A07DB-D860-AC04-A63F-EC99923A5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794D292-D1E8-3D12-1E7E-2797A3AFDB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6FB4A92-86DC-9F7B-55A0-A63C7B3408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C167CC3-DF81-7D76-E403-570DA43099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DA9CFBE-34EC-D2C0-5E3F-50719B7CD0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29CCE07-2655-C54D-9F48-9EA5BC730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8E02E-4259-49F9-9498-C46F85F4F1F0}" type="datetimeFigureOut">
              <a:rPr lang="ru-RU" smtClean="0"/>
              <a:t>16.10.26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961B7BA-9871-FAC8-DD9C-94E8FE22B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F24E238-792C-2455-8666-F0AE41DE5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F4052-E3A0-440C-A4BC-03BBADBB36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41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B3D685-6227-4FD1-3F5E-2F833052C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FB57D35-4BA1-5330-14D8-39C73FBC7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8E02E-4259-49F9-9498-C46F85F4F1F0}" type="datetimeFigureOut">
              <a:rPr lang="ru-RU" smtClean="0"/>
              <a:t>16.10.26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F406594-74AC-AF9C-54CE-326B0A503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883627E-2159-3BE1-ACA6-7E2774948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F4052-E3A0-440C-A4BC-03BBADBB36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3689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C43868B-479B-7C8F-C01C-7216DA9EF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8E02E-4259-49F9-9498-C46F85F4F1F0}" type="datetimeFigureOut">
              <a:rPr lang="ru-RU" smtClean="0"/>
              <a:t>16.10.26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82A8BA2-3173-37C3-CB2A-F30220F4A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7CF74A1-95C1-45D8-A906-199521498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F4052-E3A0-440C-A4BC-03BBADBB36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30357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674B14-A167-35A0-6C75-F242B6E88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6614D01-8F28-4015-D220-586D2AAAF1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B35EF9C-1DE3-6B0D-A0AF-2B69D72018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CF2AF94-319D-1597-44D2-7FB596773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8E02E-4259-49F9-9498-C46F85F4F1F0}" type="datetimeFigureOut">
              <a:rPr lang="ru-RU" smtClean="0"/>
              <a:t>16.10.26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43500F1-B402-D278-07A2-A0CE5F2C6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A0A911B-2D9D-07ED-253F-C064EADEB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F4052-E3A0-440C-A4BC-03BBADBB36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5471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78AD2C-0177-1B25-A8AD-7A8D7642E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CD504A5-8599-B1CF-A9E6-AF5B61B08E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38B2977-1B30-465A-0DD7-BF11B6AA57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FF1C4BE-6C84-65BC-34D6-A2C538B87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8E02E-4259-49F9-9498-C46F85F4F1F0}" type="datetimeFigureOut">
              <a:rPr lang="ru-RU" smtClean="0"/>
              <a:t>16.10.26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1E0272C-334B-7E0B-4DFC-2C4D0056C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B8C4758-C512-2EA3-67BE-D0C1A92A8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F4052-E3A0-440C-A4BC-03BBADBB36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1402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D038D4-CD53-493E-EFE6-F167DEB5B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B8BCC77-A349-C801-F23C-0B42E952F3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C6A15BB-F9DB-2825-FD8B-C77AFA0B4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8E02E-4259-49F9-9498-C46F85F4F1F0}" type="datetimeFigureOut">
              <a:rPr lang="ru-RU" smtClean="0"/>
              <a:t>16.10.26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EAE93C6-6F59-D165-1E54-4932647AB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407F895-6CD8-602A-6AFF-700C12724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F4052-E3A0-440C-A4BC-03BBADBB36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4878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DEE815F-7943-D4F4-5A84-72BFF58D35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8117461-48F1-2A33-6507-32664EBC76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AE283DE-C02D-5118-0FAC-5E62505A9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8E02E-4259-49F9-9498-C46F85F4F1F0}" type="datetimeFigureOut">
              <a:rPr lang="ru-RU" smtClean="0"/>
              <a:t>16.10.26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7EC66CA-55BC-2AD1-6BDE-7D47A4323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2BAA61E-7A02-0596-1C34-67CDF9B6D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F4052-E3A0-440C-A4BC-03BBADBB36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19415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Титульный слайд" type="title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pPr>
              <a:defRPr/>
            </a:pPr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439696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Заголовок и объект" type="obj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177341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Заголовок раздела" type="secHead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311239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Два объекта" type="twoObj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 bwMode="auto"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 bwMode="auto"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977841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Сравнение" type="twoTxTwoObj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>
              <a:defRPr/>
            </a:pPr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 bwMode="auto">
          <a:xfrm>
            <a:off x="839788" y="2505074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 bwMode="auto"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>
              <a:defRPr/>
            </a:pPr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 bwMode="auto">
          <a:xfrm>
            <a:off x="6172200" y="2505074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475843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Только заголовок" type="titleOnly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725033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Пустой слайд" type="blank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327445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Объект с подписью" type="objTx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 bwMode="auto"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799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 bwMode="auto"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>
              <a:defRPr/>
            </a:pPr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156202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Рисунок с подписью" type="picTx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 bwMode="auto"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 bwMode="auto"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>
              <a:defRPr/>
            </a:pPr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167677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Заголовок и вертикальный текст" type="vertTx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 bwMode="auto"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2536956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Вертикальный заголовок и текст" type="vertTitleAndTx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 bwMode="auto"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 bwMode="auto"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48758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6CE878-0D0D-81B4-FF89-DB78BB876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CE4B522-A8BC-472F-E57B-056B2302A4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2AF5B3D-F45D-782F-D2A6-A5DA0568E0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08E02E-4259-49F9-9498-C46F85F4F1F0}" type="datetimeFigureOut">
              <a:rPr lang="ru-RU" smtClean="0"/>
              <a:t>16.10.26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A05B072-7121-E978-6063-DE418A2680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A3DB3BE-7E50-9A15-2345-C3FD3AA5D6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CF4052-E3A0-440C-A4BC-03BBADBB36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0001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pPr>
              <a:defRPr/>
            </a:pPr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0083631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>
          <a:blip r:embed="rId3">
            <a:alphaModFix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/>
        </p:nvSpPr>
        <p:spPr bwMode="auto">
          <a:xfrm>
            <a:off x="3847108" y="2254026"/>
            <a:ext cx="7534065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2000" b="1" i="0" u="none" strike="noStrike" kern="0" cap="none" spc="0" normalizeH="0" baseline="0" noProof="0" dirty="0">
                <a:ln>
                  <a:noFill/>
                </a:ln>
                <a:solidFill>
                  <a:srgbClr val="283CF5"/>
                </a:solidFill>
                <a:effectLst/>
                <a:uLnTx/>
                <a:uFillTx/>
                <a:latin typeface="Arial"/>
                <a:cs typeface="Arial"/>
              </a:rPr>
              <a:t>Преобразование логических выражений. Законы алгебры логики</a:t>
            </a:r>
          </a:p>
        </p:txBody>
      </p:sp>
      <p:sp>
        <p:nvSpPr>
          <p:cNvPr id="92" name="Google Shape;92;p13"/>
          <p:cNvSpPr txBox="1"/>
          <p:nvPr/>
        </p:nvSpPr>
        <p:spPr bwMode="auto">
          <a:xfrm>
            <a:off x="3722075" y="5189207"/>
            <a:ext cx="788520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Преподаватель: Евдошенко Неля </a:t>
            </a:r>
            <a:r>
              <a:rPr kumimoji="0" lang="ru-RU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Ильнуровна</a:t>
            </a:r>
            <a:endParaRPr kumimoji="0" sz="10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93" name="Google Shape;93;p13"/>
          <p:cNvSpPr txBox="1"/>
          <p:nvPr/>
        </p:nvSpPr>
        <p:spPr bwMode="auto">
          <a:xfrm>
            <a:off x="3722075" y="3290820"/>
            <a:ext cx="8146463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yivType Sans Heavy" panose="00000900000000000000" pitchFamily="50" charset="-52"/>
                <a:ea typeface="+mn-ea"/>
                <a:cs typeface="Arial"/>
              </a:rPr>
              <a:t>Дисциплина: Информатика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07F60F2-DB57-D407-32BB-610EABCC8F8F}"/>
              </a:ext>
            </a:extLst>
          </p:cNvPr>
          <p:cNvSpPr txBox="1"/>
          <p:nvPr/>
        </p:nvSpPr>
        <p:spPr>
          <a:xfrm>
            <a:off x="2153264" y="188960"/>
            <a:ext cx="82197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Что такое преобразование логических выражений?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E34288-8FD0-B4C2-8558-EB775654F07A}"/>
              </a:ext>
            </a:extLst>
          </p:cNvPr>
          <p:cNvSpPr txBox="1"/>
          <p:nvPr/>
        </p:nvSpPr>
        <p:spPr>
          <a:xfrm>
            <a:off x="639096" y="990966"/>
            <a:ext cx="1057950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Преобразование логического выражения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это замена исходного выражения другим, равносильным ему, с использованием законов алгебры логики.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Два логических выражения называются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равносильными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если при любых значениях переменных они принимают одинаковые значения истинности.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A4D7F8-6D30-5A25-2A45-9AFD02044A4A}"/>
              </a:ext>
            </a:extLst>
          </p:cNvPr>
          <p:cNvSpPr txBox="1"/>
          <p:nvPr/>
        </p:nvSpPr>
        <p:spPr>
          <a:xfrm>
            <a:off x="5378245" y="256241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Например: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F03C823-2E1E-3A03-2311-757C767C286F}"/>
              </a:ext>
            </a:extLst>
          </p:cNvPr>
          <p:cNvSpPr txBox="1"/>
          <p:nvPr/>
        </p:nvSpPr>
        <p:spPr>
          <a:xfrm>
            <a:off x="2949677" y="2836455"/>
            <a:ext cx="6096000" cy="3788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300"/>
              </a:spcBef>
              <a:spcAft>
                <a:spcPts val="50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 ∨ A = A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2317D3C-9448-2EA3-212A-4B0309DDD7EA}"/>
              </a:ext>
            </a:extLst>
          </p:cNvPr>
          <p:cNvSpPr txBox="1"/>
          <p:nvPr/>
        </p:nvSpPr>
        <p:spPr>
          <a:xfrm>
            <a:off x="639096" y="3265366"/>
            <a:ext cx="6096000" cy="3791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Для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любого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значения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переменной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части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равны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24" name="Таблица 23">
            <a:extLst>
              <a:ext uri="{FF2B5EF4-FFF2-40B4-BE49-F238E27FC236}">
                <a16:creationId xmlns:a16="http://schemas.microsoft.com/office/drawing/2014/main" id="{8D39B579-5D8D-9DF3-80E1-6AA3019E6E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1703010"/>
              </p:ext>
            </p:extLst>
          </p:nvPr>
        </p:nvGraphicFramePr>
        <p:xfrm>
          <a:off x="5086350" y="3840457"/>
          <a:ext cx="2019300" cy="1202247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579120">
                  <a:extLst>
                    <a:ext uri="{9D8B030D-6E8A-4147-A177-3AD203B41FA5}">
                      <a16:colId xmlns:a16="http://schemas.microsoft.com/office/drawing/2014/main" val="929429911"/>
                    </a:ext>
                  </a:extLst>
                </a:gridCol>
                <a:gridCol w="861060">
                  <a:extLst>
                    <a:ext uri="{9D8B030D-6E8A-4147-A177-3AD203B41FA5}">
                      <a16:colId xmlns:a16="http://schemas.microsoft.com/office/drawing/2014/main" val="1614433922"/>
                    </a:ext>
                  </a:extLst>
                </a:gridCol>
                <a:gridCol w="579120">
                  <a:extLst>
                    <a:ext uri="{9D8B030D-6E8A-4147-A177-3AD203B41FA5}">
                      <a16:colId xmlns:a16="http://schemas.microsoft.com/office/drawing/2014/main" val="32153369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</a:pP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ru-RU" sz="18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</a:pP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∨ A</a:t>
                      </a:r>
                      <a:endParaRPr lang="ru-RU" sz="18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</a:pP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ru-RU" sz="18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1898829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50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50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17432441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50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50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18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3193281438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BD7CD640-FA6F-2BD2-931D-5BABC93253E1}"/>
              </a:ext>
            </a:extLst>
          </p:cNvPr>
          <p:cNvSpPr txBox="1"/>
          <p:nvPr/>
        </p:nvSpPr>
        <p:spPr>
          <a:xfrm>
            <a:off x="726050" y="5180083"/>
            <a:ext cx="10543253" cy="13739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Следовательно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выражения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равносильны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Цель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упрощения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уменьшить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количество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логических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операций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сохранив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результат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Преобразования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применяют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анализе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логических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задач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программировании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оптимизации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условий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проектировании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логических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схем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2925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BC2EDB3-7D92-3A7D-AF09-E56F464CA5EC}"/>
              </a:ext>
            </a:extLst>
          </p:cNvPr>
          <p:cNvSpPr txBox="1"/>
          <p:nvPr/>
        </p:nvSpPr>
        <p:spPr>
          <a:xfrm>
            <a:off x="2733368" y="170824"/>
            <a:ext cx="7226710" cy="602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Bef>
                <a:spcPts val="1200"/>
              </a:spcBef>
              <a:spcAft>
                <a:spcPts val="500"/>
              </a:spcAft>
            </a:pPr>
            <a:r>
              <a:rPr lang="en-US" sz="3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Обозначения</a:t>
            </a:r>
            <a:r>
              <a:rPr lang="en-US" sz="3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 и </a:t>
            </a:r>
            <a:r>
              <a:rPr lang="en-US" sz="3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приоритет</a:t>
            </a:r>
            <a:r>
              <a:rPr lang="en-US" sz="3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операций</a:t>
            </a:r>
            <a:endParaRPr lang="ru-RU" sz="32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64E634E8-2EEC-17BC-A9DE-A7C2B7169F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8310181"/>
              </p:ext>
            </p:extLst>
          </p:nvPr>
        </p:nvGraphicFramePr>
        <p:xfrm>
          <a:off x="2045108" y="1258825"/>
          <a:ext cx="8249265" cy="2404494"/>
        </p:xfrm>
        <a:graphic>
          <a:graphicData uri="http://schemas.openxmlformats.org/drawingml/2006/table">
            <a:tbl>
              <a:tblPr firstRow="1" firstCol="1" bandRow="1"/>
              <a:tblGrid>
                <a:gridCol w="1506582">
                  <a:extLst>
                    <a:ext uri="{9D8B030D-6E8A-4147-A177-3AD203B41FA5}">
                      <a16:colId xmlns:a16="http://schemas.microsoft.com/office/drawing/2014/main" val="735591752"/>
                    </a:ext>
                  </a:extLst>
                </a:gridCol>
                <a:gridCol w="2459110">
                  <a:extLst>
                    <a:ext uri="{9D8B030D-6E8A-4147-A177-3AD203B41FA5}">
                      <a16:colId xmlns:a16="http://schemas.microsoft.com/office/drawing/2014/main" val="2916420542"/>
                    </a:ext>
                  </a:extLst>
                </a:gridCol>
                <a:gridCol w="4283573">
                  <a:extLst>
                    <a:ext uri="{9D8B030D-6E8A-4147-A177-3AD203B41FA5}">
                      <a16:colId xmlns:a16="http://schemas.microsoft.com/office/drawing/2014/main" val="36062894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Обозначение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</a:pPr>
                      <a:r>
                        <a:rPr lang="en-US" sz="1800" b="1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Операция</a:t>
                      </a:r>
                      <a:endParaRPr lang="ru-RU" sz="18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Когда выражение истинно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5513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∧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50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Конъюнкция (И)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50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Когда истинны оба операнда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9247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∨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50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Дизъюнкция (ИЛИ)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50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Когда истинен хотя бы один операнд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98208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¬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50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Инверсия (НЕ)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50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Когда исходное высказывание ложно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14445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50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Ложь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50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Значение «ложно»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25129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50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Истина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500"/>
                        </a:spcAft>
                      </a:pPr>
                      <a:r>
                        <a:rPr lang="en-US" sz="18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Значение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«</a:t>
                      </a:r>
                      <a:r>
                        <a:rPr lang="en-US" sz="18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истинно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»</a:t>
                      </a:r>
                      <a:endParaRPr lang="ru-RU" sz="18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930587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51B80C1-B268-4594-6F54-6B35F0FFEDB2}"/>
              </a:ext>
            </a:extLst>
          </p:cNvPr>
          <p:cNvSpPr txBox="1"/>
          <p:nvPr/>
        </p:nvSpPr>
        <p:spPr>
          <a:xfrm>
            <a:off x="1465006" y="4394911"/>
            <a:ext cx="9871588" cy="689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Приоритет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операций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сначала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отрицание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(НЕ),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затем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конъюнкция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(И),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затем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дизъюнкция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(ИЛИ).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Выражения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в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скобках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вычисляются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раньше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операций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скобками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80256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6BC5F0F-F5C0-D2FE-37FB-5E31CECDB7A7}"/>
              </a:ext>
            </a:extLst>
          </p:cNvPr>
          <p:cNvSpPr txBox="1"/>
          <p:nvPr/>
        </p:nvSpPr>
        <p:spPr>
          <a:xfrm>
            <a:off x="2939845" y="229818"/>
            <a:ext cx="6096000" cy="602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1400"/>
              </a:spcBef>
              <a:spcAft>
                <a:spcPts val="700"/>
              </a:spcAft>
            </a:pPr>
            <a:r>
              <a:rPr lang="en-US" sz="32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Законы</a:t>
            </a:r>
            <a:r>
              <a:rPr lang="en-US" sz="32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 </a:t>
            </a:r>
            <a:r>
              <a:rPr lang="en-US" sz="32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алгебры</a:t>
            </a:r>
            <a:r>
              <a:rPr lang="en-US" sz="32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 </a:t>
            </a:r>
            <a:r>
              <a:rPr lang="en-US" sz="32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логики</a:t>
            </a:r>
            <a:endParaRPr lang="ru-RU" sz="3200" kern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9BB710-10D3-CA31-BD94-8B245D0A1DBB}"/>
              </a:ext>
            </a:extLst>
          </p:cNvPr>
          <p:cNvSpPr txBox="1"/>
          <p:nvPr/>
        </p:nvSpPr>
        <p:spPr>
          <a:xfrm>
            <a:off x="766916" y="107386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Коммутативные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законы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законы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перестановки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ru-RU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EFF5DB-0F77-9A2C-626D-5A94A0680BC1}"/>
              </a:ext>
            </a:extLst>
          </p:cNvPr>
          <p:cNvSpPr txBox="1"/>
          <p:nvPr/>
        </p:nvSpPr>
        <p:spPr>
          <a:xfrm>
            <a:off x="786580" y="1443195"/>
            <a:ext cx="9792930" cy="3791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Позволяют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менять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местами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операнды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одной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логической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операции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без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изменения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результата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9E7750-E6BB-19D6-B4D6-BA9A49911BD3}"/>
              </a:ext>
            </a:extLst>
          </p:cNvPr>
          <p:cNvSpPr txBox="1"/>
          <p:nvPr/>
        </p:nvSpPr>
        <p:spPr>
          <a:xfrm>
            <a:off x="3048000" y="1904935"/>
            <a:ext cx="6096000" cy="7916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300"/>
              </a:spcBef>
              <a:spcAft>
                <a:spcPts val="50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 ∧ B = B ∧ A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lnSpc>
                <a:spcPct val="112000"/>
              </a:lnSpc>
              <a:spcBef>
                <a:spcPts val="300"/>
              </a:spcBef>
              <a:spcAft>
                <a:spcPts val="50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 ∨ B = B ∨ A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7FEDE1-9C98-197F-5D1D-6AC800512746}"/>
              </a:ext>
            </a:extLst>
          </p:cNvPr>
          <p:cNvSpPr txBox="1"/>
          <p:nvPr/>
        </p:nvSpPr>
        <p:spPr>
          <a:xfrm>
            <a:off x="786580" y="2769442"/>
            <a:ext cx="10038735" cy="753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Пример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(B ∧ A) ∨ C = (A ∧ B) ∨ C.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Переменные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внутри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конъюнкции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поменялись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местами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этом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1 ∧ 0 = 0 ∧ 1 = 0, а 0 ∨ 1 = 1 ∨ 0 = 1.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7DC638-20F9-4E99-35D8-2BBD4AB45D7B}"/>
              </a:ext>
            </a:extLst>
          </p:cNvPr>
          <p:cNvSpPr txBox="1"/>
          <p:nvPr/>
        </p:nvSpPr>
        <p:spPr>
          <a:xfrm>
            <a:off x="786580" y="3643666"/>
            <a:ext cx="6096000" cy="385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Bef>
                <a:spcPts val="1200"/>
              </a:spcBef>
              <a:spcAft>
                <a:spcPts val="500"/>
              </a:spcAft>
            </a:pP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Ассоциативные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законы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 (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законы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сочетания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)</a:t>
            </a:r>
            <a:endParaRPr lang="ru-RU" sz="1800" b="1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1D9DFC5-F002-502B-FB61-734BD4998B3E}"/>
              </a:ext>
            </a:extLst>
          </p:cNvPr>
          <p:cNvSpPr txBox="1"/>
          <p:nvPr/>
        </p:nvSpPr>
        <p:spPr>
          <a:xfrm>
            <a:off x="786579" y="4070988"/>
            <a:ext cx="10461523" cy="3791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Позволяют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менять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порядок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группировки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операндов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если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между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ними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стоят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одинаковые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операции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385C9D4-4F71-90C9-C565-BF9BCAFA53AD}"/>
              </a:ext>
            </a:extLst>
          </p:cNvPr>
          <p:cNvSpPr txBox="1"/>
          <p:nvPr/>
        </p:nvSpPr>
        <p:spPr>
          <a:xfrm>
            <a:off x="3480620" y="4414183"/>
            <a:ext cx="6096000" cy="7916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300"/>
              </a:spcBef>
              <a:spcAft>
                <a:spcPts val="50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(A ∧ B) ∧ C = A ∧ (B ∧ C)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lnSpc>
                <a:spcPct val="112000"/>
              </a:lnSpc>
              <a:spcBef>
                <a:spcPts val="300"/>
              </a:spcBef>
              <a:spcAft>
                <a:spcPts val="50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(A ∨ B) ∨ C = A ∨ (B ∨ C)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9F0BCA3-6C50-10C9-BD16-95EB909823E2}"/>
              </a:ext>
            </a:extLst>
          </p:cNvPr>
          <p:cNvSpPr txBox="1"/>
          <p:nvPr/>
        </p:nvSpPr>
        <p:spPr>
          <a:xfrm>
            <a:off x="786579" y="5327996"/>
            <a:ext cx="11120284" cy="1063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Пример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(A ∨ B) ∨ A = (A ∨ A) ∨ B = A ∨ B.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Сначала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использованы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ассоциативность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перестановка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затем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идемпотентность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Важно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нельзя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просто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так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переносить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скобки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между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разными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операциями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ИЛИ.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82816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C8B8F74-FC0D-D376-E659-00F1C97D42D6}"/>
              </a:ext>
            </a:extLst>
          </p:cNvPr>
          <p:cNvSpPr txBox="1"/>
          <p:nvPr/>
        </p:nvSpPr>
        <p:spPr>
          <a:xfrm>
            <a:off x="589935" y="387134"/>
            <a:ext cx="6096000" cy="385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Bef>
                <a:spcPts val="1200"/>
              </a:spcBef>
              <a:spcAft>
                <a:spcPts val="500"/>
              </a:spcAft>
            </a:pP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Дистрибутивные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законы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 (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законы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распределения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)</a:t>
            </a:r>
            <a:endParaRPr lang="ru-RU" sz="1800" b="1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191846-9F61-6F6E-1ACF-0F5D125AEF52}"/>
              </a:ext>
            </a:extLst>
          </p:cNvPr>
          <p:cNvSpPr txBox="1"/>
          <p:nvPr/>
        </p:nvSpPr>
        <p:spPr>
          <a:xfrm>
            <a:off x="589934" y="894186"/>
            <a:ext cx="10146891" cy="3791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Позволяют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раскрывать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скобки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либо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выносить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общую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часть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выражения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скобки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0CD781-D609-26A2-BA72-66242C3AC2FE}"/>
              </a:ext>
            </a:extLst>
          </p:cNvPr>
          <p:cNvSpPr txBox="1"/>
          <p:nvPr/>
        </p:nvSpPr>
        <p:spPr>
          <a:xfrm>
            <a:off x="3195484" y="1273329"/>
            <a:ext cx="6096000" cy="7916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300"/>
              </a:spcBef>
              <a:spcAft>
                <a:spcPts val="50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 ∧ (B ∨ C) = (A ∧ B) ∨ (A ∧ C)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lnSpc>
                <a:spcPct val="112000"/>
              </a:lnSpc>
              <a:spcBef>
                <a:spcPts val="300"/>
              </a:spcBef>
              <a:spcAft>
                <a:spcPts val="50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 ∨ (B ∧ C) = (A ∨ B) ∧ (A ∨ C)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D58A12-8BB4-96FB-AF5B-A790F9F638C9}"/>
              </a:ext>
            </a:extLst>
          </p:cNvPr>
          <p:cNvSpPr txBox="1"/>
          <p:nvPr/>
        </p:nvSpPr>
        <p:spPr>
          <a:xfrm>
            <a:off x="727587" y="2154217"/>
            <a:ext cx="10884310" cy="11278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Пример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раскрытия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скобок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A ∧ (B ∨ C) = (A ∧ B) ∨ (A ∧ C).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Пример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вынесения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общего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элемента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(A ∧ B) ∨ (A ∧ C) = A ∧ (B ∨ C).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отличие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от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обычной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арифметики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в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алгебре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логики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работают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оба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приведённых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распределительных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закона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801F1C-E54E-7BE7-3CD1-C84F52D3FF54}"/>
              </a:ext>
            </a:extLst>
          </p:cNvPr>
          <p:cNvSpPr txBox="1"/>
          <p:nvPr/>
        </p:nvSpPr>
        <p:spPr>
          <a:xfrm>
            <a:off x="727587" y="339130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Закон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идемпотентности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повторения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ru-RU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9F83D5E-3D2B-2ECC-4295-B8680E82CE2F}"/>
              </a:ext>
            </a:extLst>
          </p:cNvPr>
          <p:cNvSpPr txBox="1"/>
          <p:nvPr/>
        </p:nvSpPr>
        <p:spPr>
          <a:xfrm>
            <a:off x="3121742" y="3760641"/>
            <a:ext cx="6096000" cy="7916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300"/>
              </a:spcBef>
              <a:spcAft>
                <a:spcPts val="50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 ∧ A = A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lnSpc>
                <a:spcPct val="112000"/>
              </a:lnSpc>
              <a:spcBef>
                <a:spcPts val="300"/>
              </a:spcBef>
              <a:spcAft>
                <a:spcPts val="50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 ∨ A = A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2FA19C-31DA-30D7-C174-BD4FB8410D15}"/>
              </a:ext>
            </a:extLst>
          </p:cNvPr>
          <p:cNvSpPr txBox="1"/>
          <p:nvPr/>
        </p:nvSpPr>
        <p:spPr>
          <a:xfrm>
            <a:off x="727587" y="4758425"/>
            <a:ext cx="10953136" cy="3788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Повторение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одного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условия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меняет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результата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Например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(A ∨ B) ∨ A = (A ∨ A) ∨ B = A ∨ B.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60883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A5818B2-FE08-8653-2897-40931F271E36}"/>
              </a:ext>
            </a:extLst>
          </p:cNvPr>
          <p:cNvSpPr txBox="1"/>
          <p:nvPr/>
        </p:nvSpPr>
        <p:spPr>
          <a:xfrm>
            <a:off x="658761" y="44459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Закон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противоречия</a:t>
            </a:r>
            <a:endParaRPr lang="ru-RU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D0256D-476E-C80A-9629-ADFE486E37D6}"/>
              </a:ext>
            </a:extLst>
          </p:cNvPr>
          <p:cNvSpPr txBox="1"/>
          <p:nvPr/>
        </p:nvSpPr>
        <p:spPr>
          <a:xfrm>
            <a:off x="3048000" y="931466"/>
            <a:ext cx="6096000" cy="3788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300"/>
              </a:spcBef>
              <a:spcAft>
                <a:spcPts val="50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 ∧ ¬A = 0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6D7D3C-770B-AEC1-3C85-9D0D19DA3625}"/>
              </a:ext>
            </a:extLst>
          </p:cNvPr>
          <p:cNvSpPr txBox="1"/>
          <p:nvPr/>
        </p:nvSpPr>
        <p:spPr>
          <a:xfrm>
            <a:off x="658760" y="1427823"/>
            <a:ext cx="10697497" cy="1063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Высказывание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его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отрицание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могут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быть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одновременно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истинными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Поэтому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их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конъюнкция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всегда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равна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0.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Пример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(A ∧ ¬A) ∨ B = 0 ∨ B = B.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40DA21-E66F-A01F-6433-FC8B8697924E}"/>
              </a:ext>
            </a:extLst>
          </p:cNvPr>
          <p:cNvSpPr txBox="1"/>
          <p:nvPr/>
        </p:nvSpPr>
        <p:spPr>
          <a:xfrm>
            <a:off x="658760" y="273575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Дополнительный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закон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исключённого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третьего</a:t>
            </a:r>
            <a:endParaRPr lang="ru-RU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D82B02-D11F-21BA-FCD6-0F4F3B4330C4}"/>
              </a:ext>
            </a:extLst>
          </p:cNvPr>
          <p:cNvSpPr txBox="1"/>
          <p:nvPr/>
        </p:nvSpPr>
        <p:spPr>
          <a:xfrm>
            <a:off x="3048000" y="3242047"/>
            <a:ext cx="6096000" cy="3788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300"/>
              </a:spcBef>
              <a:spcAft>
                <a:spcPts val="50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 ∨ ¬A = 1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11D984-12DB-AD68-3BF9-B3ABDAE0F465}"/>
              </a:ext>
            </a:extLst>
          </p:cNvPr>
          <p:cNvSpPr txBox="1"/>
          <p:nvPr/>
        </p:nvSpPr>
        <p:spPr>
          <a:xfrm>
            <a:off x="658759" y="3752918"/>
            <a:ext cx="11100621" cy="6890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двузначной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логике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высказывание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либо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истинно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либо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ложно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хотя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бы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одно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из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 и ¬A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обязательно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истинно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Пример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(A ∨ ¬A) ∧ B = 1 ∧ B = B.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87C444-1EFF-5EB8-1E1B-ED5415919628}"/>
              </a:ext>
            </a:extLst>
          </p:cNvPr>
          <p:cNvSpPr txBox="1"/>
          <p:nvPr/>
        </p:nvSpPr>
        <p:spPr>
          <a:xfrm>
            <a:off x="658759" y="457400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Законы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поглощения</a:t>
            </a:r>
            <a:endParaRPr lang="ru-RU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24B2A81-E7AB-A5A4-D37D-D0CD743D7631}"/>
              </a:ext>
            </a:extLst>
          </p:cNvPr>
          <p:cNvSpPr txBox="1"/>
          <p:nvPr/>
        </p:nvSpPr>
        <p:spPr>
          <a:xfrm>
            <a:off x="2821858" y="4638550"/>
            <a:ext cx="6096000" cy="7916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300"/>
              </a:spcBef>
              <a:spcAft>
                <a:spcPts val="50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 ∨ (A ∧ B) = A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lnSpc>
                <a:spcPct val="112000"/>
              </a:lnSpc>
              <a:spcBef>
                <a:spcPts val="300"/>
              </a:spcBef>
              <a:spcAft>
                <a:spcPts val="50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 ∧ (A ∨ B) = A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D7E2928-CB98-5D11-56FF-1FB0581A91A6}"/>
              </a:ext>
            </a:extLst>
          </p:cNvPr>
          <p:cNvSpPr txBox="1"/>
          <p:nvPr/>
        </p:nvSpPr>
        <p:spPr>
          <a:xfrm>
            <a:off x="658759" y="5432948"/>
            <a:ext cx="11100621" cy="1063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Одна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часть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выражения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делает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другую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избыточной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Например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 = 1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выражение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 ∨ (A ∧ B)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истинно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независимо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от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B, а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 = 0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оно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ложно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Значит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результат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всегда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равен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A.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Аналогично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 ∧ (A ∨ B) = A: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 = 0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конъюнкция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ложна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а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 = 1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истинна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78698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1CE9CE-3139-7849-7A86-9A0611574EB2}"/>
              </a:ext>
            </a:extLst>
          </p:cNvPr>
          <p:cNvSpPr txBox="1"/>
          <p:nvPr/>
        </p:nvSpPr>
        <p:spPr>
          <a:xfrm>
            <a:off x="825909" y="26761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Закон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двойного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отрицания</a:t>
            </a:r>
            <a:endParaRPr lang="ru-RU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EA32DA-8F2D-A7AF-FC0F-9DD7966115EF}"/>
              </a:ext>
            </a:extLst>
          </p:cNvPr>
          <p:cNvSpPr txBox="1"/>
          <p:nvPr/>
        </p:nvSpPr>
        <p:spPr>
          <a:xfrm>
            <a:off x="2782530" y="726977"/>
            <a:ext cx="6096000" cy="3791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300"/>
              </a:spcBef>
              <a:spcAft>
                <a:spcPts val="50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¬(¬A) = A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39F267-7A97-BD47-997C-AF3B64737754}"/>
              </a:ext>
            </a:extLst>
          </p:cNvPr>
          <p:cNvSpPr txBox="1"/>
          <p:nvPr/>
        </p:nvSpPr>
        <p:spPr>
          <a:xfrm>
            <a:off x="825909" y="1196148"/>
            <a:ext cx="10736826" cy="753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Если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два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раза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изменить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значение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истинности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противоположное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получим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первоначальное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значение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Пример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¬(¬A) ∧ B = A ∧ B.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B237D8-F594-C78E-1D01-5FAC01898931}"/>
              </a:ext>
            </a:extLst>
          </p:cNvPr>
          <p:cNvSpPr txBox="1"/>
          <p:nvPr/>
        </p:nvSpPr>
        <p:spPr>
          <a:xfrm>
            <a:off x="825909" y="194930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Законы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де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Моргана</a:t>
            </a:r>
            <a:endParaRPr lang="ru-RU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11C5D2-9CD0-6B06-6F3C-8CC19E1B0CB7}"/>
              </a:ext>
            </a:extLst>
          </p:cNvPr>
          <p:cNvSpPr txBox="1"/>
          <p:nvPr/>
        </p:nvSpPr>
        <p:spPr>
          <a:xfrm>
            <a:off x="825909" y="2357780"/>
            <a:ext cx="10550014" cy="3791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Помогают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раскрывать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отрицание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поставленное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перед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выражением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в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скобках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0FE14A-137C-B69E-A40C-3E292BB09B0E}"/>
              </a:ext>
            </a:extLst>
          </p:cNvPr>
          <p:cNvSpPr txBox="1"/>
          <p:nvPr/>
        </p:nvSpPr>
        <p:spPr>
          <a:xfrm>
            <a:off x="3146322" y="2749586"/>
            <a:ext cx="6096000" cy="7916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300"/>
              </a:spcBef>
              <a:spcAft>
                <a:spcPts val="50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¬(A ∧ B) = ¬A ∨ ¬B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lnSpc>
                <a:spcPct val="112000"/>
              </a:lnSpc>
              <a:spcBef>
                <a:spcPts val="300"/>
              </a:spcBef>
              <a:spcAft>
                <a:spcPts val="50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¬(A ∨ B) = ¬A ∧ ¬B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D4ED24-8683-20B5-65DB-0DBD7FAC8A14}"/>
              </a:ext>
            </a:extLst>
          </p:cNvPr>
          <p:cNvSpPr txBox="1"/>
          <p:nvPr/>
        </p:nvSpPr>
        <p:spPr>
          <a:xfrm>
            <a:off x="825909" y="3429000"/>
            <a:ext cx="10953135" cy="18120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Правило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раскрытии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общего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отрицания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нужно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отрицать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каждую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часть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заменить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операцию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ИЛИ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либо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ИЛИ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И.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Пример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1: ¬(A ∧ B) = ¬A ∨ ¬B.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Пример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2: ¬(A ∨ ¬B) = ¬A ∧ ¬(¬B) = ¬A ∧ B.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Типичная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ошибка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¬(A ∨ B) ≠ ¬A ∨ ¬B.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раскрытии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отрицания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знак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∨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обязательно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меняется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∧.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39454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E06B124-A6BA-FF89-968E-2690A6FD3A33}"/>
              </a:ext>
            </a:extLst>
          </p:cNvPr>
          <p:cNvSpPr txBox="1"/>
          <p:nvPr/>
        </p:nvSpPr>
        <p:spPr>
          <a:xfrm>
            <a:off x="2595714" y="225144"/>
            <a:ext cx="79739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Логические</a:t>
            </a:r>
            <a:r>
              <a:rPr 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константы</a:t>
            </a:r>
            <a:r>
              <a:rPr 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 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краткая</a:t>
            </a:r>
            <a:r>
              <a:rPr 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памятка</a:t>
            </a:r>
            <a:r>
              <a:rPr 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</a:t>
            </a:r>
            <a:r>
              <a:rPr 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законам</a:t>
            </a:r>
            <a:endParaRPr lang="ru-RU" sz="2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9475EC-163A-B40C-3B08-A0A3A17DEDC9}"/>
              </a:ext>
            </a:extLst>
          </p:cNvPr>
          <p:cNvSpPr txBox="1"/>
          <p:nvPr/>
        </p:nvSpPr>
        <p:spPr>
          <a:xfrm>
            <a:off x="806244" y="874522"/>
            <a:ext cx="10343536" cy="3791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Помимо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основных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законов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необходимо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помнить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правила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вычисления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с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логическими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константами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698B76C7-C8B2-2255-DB1B-F13371F666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858422"/>
              </p:ext>
            </p:extLst>
          </p:nvPr>
        </p:nvGraphicFramePr>
        <p:xfrm>
          <a:off x="2773827" y="1733878"/>
          <a:ext cx="6408370" cy="2805243"/>
        </p:xfrm>
        <a:graphic>
          <a:graphicData uri="http://schemas.openxmlformats.org/drawingml/2006/table">
            <a:tbl>
              <a:tblPr firstRow="1" firstCol="1" bandRow="1"/>
              <a:tblGrid>
                <a:gridCol w="2394948">
                  <a:extLst>
                    <a:ext uri="{9D8B030D-6E8A-4147-A177-3AD203B41FA5}">
                      <a16:colId xmlns:a16="http://schemas.microsoft.com/office/drawing/2014/main" val="3907646637"/>
                    </a:ext>
                  </a:extLst>
                </a:gridCol>
                <a:gridCol w="4013422">
                  <a:extLst>
                    <a:ext uri="{9D8B030D-6E8A-4147-A177-3AD203B41FA5}">
                      <a16:colId xmlns:a16="http://schemas.microsoft.com/office/drawing/2014/main" val="559040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Закон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Равенство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93121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И с истиной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50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 ∧ 1 = A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66489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И с ложью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50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 ∧ 0 = 0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09897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ИЛИ с истиной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50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 ∨ 1 = 1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00197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ИЛИ с ложью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50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 ∨ 0 = A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62694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Отрицание истины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50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¬1 = 0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7766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Отрицание лжи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50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¬0 = 1</a:t>
                      </a:r>
                      <a:endParaRPr lang="ru-RU" sz="18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792840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CD5CE4E-2711-5A6C-6273-D1CEAFFA1913}"/>
              </a:ext>
            </a:extLst>
          </p:cNvPr>
          <p:cNvSpPr txBox="1"/>
          <p:nvPr/>
        </p:nvSpPr>
        <p:spPr>
          <a:xfrm>
            <a:off x="1337186" y="5019334"/>
            <a:ext cx="8731045" cy="1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Пример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применения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сразу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нескольких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законов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ru-RU" sz="16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lnSpc>
                <a:spcPct val="112000"/>
              </a:lnSpc>
              <a:spcBef>
                <a:spcPts val="300"/>
              </a:spcBef>
              <a:spcAft>
                <a:spcPts val="50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(A ∧ ¬A) ∨ (B ∧ 1)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lnSpc>
                <a:spcPct val="112000"/>
              </a:lnSpc>
              <a:spcBef>
                <a:spcPts val="300"/>
              </a:spcBef>
              <a:spcAft>
                <a:spcPts val="50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 0 ∨ (B ∧ 1) = 0 ∨ B = B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43467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658B022-BE22-402B-4E48-0CA0BF7A3297}"/>
              </a:ext>
            </a:extLst>
          </p:cNvPr>
          <p:cNvSpPr txBox="1"/>
          <p:nvPr/>
        </p:nvSpPr>
        <p:spPr>
          <a:xfrm>
            <a:off x="3048000" y="229818"/>
            <a:ext cx="6096000" cy="474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1200"/>
              </a:spcBef>
              <a:spcAft>
                <a:spcPts val="500"/>
              </a:spcAft>
            </a:pPr>
            <a:r>
              <a:rPr lang="en-US" sz="2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Сводная</a:t>
            </a:r>
            <a:r>
              <a:rPr 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таблица</a:t>
            </a:r>
            <a:r>
              <a:rPr 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основных</a:t>
            </a:r>
            <a:r>
              <a:rPr 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законов</a:t>
            </a:r>
            <a:endParaRPr lang="ru-RU" sz="2400" b="1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DDF2E352-3546-FBA5-54CA-80EBF3F9FE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4950875"/>
              </p:ext>
            </p:extLst>
          </p:nvPr>
        </p:nvGraphicFramePr>
        <p:xfrm>
          <a:off x="1622926" y="1073302"/>
          <a:ext cx="9576016" cy="4007490"/>
        </p:xfrm>
        <a:graphic>
          <a:graphicData uri="http://schemas.openxmlformats.org/drawingml/2006/table">
            <a:tbl>
              <a:tblPr firstRow="1" firstCol="1" bandRow="1"/>
              <a:tblGrid>
                <a:gridCol w="2487505">
                  <a:extLst>
                    <a:ext uri="{9D8B030D-6E8A-4147-A177-3AD203B41FA5}">
                      <a16:colId xmlns:a16="http://schemas.microsoft.com/office/drawing/2014/main" val="37099742"/>
                    </a:ext>
                  </a:extLst>
                </a:gridCol>
                <a:gridCol w="7088511">
                  <a:extLst>
                    <a:ext uri="{9D8B030D-6E8A-4147-A177-3AD203B41FA5}">
                      <a16:colId xmlns:a16="http://schemas.microsoft.com/office/drawing/2014/main" val="5827574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Название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Формула / формулы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89994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Коммутативные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50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 ∧ B = B ∧ A;   A ∨ B = B ∨ A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6998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Ассоциативные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50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(A ∧ B) ∧ C = A ∧ (B ∧ C);  (A ∨ B) ∨ C = A ∨ (B ∨ C)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39333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Дистрибутивные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50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 ∧ (B ∨ C) = (A ∧ B) ∨ (A ∧ C);  A ∨ (B ∧ C) = (A ∨ B) ∧ (A ∨ C)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07068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Противоречия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50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 ∧ ¬A = 0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1336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Исключённого третьего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50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 ∨ ¬A = 1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9174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Идемпотентности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50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 ∧ A = A;   A ∨ A = A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47826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Двойного отрицания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50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¬(¬A) = A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19272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Де Моргана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50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¬(A ∧ B) = ¬A ∨ ¬B;   ¬(A ∨ B) = ¬A ∧ ¬B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51403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Поглощения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50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 ∨ (A ∧ B) = A;   A ∧ (A ∨ B) = A</a:t>
                      </a:r>
                      <a:endParaRPr lang="ru-RU" sz="18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14985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19843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E79766F-C25C-60EF-9C4B-DF9F87DB25D2}"/>
              </a:ext>
            </a:extLst>
          </p:cNvPr>
          <p:cNvSpPr txBox="1"/>
          <p:nvPr/>
        </p:nvSpPr>
        <p:spPr>
          <a:xfrm>
            <a:off x="3048000" y="24795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Задача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1.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Вынесение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общего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элемента</a:t>
            </a:r>
            <a:endParaRPr lang="ru-RU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BAEBE7-9A80-0B52-5460-CA9CCFED21E5}"/>
              </a:ext>
            </a:extLst>
          </p:cNvPr>
          <p:cNvSpPr txBox="1"/>
          <p:nvPr/>
        </p:nvSpPr>
        <p:spPr>
          <a:xfrm>
            <a:off x="629264" y="874163"/>
            <a:ext cx="11041626" cy="35502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Упростить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выражение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lnSpc>
                <a:spcPct val="112000"/>
              </a:lnSpc>
              <a:spcBef>
                <a:spcPts val="300"/>
              </a:spcBef>
              <a:spcAft>
                <a:spcPts val="500"/>
              </a:spcAft>
            </a:pP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 = (A ∧ B) ∨ (A ∧ ¬B)</a:t>
            </a:r>
            <a:endParaRPr lang="ru-RU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Шаг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1. 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обеих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частях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встречается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Вынесем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скобки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дистрибутивному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закону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lnSpc>
                <a:spcPct val="112000"/>
              </a:lnSpc>
              <a:spcBef>
                <a:spcPts val="300"/>
              </a:spcBef>
              <a:spcAft>
                <a:spcPts val="500"/>
              </a:spcAft>
            </a:pP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 = A ∧ (B ∨ ¬B)</a:t>
            </a:r>
            <a:endParaRPr lang="ru-RU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Шаг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2.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Используем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закон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исключённого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третьего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B ∨ ¬B = 1.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lnSpc>
                <a:spcPct val="112000"/>
              </a:lnSpc>
              <a:spcBef>
                <a:spcPts val="300"/>
              </a:spcBef>
              <a:spcAft>
                <a:spcPts val="500"/>
              </a:spcAft>
            </a:pP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 = A ∧ 1</a:t>
            </a:r>
            <a:endParaRPr lang="ru-RU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Шаг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3.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Упрощаем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конъюнкцию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с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единицей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A ∧ 1 = A.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lnSpc>
                <a:spcPct val="112000"/>
              </a:lnSpc>
              <a:spcBef>
                <a:spcPts val="300"/>
              </a:spcBef>
              <a:spcAft>
                <a:spcPts val="500"/>
              </a:spcAft>
            </a:pP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 = A</a:t>
            </a:r>
            <a:endParaRPr lang="ru-RU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Ответ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F = A.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3136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EE7F3D4-FE5C-6AC4-18A3-C0D999015F3E}"/>
              </a:ext>
            </a:extLst>
          </p:cNvPr>
          <p:cNvSpPr txBox="1"/>
          <p:nvPr/>
        </p:nvSpPr>
        <p:spPr>
          <a:xfrm>
            <a:off x="3283973" y="415102"/>
            <a:ext cx="67940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Задача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2.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Дистрибутивный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закон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в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обратном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направлении</a:t>
            </a:r>
            <a:endParaRPr lang="ru-RU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9E8FE7-2CD9-8043-C15A-4FCCBB29CA67}"/>
              </a:ext>
            </a:extLst>
          </p:cNvPr>
          <p:cNvSpPr txBox="1"/>
          <p:nvPr/>
        </p:nvSpPr>
        <p:spPr>
          <a:xfrm>
            <a:off x="1042220" y="1225915"/>
            <a:ext cx="9842090" cy="35502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Упростить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выражение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lnSpc>
                <a:spcPct val="112000"/>
              </a:lnSpc>
              <a:spcBef>
                <a:spcPts val="300"/>
              </a:spcBef>
              <a:spcAft>
                <a:spcPts val="500"/>
              </a:spcAft>
            </a:pP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 = (A ∨ B) ∧ (A ∨ ¬B)</a:t>
            </a:r>
            <a:endParaRPr lang="ru-RU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Шаг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1.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Используем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закон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(A ∨ B) ∧ (A ∨ C) = A ∨ (B ∧ C),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где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C = ¬B.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lnSpc>
                <a:spcPct val="112000"/>
              </a:lnSpc>
              <a:spcBef>
                <a:spcPts val="300"/>
              </a:spcBef>
              <a:spcAft>
                <a:spcPts val="500"/>
              </a:spcAft>
            </a:pP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 = A ∨ (B ∧ ¬B)</a:t>
            </a:r>
            <a:endParaRPr lang="ru-RU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Шаг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2.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закону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противоречия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B ∧ ¬B = 0.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lnSpc>
                <a:spcPct val="112000"/>
              </a:lnSpc>
              <a:spcBef>
                <a:spcPts val="300"/>
              </a:spcBef>
              <a:spcAft>
                <a:spcPts val="500"/>
              </a:spcAft>
            </a:pP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 = A ∨ 0</a:t>
            </a:r>
            <a:endParaRPr lang="ru-RU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Шаг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3.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Дизъюнкция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с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нулём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меняет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результат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lnSpc>
                <a:spcPct val="112000"/>
              </a:lnSpc>
              <a:spcBef>
                <a:spcPts val="300"/>
              </a:spcBef>
              <a:spcAft>
                <a:spcPts val="500"/>
              </a:spcAft>
            </a:pP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 = A</a:t>
            </a:r>
            <a:endParaRPr lang="ru-RU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Ответ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F = A.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8978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B480E80-A54B-794B-BBDF-A82CD210F338}"/>
              </a:ext>
            </a:extLst>
          </p:cNvPr>
          <p:cNvSpPr txBox="1"/>
          <p:nvPr/>
        </p:nvSpPr>
        <p:spPr>
          <a:xfrm>
            <a:off x="3539612" y="30694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Задача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3.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Два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закона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де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Моргана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двойное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отрицание</a:t>
            </a:r>
            <a:endParaRPr lang="ru-RU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051A8B-336C-AA29-0291-A550B8965B22}"/>
              </a:ext>
            </a:extLst>
          </p:cNvPr>
          <p:cNvSpPr txBox="1"/>
          <p:nvPr/>
        </p:nvSpPr>
        <p:spPr>
          <a:xfrm>
            <a:off x="1101213" y="993359"/>
            <a:ext cx="9665110" cy="51165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Упростить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выражение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lnSpc>
                <a:spcPct val="112000"/>
              </a:lnSpc>
              <a:spcBef>
                <a:spcPts val="300"/>
              </a:spcBef>
              <a:spcAft>
                <a:spcPts val="500"/>
              </a:spcAft>
            </a:pP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 = ¬(A ∨ ¬B) ∨ (A ∧ B)</a:t>
            </a:r>
            <a:endParaRPr lang="ru-RU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Шаг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1.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Раскроем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отрицание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перед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скобками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закону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Моргана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lnSpc>
                <a:spcPct val="112000"/>
              </a:lnSpc>
              <a:spcBef>
                <a:spcPts val="300"/>
              </a:spcBef>
              <a:spcAft>
                <a:spcPts val="500"/>
              </a:spcAft>
            </a:pP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 = (¬A ∧ ¬(¬B)) ∨ (A ∧ B)</a:t>
            </a:r>
            <a:endParaRPr lang="ru-RU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Шаг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2.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Уберём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двойное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отрицание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переменной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B.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lnSpc>
                <a:spcPct val="112000"/>
              </a:lnSpc>
              <a:spcBef>
                <a:spcPts val="300"/>
              </a:spcBef>
              <a:spcAft>
                <a:spcPts val="500"/>
              </a:spcAft>
            </a:pP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 = (¬A ∧ B) ∨ (A ∧ B)</a:t>
            </a:r>
            <a:endParaRPr lang="ru-RU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Шаг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3.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Вынесем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B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скобки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lnSpc>
                <a:spcPct val="112000"/>
              </a:lnSpc>
              <a:spcBef>
                <a:spcPts val="300"/>
              </a:spcBef>
              <a:spcAft>
                <a:spcPts val="500"/>
              </a:spcAft>
            </a:pP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 = B ∧ (¬A ∨ A)</a:t>
            </a:r>
            <a:endParaRPr lang="ru-RU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Шаг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4.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закону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исключённого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третьего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¬A ∨ A = 1.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lnSpc>
                <a:spcPct val="112000"/>
              </a:lnSpc>
              <a:spcBef>
                <a:spcPts val="300"/>
              </a:spcBef>
              <a:spcAft>
                <a:spcPts val="500"/>
              </a:spcAft>
            </a:pP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 = B ∧ 1</a:t>
            </a:r>
            <a:endParaRPr lang="ru-RU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Шаг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5.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Упростим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с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использованием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единицы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lnSpc>
                <a:spcPct val="112000"/>
              </a:lnSpc>
              <a:spcBef>
                <a:spcPts val="300"/>
              </a:spcBef>
              <a:spcAft>
                <a:spcPts val="500"/>
              </a:spcAft>
            </a:pP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 = B</a:t>
            </a:r>
            <a:endParaRPr lang="ru-RU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Ответ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F = B.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5592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2357D72-85CE-745E-2E66-FF0D98EE2827}"/>
              </a:ext>
            </a:extLst>
          </p:cNvPr>
          <p:cNvSpPr txBox="1"/>
          <p:nvPr/>
        </p:nvSpPr>
        <p:spPr>
          <a:xfrm>
            <a:off x="4021394" y="32661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Задача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4.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Поглощение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противоречие</a:t>
            </a:r>
            <a:endParaRPr lang="ru-RU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AC92B9-C422-D71E-AAB5-CD93C94F783C}"/>
              </a:ext>
            </a:extLst>
          </p:cNvPr>
          <p:cNvSpPr txBox="1"/>
          <p:nvPr/>
        </p:nvSpPr>
        <p:spPr>
          <a:xfrm>
            <a:off x="1809135" y="1061462"/>
            <a:ext cx="8573729" cy="3540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Упростить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выражение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lnSpc>
                <a:spcPct val="112000"/>
              </a:lnSpc>
              <a:spcBef>
                <a:spcPts val="300"/>
              </a:spcBef>
              <a:spcAft>
                <a:spcPts val="500"/>
              </a:spcAft>
            </a:pP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 = [A ∧ (A ∨ B)] ∨ (B ∧ ¬B)</a:t>
            </a:r>
            <a:endParaRPr lang="ru-RU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Шаг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1.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закону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поглощения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 ∧ (A ∨ B) = A.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lnSpc>
                <a:spcPct val="112000"/>
              </a:lnSpc>
              <a:spcBef>
                <a:spcPts val="300"/>
              </a:spcBef>
              <a:spcAft>
                <a:spcPts val="500"/>
              </a:spcAft>
            </a:pP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 = A ∨ (B ∧ ¬B)</a:t>
            </a:r>
            <a:endParaRPr lang="ru-RU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Шаг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2.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закону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противоречия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B ∧ ¬B = 0.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lnSpc>
                <a:spcPct val="112000"/>
              </a:lnSpc>
              <a:spcBef>
                <a:spcPts val="300"/>
              </a:spcBef>
              <a:spcAft>
                <a:spcPts val="500"/>
              </a:spcAft>
            </a:pP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 = A ∨ 0</a:t>
            </a:r>
            <a:endParaRPr lang="ru-RU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Шаг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3.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Убираем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ноль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lnSpc>
                <a:spcPct val="112000"/>
              </a:lnSpc>
              <a:spcBef>
                <a:spcPts val="300"/>
              </a:spcBef>
              <a:spcAft>
                <a:spcPts val="500"/>
              </a:spcAft>
            </a:pP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 = A</a:t>
            </a:r>
            <a:endParaRPr lang="ru-RU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Ответ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F = A.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62622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50FB607-B1B3-1A95-2E0D-0BCA0593E495}"/>
              </a:ext>
            </a:extLst>
          </p:cNvPr>
          <p:cNvSpPr txBox="1"/>
          <p:nvPr/>
        </p:nvSpPr>
        <p:spPr>
          <a:xfrm>
            <a:off x="3048000" y="26761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Задача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5.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Вложенные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скобки</a:t>
            </a:r>
            <a:endParaRPr lang="ru-RU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1EF74F-5DC5-7E1C-AC93-60332865D325}"/>
              </a:ext>
            </a:extLst>
          </p:cNvPr>
          <p:cNvSpPr txBox="1"/>
          <p:nvPr/>
        </p:nvSpPr>
        <p:spPr>
          <a:xfrm>
            <a:off x="1366682" y="905028"/>
            <a:ext cx="9547123" cy="5116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Упростить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выражение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lnSpc>
                <a:spcPct val="112000"/>
              </a:lnSpc>
              <a:spcBef>
                <a:spcPts val="300"/>
              </a:spcBef>
              <a:spcAft>
                <a:spcPts val="500"/>
              </a:spcAft>
            </a:pP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 = ¬[A ∧ (B ∨ C)] ∧ A</a:t>
            </a:r>
            <a:endParaRPr lang="ru-RU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Шаг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1.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Раскрываем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внешнее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отрицание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применив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закон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Моргана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lnSpc>
                <a:spcPct val="112000"/>
              </a:lnSpc>
              <a:spcBef>
                <a:spcPts val="300"/>
              </a:spcBef>
              <a:spcAft>
                <a:spcPts val="500"/>
              </a:spcAft>
            </a:pP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 = [¬A ∨ ¬(B ∨ C)] ∧ A</a:t>
            </a:r>
            <a:endParaRPr lang="ru-RU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Шаг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2.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Раскрываем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отрицание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внутренних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скобок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lnSpc>
                <a:spcPct val="112000"/>
              </a:lnSpc>
              <a:spcBef>
                <a:spcPts val="300"/>
              </a:spcBef>
              <a:spcAft>
                <a:spcPts val="500"/>
              </a:spcAft>
            </a:pP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 = [¬A ∨ (¬B ∧ ¬C)] ∧ A</a:t>
            </a:r>
            <a:endParaRPr lang="ru-RU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Шаг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3.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Раскрываем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скобки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распределительному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закону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lnSpc>
                <a:spcPct val="112000"/>
              </a:lnSpc>
              <a:spcBef>
                <a:spcPts val="300"/>
              </a:spcBef>
              <a:spcAft>
                <a:spcPts val="500"/>
              </a:spcAft>
            </a:pP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 = (¬A ∧ A) ∨ (A ∧ ¬B ∧ ¬C)</a:t>
            </a:r>
            <a:endParaRPr lang="ru-RU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Шаг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4.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Применяем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закон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противоречия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к ¬A ∧ A.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lnSpc>
                <a:spcPct val="112000"/>
              </a:lnSpc>
              <a:spcBef>
                <a:spcPts val="300"/>
              </a:spcBef>
              <a:spcAft>
                <a:spcPts val="500"/>
              </a:spcAft>
            </a:pP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 = 0 ∨ (A ∧ ¬B ∧ ¬C)</a:t>
            </a:r>
            <a:endParaRPr lang="ru-RU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Шаг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5.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Убираем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ложь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из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дизъюнкции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lnSpc>
                <a:spcPct val="112000"/>
              </a:lnSpc>
              <a:spcBef>
                <a:spcPts val="300"/>
              </a:spcBef>
              <a:spcAft>
                <a:spcPts val="500"/>
              </a:spcAft>
            </a:pP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 = A ∧ ¬B ∧ ¬C</a:t>
            </a:r>
            <a:endParaRPr lang="ru-RU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Ответ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F = A ∧ ¬B ∧ ¬C.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2042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B97EC90-EC83-92E7-98B2-F64B83E3B4C9}"/>
              </a:ext>
            </a:extLst>
          </p:cNvPr>
          <p:cNvSpPr txBox="1"/>
          <p:nvPr/>
        </p:nvSpPr>
        <p:spPr>
          <a:xfrm>
            <a:off x="2939845" y="4249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Задача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6.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Комплексное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преобразование</a:t>
            </a:r>
            <a:endParaRPr lang="ru-RU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AF35B0-3354-1EBA-F251-69F160DCEA80}"/>
              </a:ext>
            </a:extLst>
          </p:cNvPr>
          <p:cNvSpPr txBox="1"/>
          <p:nvPr/>
        </p:nvSpPr>
        <p:spPr>
          <a:xfrm>
            <a:off x="1386348" y="1188294"/>
            <a:ext cx="9950245" cy="4333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Упростить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выражение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lnSpc>
                <a:spcPct val="112000"/>
              </a:lnSpc>
              <a:spcBef>
                <a:spcPts val="300"/>
              </a:spcBef>
              <a:spcAft>
                <a:spcPts val="500"/>
              </a:spcAft>
            </a:pP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 = [(A ∨ B) ∧ (A ∨ ¬B)] ∨ (A ∧ C)</a:t>
            </a:r>
            <a:endParaRPr lang="ru-RU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Шаг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1.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Сначала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упрощаем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выражение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в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квадратных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скобках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дистрибутивному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закону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lnSpc>
                <a:spcPct val="112000"/>
              </a:lnSpc>
              <a:spcBef>
                <a:spcPts val="300"/>
              </a:spcBef>
              <a:spcAft>
                <a:spcPts val="500"/>
              </a:spcAft>
            </a:pP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(A ∨ B) ∧ (A ∨ ¬B) = A ∨ (B ∧ ¬B)</a:t>
            </a:r>
            <a:endParaRPr lang="ru-RU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Шаг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2.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Используем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закон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противоречия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lnSpc>
                <a:spcPct val="112000"/>
              </a:lnSpc>
              <a:spcBef>
                <a:spcPts val="300"/>
              </a:spcBef>
              <a:spcAft>
                <a:spcPts val="500"/>
              </a:spcAft>
            </a:pP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 ∨ (B ∧ ¬B) = A ∨ 0 = A</a:t>
            </a:r>
            <a:endParaRPr lang="ru-RU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Шаг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3.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Подставляем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результат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обратно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lnSpc>
                <a:spcPct val="112000"/>
              </a:lnSpc>
              <a:spcBef>
                <a:spcPts val="300"/>
              </a:spcBef>
              <a:spcAft>
                <a:spcPts val="500"/>
              </a:spcAft>
            </a:pP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 = A ∨ (A ∧ C)</a:t>
            </a:r>
            <a:endParaRPr lang="ru-RU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Шаг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4.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Применяем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закон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поглощения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lnSpc>
                <a:spcPct val="112000"/>
              </a:lnSpc>
              <a:spcBef>
                <a:spcPts val="300"/>
              </a:spcBef>
              <a:spcAft>
                <a:spcPts val="500"/>
              </a:spcAft>
            </a:pP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 = A</a:t>
            </a:r>
            <a:endParaRPr lang="ru-RU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Ответ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F = A.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6033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7964685-BF8C-8603-3F4B-A5EBAD0F9CD2}"/>
              </a:ext>
            </a:extLst>
          </p:cNvPr>
          <p:cNvSpPr txBox="1"/>
          <p:nvPr/>
        </p:nvSpPr>
        <p:spPr>
          <a:xfrm>
            <a:off x="3048000" y="170913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Памятка</a:t>
            </a:r>
            <a:r>
              <a:rPr 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алгоритм</a:t>
            </a:r>
            <a:r>
              <a:rPr 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упрощения</a:t>
            </a:r>
            <a:endParaRPr lang="ru-RU" sz="2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092BFC-8B2E-F4CB-7B0E-B1259DC1D2A6}"/>
              </a:ext>
            </a:extLst>
          </p:cNvPr>
          <p:cNvSpPr txBox="1"/>
          <p:nvPr/>
        </p:nvSpPr>
        <p:spPr>
          <a:xfrm>
            <a:off x="904817" y="878365"/>
            <a:ext cx="10936084" cy="2240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2000"/>
              </a:lnSpc>
              <a:buFont typeface="+mj-lt"/>
              <a:buAutoNum type="arabicPeriod"/>
              <a:tabLst>
                <a:tab pos="228600" algn="l"/>
              </a:tabLst>
            </a:pP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Найдите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внутренние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скобки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самые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простые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сочетания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переменных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lnSpc>
                <a:spcPct val="112000"/>
              </a:lnSpc>
              <a:buFont typeface="+mj-lt"/>
              <a:buAutoNum type="arabicPeriod"/>
              <a:tabLst>
                <a:tab pos="228600" algn="l"/>
              </a:tabLst>
            </a:pP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Примените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закон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двойного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отрицания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законы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Моргана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когда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это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помогает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упростить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выражение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lnSpc>
                <a:spcPct val="112000"/>
              </a:lnSpc>
              <a:buFont typeface="+mj-lt"/>
              <a:buAutoNum type="arabicPeriod"/>
              <a:tabLst>
                <a:tab pos="228600" algn="l"/>
              </a:tabLst>
            </a:pP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Сгруппируйте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одинаковые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части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с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помощью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перестановки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изменения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скобок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lnSpc>
                <a:spcPct val="112000"/>
              </a:lnSpc>
              <a:buFont typeface="+mj-lt"/>
              <a:buAutoNum type="arabicPeriod"/>
              <a:tabLst>
                <a:tab pos="228600" algn="l"/>
              </a:tabLst>
            </a:pP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Вынесите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общий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элемент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скобки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или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раскройте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скобки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дистрибутивному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закону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lnSpc>
                <a:spcPct val="112000"/>
              </a:lnSpc>
              <a:buFont typeface="+mj-lt"/>
              <a:buAutoNum type="arabicPeriod"/>
              <a:tabLst>
                <a:tab pos="228600" algn="l"/>
              </a:tabLst>
            </a:pP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Проверьте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возможность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применения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противоречия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исключённого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третьего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идемпотентности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поглощения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lnSpc>
                <a:spcPct val="112000"/>
              </a:lnSpc>
              <a:spcAft>
                <a:spcPts val="500"/>
              </a:spcAft>
              <a:buFont typeface="+mj-lt"/>
              <a:buAutoNum type="arabicPeriod"/>
              <a:tabLst>
                <a:tab pos="228600" algn="l"/>
              </a:tabLst>
            </a:pP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Упростите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действия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с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нулём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единицей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запишите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результат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F3685D-D9FA-01F4-A398-5556C59A6D30}"/>
              </a:ext>
            </a:extLst>
          </p:cNvPr>
          <p:cNvSpPr txBox="1"/>
          <p:nvPr/>
        </p:nvSpPr>
        <p:spPr>
          <a:xfrm>
            <a:off x="3047036" y="3247227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Типичные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ошибки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преобразовании</a:t>
            </a:r>
            <a:endParaRPr lang="ru-RU" b="1" dirty="0"/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42E67017-1E28-51B0-5485-DEF2FEBC2A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9157084"/>
              </p:ext>
            </p:extLst>
          </p:nvPr>
        </p:nvGraphicFramePr>
        <p:xfrm>
          <a:off x="1436256" y="3699161"/>
          <a:ext cx="9873205" cy="3004758"/>
        </p:xfrm>
        <a:graphic>
          <a:graphicData uri="http://schemas.openxmlformats.org/drawingml/2006/table">
            <a:tbl>
              <a:tblPr firstRow="1" firstCol="1" bandRow="1"/>
              <a:tblGrid>
                <a:gridCol w="3525902">
                  <a:extLst>
                    <a:ext uri="{9D8B030D-6E8A-4147-A177-3AD203B41FA5}">
                      <a16:colId xmlns:a16="http://schemas.microsoft.com/office/drawing/2014/main" val="3258768560"/>
                    </a:ext>
                  </a:extLst>
                </a:gridCol>
                <a:gridCol w="2564704">
                  <a:extLst>
                    <a:ext uri="{9D8B030D-6E8A-4147-A177-3AD203B41FA5}">
                      <a16:colId xmlns:a16="http://schemas.microsoft.com/office/drawing/2014/main" val="3175979473"/>
                    </a:ext>
                  </a:extLst>
                </a:gridCol>
                <a:gridCol w="3782599">
                  <a:extLst>
                    <a:ext uri="{9D8B030D-6E8A-4147-A177-3AD203B41FA5}">
                      <a16:colId xmlns:a16="http://schemas.microsoft.com/office/drawing/2014/main" val="9133576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Ошибочная запись</a:t>
                      </a:r>
                      <a:endParaRPr lang="ru-RU" sz="16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В чём ошибка</a:t>
                      </a:r>
                      <a:endParaRPr lang="ru-RU" sz="16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Правильно</a:t>
                      </a:r>
                      <a:endParaRPr lang="ru-RU" sz="16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02746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¬(A ∨ B) = ¬A ∨ ¬B</a:t>
                      </a:r>
                      <a:endParaRPr lang="ru-RU" sz="16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50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Не изменена логическая операция</a:t>
                      </a:r>
                      <a:endParaRPr lang="ru-RU" sz="16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50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¬(A ∨ B) = ¬A ∧ ¬B</a:t>
                      </a:r>
                      <a:endParaRPr lang="ru-RU" sz="16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80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 ∧ ¬A = 1</a:t>
                      </a:r>
                      <a:endParaRPr lang="ru-RU" sz="16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50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Противоречие всегда ложно</a:t>
                      </a:r>
                      <a:endParaRPr lang="ru-RU" sz="16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50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 ∧ ¬A = 0</a:t>
                      </a:r>
                      <a:endParaRPr lang="ru-RU" sz="16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44714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 ∨ (A ∧ B) = A ∨ B</a:t>
                      </a:r>
                      <a:endParaRPr lang="ru-RU" sz="16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50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Неверно применён закон поглощения</a:t>
                      </a:r>
                      <a:endParaRPr lang="ru-RU" sz="16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50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 ∨ (A ∧ B) = A</a:t>
                      </a:r>
                      <a:endParaRPr lang="ru-RU" sz="16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66797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 ∧ 1 = 1</a:t>
                      </a:r>
                      <a:endParaRPr lang="ru-RU" sz="16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50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Результат зависит от A</a:t>
                      </a:r>
                      <a:endParaRPr lang="ru-RU" sz="16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50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 ∧ 1 = A</a:t>
                      </a:r>
                      <a:endParaRPr lang="ru-RU" sz="16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37325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 ∨ (B ∧ C) = (A ∨ B) ∧ C</a:t>
                      </a:r>
                      <a:endParaRPr lang="ru-RU" sz="16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50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Неправильно раскрыты скобки</a:t>
                      </a:r>
                      <a:endParaRPr lang="ru-RU" sz="16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50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(A ∨ B) ∧ (A ∨ C)</a:t>
                      </a:r>
                      <a:endParaRPr lang="ru-RU" sz="16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19552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37701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E54E3DC2-CD0A-E438-8B3C-0F0ADAEDFB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3379774"/>
              </p:ext>
            </p:extLst>
          </p:nvPr>
        </p:nvGraphicFramePr>
        <p:xfrm>
          <a:off x="3045561" y="1398002"/>
          <a:ext cx="6236090" cy="2805243"/>
        </p:xfrm>
        <a:graphic>
          <a:graphicData uri="http://schemas.openxmlformats.org/drawingml/2006/table">
            <a:tbl>
              <a:tblPr firstRow="1" firstCol="1" bandRow="1"/>
              <a:tblGrid>
                <a:gridCol w="532529">
                  <a:extLst>
                    <a:ext uri="{9D8B030D-6E8A-4147-A177-3AD203B41FA5}">
                      <a16:colId xmlns:a16="http://schemas.microsoft.com/office/drawing/2014/main" val="2225343222"/>
                    </a:ext>
                  </a:extLst>
                </a:gridCol>
                <a:gridCol w="5703561">
                  <a:extLst>
                    <a:ext uri="{9D8B030D-6E8A-4147-A177-3AD203B41FA5}">
                      <a16:colId xmlns:a16="http://schemas.microsoft.com/office/drawing/2014/main" val="13136974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№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Выражение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79452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50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(A ∧ A) ∨ (B ∧ ¬B)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85324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50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¬(¬A)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40978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50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 ∨ (A ∧ B)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80817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50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(A ∨ B) ∨ A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74030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5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50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(A ∧ ¬A) ∨ (B ∧ B)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82267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6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50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¬(A ∧ B)</a:t>
                      </a:r>
                      <a:endParaRPr lang="ru-RU" sz="18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766444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3FD9152-9560-738B-335B-6FBF71952B6E}"/>
              </a:ext>
            </a:extLst>
          </p:cNvPr>
          <p:cNvSpPr txBox="1"/>
          <p:nvPr/>
        </p:nvSpPr>
        <p:spPr>
          <a:xfrm>
            <a:off x="3185651" y="247953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Самостоятельная</a:t>
            </a:r>
            <a:r>
              <a:rPr 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работа</a:t>
            </a:r>
            <a:endParaRPr lang="ru-RU" sz="2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640D5D-6B6C-66F7-812D-3996954F628D}"/>
              </a:ext>
            </a:extLst>
          </p:cNvPr>
          <p:cNvSpPr txBox="1"/>
          <p:nvPr/>
        </p:nvSpPr>
        <p:spPr>
          <a:xfrm>
            <a:off x="2713702" y="4450476"/>
            <a:ext cx="85737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* 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задании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№ 6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необходимо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раскрыть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отрицание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закону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Моргана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561149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8D52F2-1B03-6287-C109-36CAA18ACF12}"/>
              </a:ext>
            </a:extLst>
          </p:cNvPr>
          <p:cNvSpPr txBox="1"/>
          <p:nvPr/>
        </p:nvSpPr>
        <p:spPr>
          <a:xfrm>
            <a:off x="3185651" y="247953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Самостоятельная</a:t>
            </a:r>
            <a:r>
              <a:rPr 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работа</a:t>
            </a:r>
            <a:endParaRPr lang="ru-RU" sz="2400" b="1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9252FEAE-B7DB-2713-D83D-D1EF7AFF82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4612874"/>
              </p:ext>
            </p:extLst>
          </p:nvPr>
        </p:nvGraphicFramePr>
        <p:xfrm>
          <a:off x="2485122" y="935886"/>
          <a:ext cx="7730593" cy="2805243"/>
        </p:xfrm>
        <a:graphic>
          <a:graphicData uri="http://schemas.openxmlformats.org/drawingml/2006/table">
            <a:tbl>
              <a:tblPr firstRow="1" firstCol="1" bandRow="1"/>
              <a:tblGrid>
                <a:gridCol w="1251136">
                  <a:extLst>
                    <a:ext uri="{9D8B030D-6E8A-4147-A177-3AD203B41FA5}">
                      <a16:colId xmlns:a16="http://schemas.microsoft.com/office/drawing/2014/main" val="2184704598"/>
                    </a:ext>
                  </a:extLst>
                </a:gridCol>
                <a:gridCol w="6479457">
                  <a:extLst>
                    <a:ext uri="{9D8B030D-6E8A-4147-A177-3AD203B41FA5}">
                      <a16:colId xmlns:a16="http://schemas.microsoft.com/office/drawing/2014/main" val="40150238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№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</a:pPr>
                      <a:r>
                        <a:rPr lang="en-US" sz="1800" b="1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Выражение</a:t>
                      </a:r>
                      <a:endParaRPr lang="ru-RU" sz="18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37289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7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50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(A ∧ B) ∨ (A ∧ ¬B)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71873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8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50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(A ∨ C) ∧ (¬A ∨ C)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23832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9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50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¬(A ∨ B) ∨ (¬A ∧ B)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5646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10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50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(A ∨ B) ∧ A ∧ (B ∨ ¬B)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45969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11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50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(A ∧ B) ∨ (B ∧ C) ∨ (A ∧ B)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65675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12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50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(A ∨ B) ∧ (A ∨ C)</a:t>
                      </a:r>
                      <a:endParaRPr lang="ru-RU" sz="18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8968899"/>
                  </a:ext>
                </a:extLst>
              </a:tr>
            </a:tbl>
          </a:graphicData>
        </a:graphic>
      </p:graphicFrame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1F305173-A934-E103-41C4-4D4CFC5F1E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7810312"/>
              </p:ext>
            </p:extLst>
          </p:nvPr>
        </p:nvGraphicFramePr>
        <p:xfrm>
          <a:off x="2485123" y="3804804"/>
          <a:ext cx="7730592" cy="2805243"/>
        </p:xfrm>
        <a:graphic>
          <a:graphicData uri="http://schemas.openxmlformats.org/drawingml/2006/table">
            <a:tbl>
              <a:tblPr firstRow="1" firstCol="1" bandRow="1"/>
              <a:tblGrid>
                <a:gridCol w="1270800">
                  <a:extLst>
                    <a:ext uri="{9D8B030D-6E8A-4147-A177-3AD203B41FA5}">
                      <a16:colId xmlns:a16="http://schemas.microsoft.com/office/drawing/2014/main" val="1806467505"/>
                    </a:ext>
                  </a:extLst>
                </a:gridCol>
                <a:gridCol w="6459792">
                  <a:extLst>
                    <a:ext uri="{9D8B030D-6E8A-4147-A177-3AD203B41FA5}">
                      <a16:colId xmlns:a16="http://schemas.microsoft.com/office/drawing/2014/main" val="3245643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№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Выражение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95630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13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50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¬(A ∧ ¬B) ∧ ¬(A ∧ B)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49969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14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50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(A ∨ B) ∧ (¬A ∨ B) ∧ (A ∨ ¬B)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91832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15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50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¬(¬A ∨ ¬B) ∨ (A ∧ ¬B)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10184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16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50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[A ∧ (B ∨ C)] ∨ (A ∧ ¬B ∧ ¬C)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39488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17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50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¬[(A ∨ B) ∧ (A ∨ ¬B)]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14874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18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50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[(A ∨ B) ∧ (A ∨ ¬B)] ∨ (¬A ∧ C)</a:t>
                      </a:r>
                      <a:endParaRPr lang="ru-RU" sz="18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1952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441602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3105</Words>
  <Application>Microsoft Office PowerPoint</Application>
  <PresentationFormat>Широкоэкранный</PresentationFormat>
  <Paragraphs>378</Paragraphs>
  <Slides>18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18</vt:i4>
      </vt:variant>
    </vt:vector>
  </HeadingPairs>
  <TitlesOfParts>
    <vt:vector size="26" baseType="lpstr">
      <vt:lpstr>Aptos</vt:lpstr>
      <vt:lpstr>Aptos Display</vt:lpstr>
      <vt:lpstr>Arial</vt:lpstr>
      <vt:lpstr>Calibri</vt:lpstr>
      <vt:lpstr>KyivType Sans Heavy</vt:lpstr>
      <vt:lpstr>Times New Roman</vt:lpstr>
      <vt:lpstr>Тема Office</vt:lpstr>
      <vt:lpstr>1_Тема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LightKey.Store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Наиля Мавлюдова</dc:creator>
  <cp:lastModifiedBy>Преподаватель</cp:lastModifiedBy>
  <cp:revision>2</cp:revision>
  <dcterms:created xsi:type="dcterms:W3CDTF">2026-10-14T17:00:06Z</dcterms:created>
  <dcterms:modified xsi:type="dcterms:W3CDTF">2026-10-16T07:09:15Z</dcterms:modified>
</cp:coreProperties>
</file>